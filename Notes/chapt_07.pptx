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62"/>
  </p:notesMasterIdLst>
  <p:handoutMasterIdLst>
    <p:handoutMasterId r:id="rId63"/>
  </p:handoutMasterIdLst>
  <p:sldIdLst>
    <p:sldId id="256" r:id="rId2"/>
    <p:sldId id="261" r:id="rId3"/>
    <p:sldId id="264" r:id="rId4"/>
    <p:sldId id="269" r:id="rId5"/>
    <p:sldId id="349" r:id="rId6"/>
    <p:sldId id="270" r:id="rId7"/>
    <p:sldId id="262" r:id="rId8"/>
    <p:sldId id="271" r:id="rId9"/>
    <p:sldId id="272" r:id="rId10"/>
    <p:sldId id="273" r:id="rId11"/>
    <p:sldId id="274" r:id="rId12"/>
    <p:sldId id="275" r:id="rId13"/>
    <p:sldId id="276" r:id="rId14"/>
    <p:sldId id="277" r:id="rId15"/>
    <p:sldId id="350" r:id="rId16"/>
    <p:sldId id="278" r:id="rId17"/>
    <p:sldId id="351" r:id="rId18"/>
    <p:sldId id="343" r:id="rId19"/>
    <p:sldId id="265" r:id="rId20"/>
    <p:sldId id="279" r:id="rId21"/>
    <p:sldId id="282" r:id="rId22"/>
    <p:sldId id="344" r:id="rId23"/>
    <p:sldId id="266" r:id="rId24"/>
    <p:sldId id="283" r:id="rId25"/>
    <p:sldId id="302" r:id="rId26"/>
    <p:sldId id="284" r:id="rId27"/>
    <p:sldId id="303" r:id="rId28"/>
    <p:sldId id="285" r:id="rId29"/>
    <p:sldId id="304" r:id="rId30"/>
    <p:sldId id="286" r:id="rId31"/>
    <p:sldId id="306" r:id="rId32"/>
    <p:sldId id="305" r:id="rId33"/>
    <p:sldId id="307" r:id="rId34"/>
    <p:sldId id="287" r:id="rId35"/>
    <p:sldId id="308" r:id="rId36"/>
    <p:sldId id="309" r:id="rId37"/>
    <p:sldId id="345" r:id="rId38"/>
    <p:sldId id="267" r:id="rId39"/>
    <p:sldId id="331" r:id="rId40"/>
    <p:sldId id="288" r:id="rId41"/>
    <p:sldId id="342" r:id="rId42"/>
    <p:sldId id="290" r:id="rId43"/>
    <p:sldId id="334" r:id="rId44"/>
    <p:sldId id="346" r:id="rId45"/>
    <p:sldId id="268" r:id="rId46"/>
    <p:sldId id="311" r:id="rId47"/>
    <p:sldId id="312" r:id="rId48"/>
    <p:sldId id="291" r:id="rId49"/>
    <p:sldId id="292" r:id="rId50"/>
    <p:sldId id="293" r:id="rId51"/>
    <p:sldId id="294" r:id="rId52"/>
    <p:sldId id="347" r:id="rId53"/>
    <p:sldId id="310" r:id="rId54"/>
    <p:sldId id="315" r:id="rId55"/>
    <p:sldId id="336" r:id="rId56"/>
    <p:sldId id="335" r:id="rId57"/>
    <p:sldId id="314" r:id="rId58"/>
    <p:sldId id="337" r:id="rId59"/>
    <p:sldId id="338" r:id="rId60"/>
    <p:sldId id="348" r:id="rId61"/>
  </p:sldIdLst>
  <p:sldSz cx="9144000" cy="6858000" type="screen4x3"/>
  <p:notesSz cx="7315200" cy="9601200"/>
  <p:defaultTextStyle>
    <a:defPPr>
      <a:defRPr lang="en-US"/>
    </a:defPPr>
    <a:lvl1pPr algn="l" rtl="0" fontAlgn="base">
      <a:spcBef>
        <a:spcPct val="0"/>
      </a:spcBef>
      <a:spcAft>
        <a:spcPct val="0"/>
      </a:spcAft>
      <a:defRPr sz="21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1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1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1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100" kern="1200">
        <a:solidFill>
          <a:schemeClr val="tx1"/>
        </a:solidFill>
        <a:latin typeface="Arial" panose="020B0604020202020204" pitchFamily="34" charset="0"/>
        <a:ea typeface="+mn-ea"/>
        <a:cs typeface="+mn-cs"/>
      </a:defRPr>
    </a:lvl5pPr>
    <a:lvl6pPr marL="2286000" algn="l" defTabSz="914400" rtl="0" eaLnBrk="1" latinLnBrk="0" hangingPunct="1">
      <a:defRPr sz="2100" kern="1200">
        <a:solidFill>
          <a:schemeClr val="tx1"/>
        </a:solidFill>
        <a:latin typeface="Arial" panose="020B0604020202020204" pitchFamily="34" charset="0"/>
        <a:ea typeface="+mn-ea"/>
        <a:cs typeface="+mn-cs"/>
      </a:defRPr>
    </a:lvl6pPr>
    <a:lvl7pPr marL="2743200" algn="l" defTabSz="914400" rtl="0" eaLnBrk="1" latinLnBrk="0" hangingPunct="1">
      <a:defRPr sz="2100" kern="1200">
        <a:solidFill>
          <a:schemeClr val="tx1"/>
        </a:solidFill>
        <a:latin typeface="Arial" panose="020B0604020202020204" pitchFamily="34" charset="0"/>
        <a:ea typeface="+mn-ea"/>
        <a:cs typeface="+mn-cs"/>
      </a:defRPr>
    </a:lvl7pPr>
    <a:lvl8pPr marL="3200400" algn="l" defTabSz="914400" rtl="0" eaLnBrk="1" latinLnBrk="0" hangingPunct="1">
      <a:defRPr sz="2100" kern="1200">
        <a:solidFill>
          <a:schemeClr val="tx1"/>
        </a:solidFill>
        <a:latin typeface="Arial" panose="020B0604020202020204" pitchFamily="34" charset="0"/>
        <a:ea typeface="+mn-ea"/>
        <a:cs typeface="+mn-cs"/>
      </a:defRPr>
    </a:lvl8pPr>
    <a:lvl9pPr marL="3657600" algn="l" defTabSz="914400" rtl="0" eaLnBrk="1" latinLnBrk="0" hangingPunct="1">
      <a:defRPr sz="21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519F3A-4B07-260E-702A-B8CE0FC835C0}" v="57" dt="2020-04-05T04:48:12.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Browning" userId="S::mrb0094@auburn.edu::e751dd8a-2d39-4444-b55c-b42b2da651e2" providerId="AD" clId="Web-{A1519F3A-4B07-260E-702A-B8CE0FC835C0}"/>
    <pc:docChg chg="addSld delSld">
      <pc:chgData name="Matthew Browning" userId="S::mrb0094@auburn.edu::e751dd8a-2d39-4444-b55c-b42b2da651e2" providerId="AD" clId="Web-{A1519F3A-4B07-260E-702A-B8CE0FC835C0}" dt="2020-04-05T04:48:12.914" v="33"/>
      <pc:docMkLst>
        <pc:docMk/>
      </pc:docMkLst>
      <pc:sldChg chg="del">
        <pc:chgData name="Matthew Browning" userId="S::mrb0094@auburn.edu::e751dd8a-2d39-4444-b55c-b42b2da651e2" providerId="AD" clId="Web-{A1519F3A-4B07-260E-702A-B8CE0FC835C0}" dt="2020-04-05T04:48:12.914" v="33"/>
        <pc:sldMkLst>
          <pc:docMk/>
          <pc:sldMk cId="0" sldId="263"/>
        </pc:sldMkLst>
      </pc:sldChg>
      <pc:sldChg chg="add del">
        <pc:chgData name="Matthew Browning" userId="S::mrb0094@auburn.edu::e751dd8a-2d39-4444-b55c-b42b2da651e2" providerId="AD" clId="Web-{A1519F3A-4B07-260E-702A-B8CE0FC835C0}" dt="2020-04-05T04:44:57.269" v="14"/>
        <pc:sldMkLst>
          <pc:docMk/>
          <pc:sldMk cId="0" sldId="280"/>
        </pc:sldMkLst>
      </pc:sldChg>
      <pc:sldChg chg="del">
        <pc:chgData name="Matthew Browning" userId="S::mrb0094@auburn.edu::e751dd8a-2d39-4444-b55c-b42b2da651e2" providerId="AD" clId="Web-{A1519F3A-4B07-260E-702A-B8CE0FC835C0}" dt="2020-04-05T04:45:13.894" v="17"/>
        <pc:sldMkLst>
          <pc:docMk/>
          <pc:sldMk cId="0" sldId="281"/>
        </pc:sldMkLst>
      </pc:sldChg>
      <pc:sldChg chg="del">
        <pc:chgData name="Matthew Browning" userId="S::mrb0094@auburn.edu::e751dd8a-2d39-4444-b55c-b42b2da651e2" providerId="AD" clId="Web-{A1519F3A-4B07-260E-702A-B8CE0FC835C0}" dt="2020-04-05T04:46:31.661" v="27"/>
        <pc:sldMkLst>
          <pc:docMk/>
          <pc:sldMk cId="0" sldId="296"/>
        </pc:sldMkLst>
      </pc:sldChg>
      <pc:sldChg chg="del">
        <pc:chgData name="Matthew Browning" userId="S::mrb0094@auburn.edu::e751dd8a-2d39-4444-b55c-b42b2da651e2" providerId="AD" clId="Web-{A1519F3A-4B07-260E-702A-B8CE0FC835C0}" dt="2020-04-05T04:42:48.688" v="3"/>
        <pc:sldMkLst>
          <pc:docMk/>
          <pc:sldMk cId="0" sldId="300"/>
        </pc:sldMkLst>
      </pc:sldChg>
      <pc:sldChg chg="del">
        <pc:chgData name="Matthew Browning" userId="S::mrb0094@auburn.edu::e751dd8a-2d39-4444-b55c-b42b2da651e2" providerId="AD" clId="Web-{A1519F3A-4B07-260E-702A-B8CE0FC835C0}" dt="2020-04-05T04:42:58.360" v="4"/>
        <pc:sldMkLst>
          <pc:docMk/>
          <pc:sldMk cId="0" sldId="301"/>
        </pc:sldMkLst>
      </pc:sldChg>
      <pc:sldChg chg="del">
        <pc:chgData name="Matthew Browning" userId="S::mrb0094@auburn.edu::e751dd8a-2d39-4444-b55c-b42b2da651e2" providerId="AD" clId="Web-{A1519F3A-4B07-260E-702A-B8CE0FC835C0}" dt="2020-04-05T04:45:39.145" v="19"/>
        <pc:sldMkLst>
          <pc:docMk/>
          <pc:sldMk cId="0" sldId="316"/>
        </pc:sldMkLst>
      </pc:sldChg>
      <pc:sldChg chg="add del">
        <pc:chgData name="Matthew Browning" userId="S::mrb0094@auburn.edu::e751dd8a-2d39-4444-b55c-b42b2da651e2" providerId="AD" clId="Web-{A1519F3A-4B07-260E-702A-B8CE0FC835C0}" dt="2020-04-05T04:45:02.472" v="16"/>
        <pc:sldMkLst>
          <pc:docMk/>
          <pc:sldMk cId="0" sldId="317"/>
        </pc:sldMkLst>
      </pc:sldChg>
      <pc:sldChg chg="del">
        <pc:chgData name="Matthew Browning" userId="S::mrb0094@auburn.edu::e751dd8a-2d39-4444-b55c-b42b2da651e2" providerId="AD" clId="Web-{A1519F3A-4B07-260E-702A-B8CE0FC835C0}" dt="2020-04-05T04:46:37.630" v="29"/>
        <pc:sldMkLst>
          <pc:docMk/>
          <pc:sldMk cId="0" sldId="319"/>
        </pc:sldMkLst>
      </pc:sldChg>
      <pc:sldChg chg="del">
        <pc:chgData name="Matthew Browning" userId="S::mrb0094@auburn.edu::e751dd8a-2d39-4444-b55c-b42b2da651e2" providerId="AD" clId="Web-{A1519F3A-4B07-260E-702A-B8CE0FC835C0}" dt="2020-04-05T04:46:35.849" v="28"/>
        <pc:sldMkLst>
          <pc:docMk/>
          <pc:sldMk cId="0" sldId="320"/>
        </pc:sldMkLst>
      </pc:sldChg>
      <pc:sldChg chg="del">
        <pc:chgData name="Matthew Browning" userId="S::mrb0094@auburn.edu::e751dd8a-2d39-4444-b55c-b42b2da651e2" providerId="AD" clId="Web-{A1519F3A-4B07-260E-702A-B8CE0FC835C0}" dt="2020-04-05T04:45:40.863" v="20"/>
        <pc:sldMkLst>
          <pc:docMk/>
          <pc:sldMk cId="0" sldId="321"/>
        </pc:sldMkLst>
      </pc:sldChg>
      <pc:sldChg chg="del">
        <pc:chgData name="Matthew Browning" userId="S::mrb0094@auburn.edu::e751dd8a-2d39-4444-b55c-b42b2da651e2" providerId="AD" clId="Web-{A1519F3A-4B07-260E-702A-B8CE0FC835C0}" dt="2020-04-05T04:45:55.379" v="22"/>
        <pc:sldMkLst>
          <pc:docMk/>
          <pc:sldMk cId="0" sldId="322"/>
        </pc:sldMkLst>
      </pc:sldChg>
      <pc:sldChg chg="del">
        <pc:chgData name="Matthew Browning" userId="S::mrb0094@auburn.edu::e751dd8a-2d39-4444-b55c-b42b2da651e2" providerId="AD" clId="Web-{A1519F3A-4B07-260E-702A-B8CE0FC835C0}" dt="2020-04-05T04:46:02.411" v="24"/>
        <pc:sldMkLst>
          <pc:docMk/>
          <pc:sldMk cId="0" sldId="323"/>
        </pc:sldMkLst>
      </pc:sldChg>
      <pc:sldChg chg="del">
        <pc:chgData name="Matthew Browning" userId="S::mrb0094@auburn.edu::e751dd8a-2d39-4444-b55c-b42b2da651e2" providerId="AD" clId="Web-{A1519F3A-4B07-260E-702A-B8CE0FC835C0}" dt="2020-04-05T04:46:04.692" v="25"/>
        <pc:sldMkLst>
          <pc:docMk/>
          <pc:sldMk cId="0" sldId="324"/>
        </pc:sldMkLst>
      </pc:sldChg>
      <pc:sldChg chg="del">
        <pc:chgData name="Matthew Browning" userId="S::mrb0094@auburn.edu::e751dd8a-2d39-4444-b55c-b42b2da651e2" providerId="AD" clId="Web-{A1519F3A-4B07-260E-702A-B8CE0FC835C0}" dt="2020-04-05T04:46:19.255" v="26"/>
        <pc:sldMkLst>
          <pc:docMk/>
          <pc:sldMk cId="0" sldId="325"/>
        </pc:sldMkLst>
      </pc:sldChg>
      <pc:sldChg chg="del">
        <pc:chgData name="Matthew Browning" userId="S::mrb0094@auburn.edu::e751dd8a-2d39-4444-b55c-b42b2da651e2" providerId="AD" clId="Web-{A1519F3A-4B07-260E-702A-B8CE0FC835C0}" dt="2020-04-05T04:42:27.703" v="1"/>
        <pc:sldMkLst>
          <pc:docMk/>
          <pc:sldMk cId="0" sldId="326"/>
        </pc:sldMkLst>
      </pc:sldChg>
      <pc:sldChg chg="del">
        <pc:chgData name="Matthew Browning" userId="S::mrb0094@auburn.edu::e751dd8a-2d39-4444-b55c-b42b2da651e2" providerId="AD" clId="Web-{A1519F3A-4B07-260E-702A-B8CE0FC835C0}" dt="2020-04-05T04:42:34.235" v="2"/>
        <pc:sldMkLst>
          <pc:docMk/>
          <pc:sldMk cId="0" sldId="327"/>
        </pc:sldMkLst>
      </pc:sldChg>
      <pc:sldChg chg="del">
        <pc:chgData name="Matthew Browning" userId="S::mrb0094@auburn.edu::e751dd8a-2d39-4444-b55c-b42b2da651e2" providerId="AD" clId="Web-{A1519F3A-4B07-260E-702A-B8CE0FC835C0}" dt="2020-04-05T04:42:21.156" v="0"/>
        <pc:sldMkLst>
          <pc:docMk/>
          <pc:sldMk cId="0" sldId="328"/>
        </pc:sldMkLst>
      </pc:sldChg>
      <pc:sldChg chg="add del">
        <pc:chgData name="Matthew Browning" userId="S::mrb0094@auburn.edu::e751dd8a-2d39-4444-b55c-b42b2da651e2" providerId="AD" clId="Web-{A1519F3A-4B07-260E-702A-B8CE0FC835C0}" dt="2020-04-05T04:44:50.503" v="13"/>
        <pc:sldMkLst>
          <pc:docMk/>
          <pc:sldMk cId="0" sldId="329"/>
        </pc:sldMkLst>
      </pc:sldChg>
      <pc:sldChg chg="del">
        <pc:chgData name="Matthew Browning" userId="S::mrb0094@auburn.edu::e751dd8a-2d39-4444-b55c-b42b2da651e2" providerId="AD" clId="Web-{A1519F3A-4B07-260E-702A-B8CE0FC835C0}" dt="2020-04-05T04:48:08.586" v="31"/>
        <pc:sldMkLst>
          <pc:docMk/>
          <pc:sldMk cId="0" sldId="339"/>
        </pc:sldMkLst>
      </pc:sldChg>
      <pc:sldChg chg="del">
        <pc:chgData name="Matthew Browning" userId="S::mrb0094@auburn.edu::e751dd8a-2d39-4444-b55c-b42b2da651e2" providerId="AD" clId="Web-{A1519F3A-4B07-260E-702A-B8CE0FC835C0}" dt="2020-04-05T04:48:10.851" v="32"/>
        <pc:sldMkLst>
          <pc:docMk/>
          <pc:sldMk cId="0" sldId="340"/>
        </pc:sldMkLst>
      </pc:sldChg>
      <pc:sldChg chg="del">
        <pc:chgData name="Matthew Browning" userId="S::mrb0094@auburn.edu::e751dd8a-2d39-4444-b55c-b42b2da651e2" providerId="AD" clId="Web-{A1519F3A-4B07-260E-702A-B8CE0FC835C0}" dt="2020-04-05T04:47:53.382" v="30"/>
        <pc:sldMkLst>
          <pc:docMk/>
          <pc:sldMk cId="0" sldId="341"/>
        </pc:sldMkLst>
      </pc:sldChg>
      <pc:sldChg chg="add del">
        <pc:chgData name="Matthew Browning" userId="S::mrb0094@auburn.edu::e751dd8a-2d39-4444-b55c-b42b2da651e2" providerId="AD" clId="Web-{A1519F3A-4B07-260E-702A-B8CE0FC835C0}" dt="2020-04-05T04:44:59.050" v="15"/>
        <pc:sldMkLst>
          <pc:docMk/>
          <pc:sldMk cId="0" sldId="352"/>
        </pc:sldMkLst>
      </pc:sldChg>
      <pc:sldChg chg="del">
        <pc:chgData name="Matthew Browning" userId="S::mrb0094@auburn.edu::e751dd8a-2d39-4444-b55c-b42b2da651e2" providerId="AD" clId="Web-{A1519F3A-4B07-260E-702A-B8CE0FC835C0}" dt="2020-04-05T04:45:34.207" v="18"/>
        <pc:sldMkLst>
          <pc:docMk/>
          <pc:sldMk cId="0" sldId="353"/>
        </pc:sldMkLst>
      </pc:sldChg>
      <pc:sldChg chg="del">
        <pc:chgData name="Matthew Browning" userId="S::mrb0094@auburn.edu::e751dd8a-2d39-4444-b55c-b42b2da651e2" providerId="AD" clId="Web-{A1519F3A-4B07-260E-702A-B8CE0FC835C0}" dt="2020-04-05T04:45:44.567" v="21"/>
        <pc:sldMkLst>
          <pc:docMk/>
          <pc:sldMk cId="0" sldId="354"/>
        </pc:sldMkLst>
      </pc:sldChg>
      <pc:sldChg chg="del">
        <pc:chgData name="Matthew Browning" userId="S::mrb0094@auburn.edu::e751dd8a-2d39-4444-b55c-b42b2da651e2" providerId="AD" clId="Web-{A1519F3A-4B07-260E-702A-B8CE0FC835C0}" dt="2020-04-05T04:45:59.848" v="23"/>
        <pc:sldMkLst>
          <pc:docMk/>
          <pc:sldMk cId="0" sldId="355"/>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A45FF2-FE58-41E9-8E33-8C6CFF76B95D}"/>
              </a:ext>
            </a:extLst>
          </p:cNvPr>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atin typeface="Times New Roman" pitchFamily="18" charset="0"/>
              </a:defRPr>
            </a:lvl1pPr>
          </a:lstStyle>
          <a:p>
            <a:pPr>
              <a:defRPr/>
            </a:pPr>
            <a:endParaRPr lang="en-US" altLang="en-US"/>
          </a:p>
        </p:txBody>
      </p:sp>
      <p:sp>
        <p:nvSpPr>
          <p:cNvPr id="32771" name="Rectangle 3">
            <a:extLst>
              <a:ext uri="{FF2B5EF4-FFF2-40B4-BE49-F238E27FC236}">
                <a16:creationId xmlns:a16="http://schemas.microsoft.com/office/drawing/2014/main" id="{5CEAEDF3-6ADB-4AC6-A843-4E9129D0AF5E}"/>
              </a:ext>
            </a:extLst>
          </p:cNvPr>
          <p:cNvSpPr>
            <a:spLocks noGrp="1" noChangeArrowheads="1"/>
          </p:cNvSpPr>
          <p:nvPr>
            <p:ph type="dt" sz="quarter"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atin typeface="Times New Roman" pitchFamily="18" charset="0"/>
              </a:defRPr>
            </a:lvl1pPr>
          </a:lstStyle>
          <a:p>
            <a:pPr>
              <a:defRPr/>
            </a:pPr>
            <a:endParaRPr lang="en-US" altLang="en-US"/>
          </a:p>
        </p:txBody>
      </p:sp>
      <p:sp>
        <p:nvSpPr>
          <p:cNvPr id="32772" name="Rectangle 4">
            <a:extLst>
              <a:ext uri="{FF2B5EF4-FFF2-40B4-BE49-F238E27FC236}">
                <a16:creationId xmlns:a16="http://schemas.microsoft.com/office/drawing/2014/main" id="{D21FB12B-A37A-4558-BA84-ABF146AC2F86}"/>
              </a:ext>
            </a:extLst>
          </p:cNvPr>
          <p:cNvSpPr>
            <a:spLocks noGrp="1" noChangeArrowheads="1"/>
          </p:cNvSpPr>
          <p:nvPr>
            <p:ph type="ftr" sz="quarter" idx="2"/>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atin typeface="Times New Roman" pitchFamily="18" charset="0"/>
              </a:defRPr>
            </a:lvl1pPr>
          </a:lstStyle>
          <a:p>
            <a:pPr>
              <a:defRPr/>
            </a:pPr>
            <a:endParaRPr lang="en-US" altLang="en-US"/>
          </a:p>
        </p:txBody>
      </p:sp>
      <p:sp>
        <p:nvSpPr>
          <p:cNvPr id="32773" name="Rectangle 5">
            <a:extLst>
              <a:ext uri="{FF2B5EF4-FFF2-40B4-BE49-F238E27FC236}">
                <a16:creationId xmlns:a16="http://schemas.microsoft.com/office/drawing/2014/main" id="{91C63923-0C2B-40C8-B3B2-F7FB2CF517F1}"/>
              </a:ext>
            </a:extLst>
          </p:cNvPr>
          <p:cNvSpPr>
            <a:spLocks noGrp="1" noChangeArrowheads="1"/>
          </p:cNvSpPr>
          <p:nvPr>
            <p:ph type="sldNum" sz="quarter" idx="3"/>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atin typeface="Times New Roman" panose="02020603050405020304" pitchFamily="18" charset="0"/>
              </a:defRPr>
            </a:lvl1pPr>
          </a:lstStyle>
          <a:p>
            <a:fld id="{E9BEEEFD-0B7C-49CA-B7FD-2920D479A781}"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75CD088-38E4-49A5-A101-C24E090350C2}"/>
              </a:ext>
            </a:extLst>
          </p:cNvPr>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atin typeface="Arial" charset="0"/>
              </a:defRPr>
            </a:lvl1pPr>
          </a:lstStyle>
          <a:p>
            <a:pPr>
              <a:defRPr/>
            </a:pPr>
            <a:endParaRPr lang="en-US" altLang="en-US"/>
          </a:p>
        </p:txBody>
      </p:sp>
      <p:sp>
        <p:nvSpPr>
          <p:cNvPr id="35843" name="Rectangle 3">
            <a:extLst>
              <a:ext uri="{FF2B5EF4-FFF2-40B4-BE49-F238E27FC236}">
                <a16:creationId xmlns:a16="http://schemas.microsoft.com/office/drawing/2014/main" id="{07DD7B30-CF2F-4DA3-82D6-15CD2ADFB866}"/>
              </a:ext>
            </a:extLst>
          </p:cNvPr>
          <p:cNvSpPr>
            <a:spLocks noGrp="1" noChangeArrowheads="1"/>
          </p:cNvSpPr>
          <p:nvPr>
            <p:ph type="dt"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atin typeface="Arial" charset="0"/>
              </a:defRPr>
            </a:lvl1pPr>
          </a:lstStyle>
          <a:p>
            <a:pPr>
              <a:defRPr/>
            </a:pPr>
            <a:endParaRPr lang="en-US" altLang="en-US"/>
          </a:p>
        </p:txBody>
      </p:sp>
      <p:sp>
        <p:nvSpPr>
          <p:cNvPr id="91140" name="Rectangle 4">
            <a:extLst>
              <a:ext uri="{FF2B5EF4-FFF2-40B4-BE49-F238E27FC236}">
                <a16:creationId xmlns:a16="http://schemas.microsoft.com/office/drawing/2014/main" id="{4E7CBC36-3E23-474D-994F-4D127BD0903B}"/>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1076413A-2539-46F8-8D22-1B49DB69A802}"/>
              </a:ext>
            </a:extLst>
          </p:cNvPr>
          <p:cNvSpPr>
            <a:spLocks noGrp="1" noChangeArrowheads="1"/>
          </p:cNvSpPr>
          <p:nvPr>
            <p:ph type="body" sz="quarter" idx="3"/>
          </p:nvPr>
        </p:nvSpPr>
        <p:spPr bwMode="auto">
          <a:xfrm>
            <a:off x="974725" y="4560888"/>
            <a:ext cx="5365750"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5846" name="Rectangle 6">
            <a:extLst>
              <a:ext uri="{FF2B5EF4-FFF2-40B4-BE49-F238E27FC236}">
                <a16:creationId xmlns:a16="http://schemas.microsoft.com/office/drawing/2014/main" id="{817F664D-6E2B-4F98-AC7E-F1CAAD93CA21}"/>
              </a:ext>
            </a:extLst>
          </p:cNvPr>
          <p:cNvSpPr>
            <a:spLocks noGrp="1" noChangeArrowheads="1"/>
          </p:cNvSpPr>
          <p:nvPr>
            <p:ph type="ftr" sz="quarter" idx="4"/>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atin typeface="Arial" charset="0"/>
              </a:defRPr>
            </a:lvl1pPr>
          </a:lstStyle>
          <a:p>
            <a:pPr>
              <a:defRPr/>
            </a:pPr>
            <a:endParaRPr lang="en-US" altLang="en-US"/>
          </a:p>
        </p:txBody>
      </p:sp>
      <p:sp>
        <p:nvSpPr>
          <p:cNvPr id="35847" name="Rectangle 7">
            <a:extLst>
              <a:ext uri="{FF2B5EF4-FFF2-40B4-BE49-F238E27FC236}">
                <a16:creationId xmlns:a16="http://schemas.microsoft.com/office/drawing/2014/main" id="{23D3C761-829C-49F8-BC6B-2D909197C375}"/>
              </a:ext>
            </a:extLst>
          </p:cNvPr>
          <p:cNvSpPr>
            <a:spLocks noGrp="1" noChangeArrowheads="1"/>
          </p:cNvSpPr>
          <p:nvPr>
            <p:ph type="sldNum" sz="quarter" idx="5"/>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fld id="{FC4D8554-FD44-4CEE-8044-6FD72A41B3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
            <a:extLst>
              <a:ext uri="{FF2B5EF4-FFF2-40B4-BE49-F238E27FC236}">
                <a16:creationId xmlns:a16="http://schemas.microsoft.com/office/drawing/2014/main" id="{590AB346-270F-46E1-B73A-F13BFAE29D52}"/>
              </a:ext>
            </a:extLst>
          </p:cNvPr>
          <p:cNvGrpSpPr>
            <a:grpSpLocks/>
          </p:cNvGrpSpPr>
          <p:nvPr/>
        </p:nvGrpSpPr>
        <p:grpSpPr bwMode="auto">
          <a:xfrm>
            <a:off x="-1035050" y="1552575"/>
            <a:ext cx="10179050" cy="5305425"/>
            <a:chOff x="-652" y="978"/>
            <a:chExt cx="6412" cy="3342"/>
          </a:xfrm>
        </p:grpSpPr>
        <p:sp>
          <p:nvSpPr>
            <p:cNvPr id="5" name="Freeform 3">
              <a:extLst>
                <a:ext uri="{FF2B5EF4-FFF2-40B4-BE49-F238E27FC236}">
                  <a16:creationId xmlns:a16="http://schemas.microsoft.com/office/drawing/2014/main" id="{C63E2865-6BAD-4F42-B5B1-A0B5D08F84C6}"/>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latin typeface="Arial" charset="0"/>
              </a:endParaRPr>
            </a:p>
          </p:txBody>
        </p:sp>
        <p:sp>
          <p:nvSpPr>
            <p:cNvPr id="6" name="Arc 4">
              <a:extLst>
                <a:ext uri="{FF2B5EF4-FFF2-40B4-BE49-F238E27FC236}">
                  <a16:creationId xmlns:a16="http://schemas.microsoft.com/office/drawing/2014/main" id="{DD312AD8-1052-47FB-A51A-7B2EC5E7FE14}"/>
                </a:ext>
              </a:extLst>
            </p:cNvPr>
            <p:cNvSpPr>
              <a:spLocks/>
            </p:cNvSpPr>
            <p:nvPr/>
          </p:nvSpPr>
          <p:spPr bwMode="auto">
            <a:xfrm>
              <a:off x="-652" y="978"/>
              <a:ext cx="4237" cy="3342"/>
            </a:xfrm>
            <a:custGeom>
              <a:avLst/>
              <a:gdLst>
                <a:gd name="T0" fmla="*/ 30 w 21600"/>
                <a:gd name="T1" fmla="*/ 0 h 21231"/>
                <a:gd name="T2" fmla="*/ 163 w 21600"/>
                <a:gd name="T3" fmla="*/ 83 h 21231"/>
                <a:gd name="T4" fmla="*/ 0 w 21600"/>
                <a:gd name="T5" fmla="*/ 83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7"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en-US" altLang="en-US" noProof="0"/>
              <a:t>Click to edit Master title style</a:t>
            </a:r>
          </a:p>
        </p:txBody>
      </p:sp>
      <p:sp>
        <p:nvSpPr>
          <p:cNvPr id="3078"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Tx/>
              <a:buNone/>
              <a:defRPr/>
            </a:lvl1pPr>
          </a:lstStyle>
          <a:p>
            <a:pPr lvl="0"/>
            <a:endParaRPr lang="en-US" altLang="en-US" noProof="0"/>
          </a:p>
        </p:txBody>
      </p:sp>
    </p:spTree>
    <p:extLst>
      <p:ext uri="{BB962C8B-B14F-4D97-AF65-F5344CB8AC3E}">
        <p14:creationId xmlns:p14="http://schemas.microsoft.com/office/powerpoint/2010/main" val="3819557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9EBF04C9-F763-4DD3-93C4-F6DF2A841B75}"/>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95836A1B-3130-45EA-83B6-D58F5EF525EC}"/>
              </a:ext>
            </a:extLst>
          </p:cNvPr>
          <p:cNvSpPr>
            <a:spLocks noGrp="1" noChangeArrowheads="1"/>
          </p:cNvSpPr>
          <p:nvPr>
            <p:ph type="sldNum" sz="quarter" idx="11"/>
          </p:nvPr>
        </p:nvSpPr>
        <p:spPr>
          <a:ln/>
        </p:spPr>
        <p:txBody>
          <a:bodyPr/>
          <a:lstStyle>
            <a:lvl1pPr>
              <a:defRPr/>
            </a:lvl1pPr>
          </a:lstStyle>
          <a:p>
            <a:fld id="{6F1F626F-DC9F-4989-8F46-3A044012D8A3}" type="slidenum">
              <a:rPr lang="en-US" altLang="en-US"/>
              <a:pPr/>
              <a:t>‹#›</a:t>
            </a:fld>
            <a:endParaRPr lang="en-US" altLang="en-US"/>
          </a:p>
        </p:txBody>
      </p:sp>
    </p:spTree>
    <p:extLst>
      <p:ext uri="{BB962C8B-B14F-4D97-AF65-F5344CB8AC3E}">
        <p14:creationId xmlns:p14="http://schemas.microsoft.com/office/powerpoint/2010/main" val="2423953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C32ECF17-347F-42CE-ABA4-B50A51EE9F29}"/>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67F062F4-B63A-4048-A211-94C89637241F}"/>
              </a:ext>
            </a:extLst>
          </p:cNvPr>
          <p:cNvSpPr>
            <a:spLocks noGrp="1" noChangeArrowheads="1"/>
          </p:cNvSpPr>
          <p:nvPr>
            <p:ph type="sldNum" sz="quarter" idx="11"/>
          </p:nvPr>
        </p:nvSpPr>
        <p:spPr>
          <a:ln/>
        </p:spPr>
        <p:txBody>
          <a:bodyPr/>
          <a:lstStyle>
            <a:lvl1pPr>
              <a:defRPr/>
            </a:lvl1pPr>
          </a:lstStyle>
          <a:p>
            <a:fld id="{9937AAD8-5DB2-4693-A593-FB88D2498C7E}" type="slidenum">
              <a:rPr lang="en-US" altLang="en-US"/>
              <a:pPr/>
              <a:t>‹#›</a:t>
            </a:fld>
            <a:endParaRPr lang="en-US" altLang="en-US"/>
          </a:p>
        </p:txBody>
      </p:sp>
    </p:spTree>
    <p:extLst>
      <p:ext uri="{BB962C8B-B14F-4D97-AF65-F5344CB8AC3E}">
        <p14:creationId xmlns:p14="http://schemas.microsoft.com/office/powerpoint/2010/main" val="10118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FA29D061-6B21-450B-BF82-83BAE62D047F}"/>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64E9F043-DA6B-4B79-8561-8BD430CFD017}"/>
              </a:ext>
            </a:extLst>
          </p:cNvPr>
          <p:cNvSpPr>
            <a:spLocks noGrp="1" noChangeArrowheads="1"/>
          </p:cNvSpPr>
          <p:nvPr>
            <p:ph type="sldNum" sz="quarter" idx="11"/>
          </p:nvPr>
        </p:nvSpPr>
        <p:spPr>
          <a:ln/>
        </p:spPr>
        <p:txBody>
          <a:bodyPr/>
          <a:lstStyle>
            <a:lvl1pPr>
              <a:defRPr/>
            </a:lvl1pPr>
          </a:lstStyle>
          <a:p>
            <a:fld id="{EB63408E-AFE5-475F-9F6E-09CAFA917BAE}" type="slidenum">
              <a:rPr lang="en-US" altLang="en-US"/>
              <a:pPr/>
              <a:t>‹#›</a:t>
            </a:fld>
            <a:endParaRPr lang="en-US" altLang="en-US"/>
          </a:p>
        </p:txBody>
      </p:sp>
    </p:spTree>
    <p:extLst>
      <p:ext uri="{BB962C8B-B14F-4D97-AF65-F5344CB8AC3E}">
        <p14:creationId xmlns:p14="http://schemas.microsoft.com/office/powerpoint/2010/main" val="2575307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85F6C15C-C58A-4CE5-909C-63FC31A96A0B}"/>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8" name="Rectangle 9">
            <a:extLst>
              <a:ext uri="{FF2B5EF4-FFF2-40B4-BE49-F238E27FC236}">
                <a16:creationId xmlns:a16="http://schemas.microsoft.com/office/drawing/2014/main" id="{2AE00BA0-AD93-46D3-BFD4-F20DC1C788B4}"/>
              </a:ext>
            </a:extLst>
          </p:cNvPr>
          <p:cNvSpPr>
            <a:spLocks noGrp="1" noChangeArrowheads="1"/>
          </p:cNvSpPr>
          <p:nvPr>
            <p:ph type="sldNum" sz="quarter" idx="11"/>
          </p:nvPr>
        </p:nvSpPr>
        <p:spPr>
          <a:ln/>
        </p:spPr>
        <p:txBody>
          <a:bodyPr/>
          <a:lstStyle>
            <a:lvl1pPr>
              <a:defRPr/>
            </a:lvl1pPr>
          </a:lstStyle>
          <a:p>
            <a:fld id="{CD80E558-365A-4CCA-847D-0D79707877B9}" type="slidenum">
              <a:rPr lang="en-US" altLang="en-US"/>
              <a:pPr/>
              <a:t>‹#›</a:t>
            </a:fld>
            <a:endParaRPr lang="en-US" altLang="en-US"/>
          </a:p>
        </p:txBody>
      </p:sp>
    </p:spTree>
    <p:extLst>
      <p:ext uri="{BB962C8B-B14F-4D97-AF65-F5344CB8AC3E}">
        <p14:creationId xmlns:p14="http://schemas.microsoft.com/office/powerpoint/2010/main" val="407276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92157EDA-6B4E-4F77-B098-F0BE97FFD551}"/>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4" name="Rectangle 9">
            <a:extLst>
              <a:ext uri="{FF2B5EF4-FFF2-40B4-BE49-F238E27FC236}">
                <a16:creationId xmlns:a16="http://schemas.microsoft.com/office/drawing/2014/main" id="{EC4CE411-1A8B-42E4-B77B-321188CF27E3}"/>
              </a:ext>
            </a:extLst>
          </p:cNvPr>
          <p:cNvSpPr>
            <a:spLocks noGrp="1" noChangeArrowheads="1"/>
          </p:cNvSpPr>
          <p:nvPr>
            <p:ph type="sldNum" sz="quarter" idx="11"/>
          </p:nvPr>
        </p:nvSpPr>
        <p:spPr>
          <a:ln/>
        </p:spPr>
        <p:txBody>
          <a:bodyPr/>
          <a:lstStyle>
            <a:lvl1pPr>
              <a:defRPr/>
            </a:lvl1pPr>
          </a:lstStyle>
          <a:p>
            <a:fld id="{364F027D-5667-4D8B-8E7A-6C33BD528C6B}" type="slidenum">
              <a:rPr lang="en-US" altLang="en-US"/>
              <a:pPr/>
              <a:t>‹#›</a:t>
            </a:fld>
            <a:endParaRPr lang="en-US" altLang="en-US"/>
          </a:p>
        </p:txBody>
      </p:sp>
    </p:spTree>
    <p:extLst>
      <p:ext uri="{BB962C8B-B14F-4D97-AF65-F5344CB8AC3E}">
        <p14:creationId xmlns:p14="http://schemas.microsoft.com/office/powerpoint/2010/main" val="154172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A704C5D9-9604-4D35-968B-C705864678A1}"/>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3" name="Rectangle 9">
            <a:extLst>
              <a:ext uri="{FF2B5EF4-FFF2-40B4-BE49-F238E27FC236}">
                <a16:creationId xmlns:a16="http://schemas.microsoft.com/office/drawing/2014/main" id="{45A0ADF4-D8DB-4AE0-A5CB-6D5331E08125}"/>
              </a:ext>
            </a:extLst>
          </p:cNvPr>
          <p:cNvSpPr>
            <a:spLocks noGrp="1" noChangeArrowheads="1"/>
          </p:cNvSpPr>
          <p:nvPr>
            <p:ph type="sldNum" sz="quarter" idx="11"/>
          </p:nvPr>
        </p:nvSpPr>
        <p:spPr>
          <a:ln/>
        </p:spPr>
        <p:txBody>
          <a:bodyPr/>
          <a:lstStyle>
            <a:lvl1pPr>
              <a:defRPr/>
            </a:lvl1pPr>
          </a:lstStyle>
          <a:p>
            <a:fld id="{9E2A4420-EBA6-4AAB-AB29-0CEF0FA25610}" type="slidenum">
              <a:rPr lang="en-US" altLang="en-US"/>
              <a:pPr/>
              <a:t>‹#›</a:t>
            </a:fld>
            <a:endParaRPr lang="en-US" altLang="en-US"/>
          </a:p>
        </p:txBody>
      </p:sp>
    </p:spTree>
    <p:extLst>
      <p:ext uri="{BB962C8B-B14F-4D97-AF65-F5344CB8AC3E}">
        <p14:creationId xmlns:p14="http://schemas.microsoft.com/office/powerpoint/2010/main" val="1961971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71FF7B1C-6CD6-486E-8D2B-0FF39328AB36}"/>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95260D75-821D-4E3C-AFB4-C166A5B1D7E5}"/>
              </a:ext>
            </a:extLst>
          </p:cNvPr>
          <p:cNvSpPr>
            <a:spLocks noGrp="1" noChangeArrowheads="1"/>
          </p:cNvSpPr>
          <p:nvPr>
            <p:ph type="sldNum" sz="quarter" idx="11"/>
          </p:nvPr>
        </p:nvSpPr>
        <p:spPr>
          <a:ln/>
        </p:spPr>
        <p:txBody>
          <a:bodyPr/>
          <a:lstStyle>
            <a:lvl1pPr>
              <a:defRPr/>
            </a:lvl1pPr>
          </a:lstStyle>
          <a:p>
            <a:fld id="{2B4F09CE-A5D0-42E6-AD91-19C1A47A5E13}" type="slidenum">
              <a:rPr lang="en-US" altLang="en-US"/>
              <a:pPr/>
              <a:t>‹#›</a:t>
            </a:fld>
            <a:endParaRPr lang="en-US" altLang="en-US"/>
          </a:p>
        </p:txBody>
      </p:sp>
    </p:spTree>
    <p:extLst>
      <p:ext uri="{BB962C8B-B14F-4D97-AF65-F5344CB8AC3E}">
        <p14:creationId xmlns:p14="http://schemas.microsoft.com/office/powerpoint/2010/main" val="217296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5C21C062-29C0-45E7-BD70-23C3D3AEF6E2}"/>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6" name="Rectangle 9">
            <a:extLst>
              <a:ext uri="{FF2B5EF4-FFF2-40B4-BE49-F238E27FC236}">
                <a16:creationId xmlns:a16="http://schemas.microsoft.com/office/drawing/2014/main" id="{F336B1D0-77A9-441C-99A4-77348A91F386}"/>
              </a:ext>
            </a:extLst>
          </p:cNvPr>
          <p:cNvSpPr>
            <a:spLocks noGrp="1" noChangeArrowheads="1"/>
          </p:cNvSpPr>
          <p:nvPr>
            <p:ph type="sldNum" sz="quarter" idx="11"/>
          </p:nvPr>
        </p:nvSpPr>
        <p:spPr>
          <a:ln/>
        </p:spPr>
        <p:txBody>
          <a:bodyPr/>
          <a:lstStyle>
            <a:lvl1pPr>
              <a:defRPr/>
            </a:lvl1pPr>
          </a:lstStyle>
          <a:p>
            <a:fld id="{6E4E710C-EFE0-49EE-8D65-6291177CD86E}" type="slidenum">
              <a:rPr lang="en-US" altLang="en-US"/>
              <a:pPr/>
              <a:t>‹#›</a:t>
            </a:fld>
            <a:endParaRPr lang="en-US" altLang="en-US"/>
          </a:p>
        </p:txBody>
      </p:sp>
    </p:spTree>
    <p:extLst>
      <p:ext uri="{BB962C8B-B14F-4D97-AF65-F5344CB8AC3E}">
        <p14:creationId xmlns:p14="http://schemas.microsoft.com/office/powerpoint/2010/main" val="68704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2BB72303-C6C2-4A13-9ACA-87DE719EB25C}"/>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B1CBD993-0672-4E06-8EAB-8CDED46CA091}"/>
              </a:ext>
            </a:extLst>
          </p:cNvPr>
          <p:cNvSpPr>
            <a:spLocks noGrp="1" noChangeArrowheads="1"/>
          </p:cNvSpPr>
          <p:nvPr>
            <p:ph type="sldNum" sz="quarter" idx="11"/>
          </p:nvPr>
        </p:nvSpPr>
        <p:spPr>
          <a:ln/>
        </p:spPr>
        <p:txBody>
          <a:bodyPr/>
          <a:lstStyle>
            <a:lvl1pPr>
              <a:defRPr/>
            </a:lvl1pPr>
          </a:lstStyle>
          <a:p>
            <a:fld id="{416EAD30-EBE0-440C-A438-1157D07EC949}" type="slidenum">
              <a:rPr lang="en-US" altLang="en-US"/>
              <a:pPr/>
              <a:t>‹#›</a:t>
            </a:fld>
            <a:endParaRPr lang="en-US" altLang="en-US"/>
          </a:p>
        </p:txBody>
      </p:sp>
    </p:spTree>
    <p:extLst>
      <p:ext uri="{BB962C8B-B14F-4D97-AF65-F5344CB8AC3E}">
        <p14:creationId xmlns:p14="http://schemas.microsoft.com/office/powerpoint/2010/main" val="781068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F14C3FA8-54FB-49A1-A98D-D83A19003A64}"/>
              </a:ext>
            </a:extLst>
          </p:cNvPr>
          <p:cNvSpPr>
            <a:spLocks noGrp="1" noChangeArrowheads="1"/>
          </p:cNvSpPr>
          <p:nvPr>
            <p:ph type="ftr" sz="quarter" idx="10"/>
          </p:nvPr>
        </p:nvSpPr>
        <p:spPr>
          <a:ln/>
        </p:spPr>
        <p:txBody>
          <a:bodyPr/>
          <a:lstStyle>
            <a:lvl1pPr>
              <a:defRPr/>
            </a:lvl1pPr>
          </a:lstStyle>
          <a:p>
            <a:pPr>
              <a:defRPr/>
            </a:pPr>
            <a:r>
              <a:rPr lang="en-US" altLang="en-US"/>
              <a:t>Irvine, Kip R. Assembly Language for x86 Processors 7/e, 2015.</a:t>
            </a:r>
          </a:p>
        </p:txBody>
      </p:sp>
      <p:sp>
        <p:nvSpPr>
          <p:cNvPr id="5" name="Rectangle 9">
            <a:extLst>
              <a:ext uri="{FF2B5EF4-FFF2-40B4-BE49-F238E27FC236}">
                <a16:creationId xmlns:a16="http://schemas.microsoft.com/office/drawing/2014/main" id="{5C535AAE-70A4-46F8-9CC0-09FAC0903E05}"/>
              </a:ext>
            </a:extLst>
          </p:cNvPr>
          <p:cNvSpPr>
            <a:spLocks noGrp="1" noChangeArrowheads="1"/>
          </p:cNvSpPr>
          <p:nvPr>
            <p:ph type="sldNum" sz="quarter" idx="11"/>
          </p:nvPr>
        </p:nvSpPr>
        <p:spPr>
          <a:ln/>
        </p:spPr>
        <p:txBody>
          <a:bodyPr/>
          <a:lstStyle>
            <a:lvl1pPr>
              <a:defRPr/>
            </a:lvl1pPr>
          </a:lstStyle>
          <a:p>
            <a:fld id="{3C389473-923A-4AB0-BFC9-9EE78D0AA17B}" type="slidenum">
              <a:rPr lang="en-US" altLang="en-US"/>
              <a:pPr/>
              <a:t>‹#›</a:t>
            </a:fld>
            <a:endParaRPr lang="en-US" altLang="en-US"/>
          </a:p>
        </p:txBody>
      </p:sp>
    </p:spTree>
    <p:extLst>
      <p:ext uri="{BB962C8B-B14F-4D97-AF65-F5344CB8AC3E}">
        <p14:creationId xmlns:p14="http://schemas.microsoft.com/office/powerpoint/2010/main" val="11320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sp>
        <p:nvSpPr>
          <p:cNvPr id="2053" name="Rectangle 5">
            <a:extLst>
              <a:ext uri="{FF2B5EF4-FFF2-40B4-BE49-F238E27FC236}">
                <a16:creationId xmlns:a16="http://schemas.microsoft.com/office/drawing/2014/main" id="{2228C4CE-A19E-4BD6-9FEC-F02403751191}"/>
              </a:ext>
            </a:extLst>
          </p:cNvPr>
          <p:cNvSpPr>
            <a:spLocks noGrp="1" noChangeArrowheads="1"/>
          </p:cNvSpPr>
          <p:nvPr>
            <p:ph type="title"/>
          </p:nvPr>
        </p:nvSpPr>
        <p:spPr bwMode="auto">
          <a:xfrm>
            <a:off x="685800" y="2286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6" name="Rectangle 8">
            <a:extLst>
              <a:ext uri="{FF2B5EF4-FFF2-40B4-BE49-F238E27FC236}">
                <a16:creationId xmlns:a16="http://schemas.microsoft.com/office/drawing/2014/main" id="{A81A33B7-E797-42B9-89EE-C10DE7B7ADAD}"/>
              </a:ext>
            </a:extLst>
          </p:cNvPr>
          <p:cNvSpPr>
            <a:spLocks noGrp="1" noChangeArrowheads="1"/>
          </p:cNvSpPr>
          <p:nvPr>
            <p:ph type="ftr" sz="quarter" idx="3"/>
          </p:nvPr>
        </p:nvSpPr>
        <p:spPr bwMode="auto">
          <a:xfrm>
            <a:off x="457200" y="6324600"/>
            <a:ext cx="441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sz="1000" smtClean="0">
                <a:latin typeface="Arial" charset="0"/>
              </a:defRPr>
            </a:lvl1pPr>
          </a:lstStyle>
          <a:p>
            <a:pPr>
              <a:defRPr/>
            </a:pPr>
            <a:r>
              <a:rPr lang="en-US" altLang="en-US"/>
              <a:t>Irvine, Kip R. Assembly Language for x86 Processors 7/e, 2015.</a:t>
            </a:r>
          </a:p>
        </p:txBody>
      </p:sp>
      <p:sp>
        <p:nvSpPr>
          <p:cNvPr id="1028" name="Rectangle 11">
            <a:extLst>
              <a:ext uri="{FF2B5EF4-FFF2-40B4-BE49-F238E27FC236}">
                <a16:creationId xmlns:a16="http://schemas.microsoft.com/office/drawing/2014/main" id="{DEEC4916-0599-4E63-B64F-48E8B861D577}"/>
              </a:ext>
            </a:extLst>
          </p:cNvPr>
          <p:cNvSpPr>
            <a:spLocks noGrp="1" noChangeArrowheads="1"/>
          </p:cNvSpPr>
          <p:nvPr>
            <p:ph type="body" idx="1"/>
          </p:nvPr>
        </p:nvSpPr>
        <p:spPr bwMode="auto">
          <a:xfrm>
            <a:off x="685800" y="1143000"/>
            <a:ext cx="7772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29" name="Text Box 12">
            <a:extLst>
              <a:ext uri="{FF2B5EF4-FFF2-40B4-BE49-F238E27FC236}">
                <a16:creationId xmlns:a16="http://schemas.microsoft.com/office/drawing/2014/main" id="{775F968B-D86D-4017-AAA3-07DC6C5FE905}"/>
              </a:ext>
            </a:extLst>
          </p:cNvPr>
          <p:cNvSpPr txBox="1">
            <a:spLocks noChangeArrowheads="1"/>
          </p:cNvSpPr>
          <p:nvPr userDrawn="1"/>
        </p:nvSpPr>
        <p:spPr bwMode="auto">
          <a:xfrm>
            <a:off x="685800" y="5867400"/>
            <a:ext cx="2209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defRPr sz="2100">
                <a:solidFill>
                  <a:schemeClr val="tx1"/>
                </a:solidFill>
                <a:latin typeface="Arial" charset="0"/>
              </a:defRPr>
            </a:lvl1pPr>
            <a:lvl2pPr marL="742950" indent="-285750" eaLnBrk="0" hangingPunct="0">
              <a:defRPr sz="2100">
                <a:solidFill>
                  <a:schemeClr val="tx1"/>
                </a:solidFill>
                <a:latin typeface="Arial" charset="0"/>
              </a:defRPr>
            </a:lvl2pPr>
            <a:lvl3pPr marL="1143000" indent="-228600" eaLnBrk="0" hangingPunct="0">
              <a:defRPr sz="2100">
                <a:solidFill>
                  <a:schemeClr val="tx1"/>
                </a:solidFill>
                <a:latin typeface="Arial" charset="0"/>
              </a:defRPr>
            </a:lvl3pPr>
            <a:lvl4pPr marL="1600200" indent="-228600" eaLnBrk="0" hangingPunct="0">
              <a:defRPr sz="2100">
                <a:solidFill>
                  <a:schemeClr val="tx1"/>
                </a:solidFill>
                <a:latin typeface="Arial" charset="0"/>
              </a:defRPr>
            </a:lvl4pPr>
            <a:lvl5pPr marL="2057400" indent="-228600" eaLnBrk="0" hangingPunct="0">
              <a:defRPr sz="2100">
                <a:solidFill>
                  <a:schemeClr val="tx1"/>
                </a:solidFill>
                <a:latin typeface="Arial" charset="0"/>
              </a:defRPr>
            </a:lvl5pPr>
            <a:lvl6pPr marL="2514600" indent="-228600" eaLnBrk="0" fontAlgn="base" hangingPunct="0">
              <a:spcBef>
                <a:spcPct val="0"/>
              </a:spcBef>
              <a:spcAft>
                <a:spcPct val="0"/>
              </a:spcAft>
              <a:defRPr sz="2100">
                <a:solidFill>
                  <a:schemeClr val="tx1"/>
                </a:solidFill>
                <a:latin typeface="Arial" charset="0"/>
              </a:defRPr>
            </a:lvl6pPr>
            <a:lvl7pPr marL="2971800" indent="-228600" eaLnBrk="0" fontAlgn="base" hangingPunct="0">
              <a:spcBef>
                <a:spcPct val="0"/>
              </a:spcBef>
              <a:spcAft>
                <a:spcPct val="0"/>
              </a:spcAft>
              <a:defRPr sz="2100">
                <a:solidFill>
                  <a:schemeClr val="tx1"/>
                </a:solidFill>
                <a:latin typeface="Arial" charset="0"/>
              </a:defRPr>
            </a:lvl7pPr>
            <a:lvl8pPr marL="3429000" indent="-228600" eaLnBrk="0" fontAlgn="base" hangingPunct="0">
              <a:spcBef>
                <a:spcPct val="0"/>
              </a:spcBef>
              <a:spcAft>
                <a:spcPct val="0"/>
              </a:spcAft>
              <a:defRPr sz="2100">
                <a:solidFill>
                  <a:schemeClr val="tx1"/>
                </a:solidFill>
                <a:latin typeface="Arial" charset="0"/>
              </a:defRPr>
            </a:lvl8pPr>
            <a:lvl9pPr marL="3886200" indent="-228600" eaLnBrk="0" fontAlgn="base" hangingPunct="0">
              <a:spcBef>
                <a:spcPct val="0"/>
              </a:spcBef>
              <a:spcAft>
                <a:spcPct val="0"/>
              </a:spcAft>
              <a:defRPr sz="2100">
                <a:solidFill>
                  <a:schemeClr val="tx1"/>
                </a:solidFill>
                <a:latin typeface="Arial" charset="0"/>
              </a:defRPr>
            </a:lvl9pPr>
          </a:lstStyle>
          <a:p>
            <a:pPr eaLnBrk="1" hangingPunct="1">
              <a:spcBef>
                <a:spcPct val="50000"/>
              </a:spcBef>
              <a:defRPr/>
            </a:pPr>
            <a:endParaRPr lang="en-US" altLang="en-US"/>
          </a:p>
        </p:txBody>
      </p:sp>
      <p:sp>
        <p:nvSpPr>
          <p:cNvPr id="2057" name="Rectangle 9">
            <a:extLst>
              <a:ext uri="{FF2B5EF4-FFF2-40B4-BE49-F238E27FC236}">
                <a16:creationId xmlns:a16="http://schemas.microsoft.com/office/drawing/2014/main" id="{4C918B85-16FC-4835-9C97-0434250899EE}"/>
              </a:ext>
            </a:extLst>
          </p:cNvPr>
          <p:cNvSpPr>
            <a:spLocks noGrp="1" noChangeArrowheads="1"/>
          </p:cNvSpPr>
          <p:nvPr>
            <p:ph type="sldNum" sz="quarter" idx="4"/>
          </p:nvPr>
        </p:nvSpPr>
        <p:spPr bwMode="auto">
          <a:xfrm>
            <a:off x="7467600" y="62484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sz="1600">
                <a:latin typeface="Times New Roman" panose="02020603050405020304" pitchFamily="18" charset="0"/>
              </a:defRPr>
            </a:lvl1pPr>
          </a:lstStyle>
          <a:p>
            <a:fld id="{A31619B4-5A3C-443A-A2B7-1AAC6FEA7A35}"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tx1"/>
        </a:buClr>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200">
          <a:solidFill>
            <a:schemeClr val="tx1"/>
          </a:solidFill>
          <a:latin typeface="+mn-lt"/>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Times New Roman" pitchFamily="18" charset="0"/>
        </a:defRPr>
      </a:lvl5pPr>
      <a:lvl6pPr marL="2514600" indent="-228600" algn="l" rtl="0" fontAlgn="base">
        <a:spcBef>
          <a:spcPct val="20000"/>
        </a:spcBef>
        <a:spcAft>
          <a:spcPct val="0"/>
        </a:spcAft>
        <a:buClr>
          <a:schemeClr val="accent1"/>
        </a:buClr>
        <a:buChar char="•"/>
        <a:defRPr sz="2000">
          <a:solidFill>
            <a:schemeClr val="tx1"/>
          </a:solidFill>
          <a:latin typeface="Times New Roman" pitchFamily="18" charset="0"/>
        </a:defRPr>
      </a:lvl6pPr>
      <a:lvl7pPr marL="2971800" indent="-228600" algn="l" rtl="0" fontAlgn="base">
        <a:spcBef>
          <a:spcPct val="20000"/>
        </a:spcBef>
        <a:spcAft>
          <a:spcPct val="0"/>
        </a:spcAft>
        <a:buClr>
          <a:schemeClr val="accent1"/>
        </a:buClr>
        <a:buChar char="•"/>
        <a:defRPr sz="2000">
          <a:solidFill>
            <a:schemeClr val="tx1"/>
          </a:solidFill>
          <a:latin typeface="Times New Roman" pitchFamily="18" charset="0"/>
        </a:defRPr>
      </a:lvl7pPr>
      <a:lvl8pPr marL="3429000" indent="-228600" algn="l" rtl="0" fontAlgn="base">
        <a:spcBef>
          <a:spcPct val="20000"/>
        </a:spcBef>
        <a:spcAft>
          <a:spcPct val="0"/>
        </a:spcAft>
        <a:buClr>
          <a:schemeClr val="accent1"/>
        </a:buClr>
        <a:buChar char="•"/>
        <a:defRPr sz="2000">
          <a:solidFill>
            <a:schemeClr val="tx1"/>
          </a:solidFill>
          <a:latin typeface="Times New Roman" pitchFamily="18" charset="0"/>
        </a:defRPr>
      </a:lvl8pPr>
      <a:lvl9pPr marL="3886200" indent="-228600" algn="l" rtl="0" fontAlgn="base">
        <a:spcBef>
          <a:spcPct val="20000"/>
        </a:spcBef>
        <a:spcAft>
          <a:spcPct val="0"/>
        </a:spcAft>
        <a:buClr>
          <a:schemeClr val="accent1"/>
        </a:buClr>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1.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MultiShf.as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8.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4FDAC0E-925C-4952-9D49-F8F8C2E17650}"/>
              </a:ext>
            </a:extLst>
          </p:cNvPr>
          <p:cNvSpPr>
            <a:spLocks noGrp="1" noChangeArrowheads="1"/>
          </p:cNvSpPr>
          <p:nvPr>
            <p:ph type="ctrTitle"/>
          </p:nvPr>
        </p:nvSpPr>
        <p:spPr>
          <a:xfrm>
            <a:off x="685800" y="609600"/>
            <a:ext cx="7772400" cy="1143000"/>
          </a:xfrm>
        </p:spPr>
        <p:txBody>
          <a:bodyPr/>
          <a:lstStyle/>
          <a:p>
            <a:pPr eaLnBrk="1" hangingPunct="1">
              <a:defRPr/>
            </a:pPr>
            <a:r>
              <a:rPr lang="en-US" altLang="en-US"/>
              <a:t>Assembly Language for x86 Processors 7</a:t>
            </a:r>
            <a:r>
              <a:rPr lang="en-US" altLang="en-US" sz="2400"/>
              <a:t>th Edition</a:t>
            </a:r>
            <a:r>
              <a:rPr lang="en-US" altLang="en-US"/>
              <a:t> </a:t>
            </a:r>
          </a:p>
        </p:txBody>
      </p:sp>
      <p:sp>
        <p:nvSpPr>
          <p:cNvPr id="3075" name="Rectangle 3">
            <a:extLst>
              <a:ext uri="{FF2B5EF4-FFF2-40B4-BE49-F238E27FC236}">
                <a16:creationId xmlns:a16="http://schemas.microsoft.com/office/drawing/2014/main" id="{949D59DD-A8B9-46D6-ACA3-2A044EDF9A3D}"/>
              </a:ext>
            </a:extLst>
          </p:cNvPr>
          <p:cNvSpPr>
            <a:spLocks noGrp="1" noChangeArrowheads="1"/>
          </p:cNvSpPr>
          <p:nvPr>
            <p:ph type="subTitle" idx="1"/>
          </p:nvPr>
        </p:nvSpPr>
        <p:spPr>
          <a:xfrm>
            <a:off x="1447800" y="2209800"/>
            <a:ext cx="6400800" cy="1752600"/>
          </a:xfrm>
        </p:spPr>
        <p:txBody>
          <a:bodyPr/>
          <a:lstStyle/>
          <a:p>
            <a:pPr eaLnBrk="1" hangingPunct="1"/>
            <a:r>
              <a:rPr lang="en-US" altLang="en-US" sz="3200"/>
              <a:t>Chapter 7: Integer Arithmetic</a:t>
            </a:r>
          </a:p>
        </p:txBody>
      </p:sp>
      <p:sp>
        <p:nvSpPr>
          <p:cNvPr id="3076" name="Text Box 4">
            <a:extLst>
              <a:ext uri="{FF2B5EF4-FFF2-40B4-BE49-F238E27FC236}">
                <a16:creationId xmlns:a16="http://schemas.microsoft.com/office/drawing/2014/main" id="{5C618377-DF71-4E40-A5D0-4BB142BB3E3B}"/>
              </a:ext>
            </a:extLst>
          </p:cNvPr>
          <p:cNvSpPr txBox="1">
            <a:spLocks noChangeArrowheads="1"/>
          </p:cNvSpPr>
          <p:nvPr/>
        </p:nvSpPr>
        <p:spPr bwMode="auto">
          <a:xfrm>
            <a:off x="533400" y="6172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200"/>
              <a:t>(c) Pearson Education, 2015. All rights reserved. You may modify and copy this slide show for your personal use, or for use in the classroom, as long as this copyright statement, the author's name, and the title are not changed.</a:t>
            </a:r>
          </a:p>
        </p:txBody>
      </p:sp>
      <p:sp>
        <p:nvSpPr>
          <p:cNvPr id="3077" name="Text Box 6">
            <a:extLst>
              <a:ext uri="{FF2B5EF4-FFF2-40B4-BE49-F238E27FC236}">
                <a16:creationId xmlns:a16="http://schemas.microsoft.com/office/drawing/2014/main" id="{C8C4C734-0780-4F87-8A67-2AD03BE7E8C6}"/>
              </a:ext>
            </a:extLst>
          </p:cNvPr>
          <p:cNvSpPr txBox="1">
            <a:spLocks noChangeArrowheads="1"/>
          </p:cNvSpPr>
          <p:nvPr/>
        </p:nvSpPr>
        <p:spPr bwMode="auto">
          <a:xfrm>
            <a:off x="533400" y="4953000"/>
            <a:ext cx="5181600"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i="1"/>
              <a:t>Slides prepared by the author</a:t>
            </a:r>
          </a:p>
          <a:p>
            <a:pPr eaLnBrk="1" hangingPunct="1">
              <a:spcBef>
                <a:spcPct val="50000"/>
              </a:spcBef>
              <a:buClrTx/>
              <a:buFontTx/>
              <a:buNone/>
            </a:pPr>
            <a:r>
              <a:rPr lang="en-US" altLang="en-US" sz="1700" i="1"/>
              <a:t>Revision date: 1/15/2014</a:t>
            </a:r>
          </a:p>
        </p:txBody>
      </p:sp>
      <p:sp>
        <p:nvSpPr>
          <p:cNvPr id="3078" name="Text Box 7">
            <a:extLst>
              <a:ext uri="{FF2B5EF4-FFF2-40B4-BE49-F238E27FC236}">
                <a16:creationId xmlns:a16="http://schemas.microsoft.com/office/drawing/2014/main" id="{0271C9B9-8560-4864-A366-4EDB4711DD2F}"/>
              </a:ext>
            </a:extLst>
          </p:cNvPr>
          <p:cNvSpPr txBox="1">
            <a:spLocks noChangeArrowheads="1"/>
          </p:cNvSpPr>
          <p:nvPr/>
        </p:nvSpPr>
        <p:spPr bwMode="auto">
          <a:xfrm>
            <a:off x="2895600" y="1676400"/>
            <a:ext cx="3276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solidFill>
                  <a:schemeClr val="tx2"/>
                </a:solidFill>
              </a:rPr>
              <a:t>Kip R. Irvine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CD264735-2BCD-4BF8-86FD-2E66431DD15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099" name="Slide Number Placeholder 4">
            <a:extLst>
              <a:ext uri="{FF2B5EF4-FFF2-40B4-BE49-F238E27FC236}">
                <a16:creationId xmlns:a16="http://schemas.microsoft.com/office/drawing/2014/main" id="{BC895645-75EA-44AC-8B92-DFAE783C9586}"/>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50AFC616-7860-4532-B8FD-07333B18CFA3}" type="slidenum">
              <a:rPr lang="en-US" altLang="en-US" sz="1600">
                <a:latin typeface="Times New Roman" panose="02020603050405020304" pitchFamily="18" charset="0"/>
              </a:rPr>
              <a:pPr eaLnBrk="1" hangingPunct="1">
                <a:spcBef>
                  <a:spcPct val="0"/>
                </a:spcBef>
                <a:buClrTx/>
                <a:buFontTx/>
                <a:buNone/>
              </a:pPr>
              <a:t>2</a:t>
            </a:fld>
            <a:endParaRPr lang="en-US" altLang="en-US" sz="1600">
              <a:latin typeface="Times New Roman" panose="02020603050405020304" pitchFamily="18" charset="0"/>
            </a:endParaRPr>
          </a:p>
        </p:txBody>
      </p:sp>
      <p:sp>
        <p:nvSpPr>
          <p:cNvPr id="37890" name="Rectangle 2">
            <a:extLst>
              <a:ext uri="{FF2B5EF4-FFF2-40B4-BE49-F238E27FC236}">
                <a16:creationId xmlns:a16="http://schemas.microsoft.com/office/drawing/2014/main" id="{860AD252-3B98-4F8E-A358-7A192F969B30}"/>
              </a:ext>
            </a:extLst>
          </p:cNvPr>
          <p:cNvSpPr>
            <a:spLocks noGrp="1" noChangeArrowheads="1"/>
          </p:cNvSpPr>
          <p:nvPr>
            <p:ph type="title"/>
          </p:nvPr>
        </p:nvSpPr>
        <p:spPr/>
        <p:txBody>
          <a:bodyPr/>
          <a:lstStyle/>
          <a:p>
            <a:pPr eaLnBrk="1" hangingPunct="1">
              <a:defRPr/>
            </a:pPr>
            <a:r>
              <a:rPr lang="en-US" altLang="en-US"/>
              <a:t>Chapter Overview</a:t>
            </a:r>
          </a:p>
        </p:txBody>
      </p:sp>
      <p:sp>
        <p:nvSpPr>
          <p:cNvPr id="4101" name="Rectangle 3">
            <a:extLst>
              <a:ext uri="{FF2B5EF4-FFF2-40B4-BE49-F238E27FC236}">
                <a16:creationId xmlns:a16="http://schemas.microsoft.com/office/drawing/2014/main" id="{E79562ED-C097-4C51-AEDA-637845CC1D61}"/>
              </a:ext>
            </a:extLst>
          </p:cNvPr>
          <p:cNvSpPr>
            <a:spLocks noGrp="1" noChangeArrowheads="1"/>
          </p:cNvSpPr>
          <p:nvPr>
            <p:ph type="body" idx="1"/>
          </p:nvPr>
        </p:nvSpPr>
        <p:spPr>
          <a:xfrm>
            <a:off x="1295400" y="1600200"/>
            <a:ext cx="6934200" cy="2819400"/>
          </a:xfrm>
        </p:spPr>
        <p:txBody>
          <a:bodyPr/>
          <a:lstStyle/>
          <a:p>
            <a:pPr eaLnBrk="1" hangingPunct="1"/>
            <a:r>
              <a:rPr lang="en-US" altLang="en-US" b="1">
                <a:solidFill>
                  <a:schemeClr val="tx2"/>
                </a:solidFill>
              </a:rPr>
              <a:t>Shift and Rotate Instructions</a:t>
            </a:r>
          </a:p>
          <a:p>
            <a:pPr eaLnBrk="1" hangingPunct="1"/>
            <a:r>
              <a:rPr lang="en-US" altLang="en-US"/>
              <a:t>Shift and Rotate Applications</a:t>
            </a:r>
          </a:p>
          <a:p>
            <a:pPr eaLnBrk="1" hangingPunct="1"/>
            <a:r>
              <a:rPr lang="en-US" altLang="en-US"/>
              <a:t>Multiplication and Division Instructions</a:t>
            </a:r>
          </a:p>
          <a:p>
            <a:pPr eaLnBrk="1" hangingPunct="1"/>
            <a:r>
              <a:rPr lang="en-US" altLang="en-US"/>
              <a:t>Extended Addition and Subtraction</a:t>
            </a:r>
          </a:p>
          <a:p>
            <a:pPr eaLnBrk="1" hangingPunct="1"/>
            <a:r>
              <a:rPr lang="en-US" altLang="en-US"/>
              <a:t>ASCII and Unpacked Decimal Arithmetic</a:t>
            </a:r>
          </a:p>
          <a:p>
            <a:pPr eaLnBrk="1" hangingPunct="1"/>
            <a:r>
              <a:rPr lang="en-US" altLang="en-US"/>
              <a:t>Packed Decimal Arithmetic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6FE16537-79AA-4D4E-871D-DAB893F39E4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123" name="Slide Number Placeholder 4">
            <a:extLst>
              <a:ext uri="{FF2B5EF4-FFF2-40B4-BE49-F238E27FC236}">
                <a16:creationId xmlns:a16="http://schemas.microsoft.com/office/drawing/2014/main" id="{67E72249-1CB1-4803-A408-45BFC4D4BCE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EA022B80-87F7-4604-A9CA-0ADAE971EF1B}" type="slidenum">
              <a:rPr lang="en-US" altLang="en-US" sz="1600">
                <a:latin typeface="Times New Roman" panose="02020603050405020304" pitchFamily="18" charset="0"/>
              </a:rPr>
              <a:pPr eaLnBrk="1" hangingPunct="1">
                <a:spcBef>
                  <a:spcPct val="0"/>
                </a:spcBef>
                <a:buClrTx/>
                <a:buFontTx/>
                <a:buNone/>
              </a:pPr>
              <a:t>3</a:t>
            </a:fld>
            <a:endParaRPr lang="en-US" altLang="en-US" sz="1600">
              <a:latin typeface="Times New Roman" panose="02020603050405020304" pitchFamily="18" charset="0"/>
            </a:endParaRPr>
          </a:p>
        </p:txBody>
      </p:sp>
      <p:sp>
        <p:nvSpPr>
          <p:cNvPr id="78850" name="Rectangle 2">
            <a:extLst>
              <a:ext uri="{FF2B5EF4-FFF2-40B4-BE49-F238E27FC236}">
                <a16:creationId xmlns:a16="http://schemas.microsoft.com/office/drawing/2014/main" id="{73660731-F786-49F5-B1E1-8862E1F25B85}"/>
              </a:ext>
            </a:extLst>
          </p:cNvPr>
          <p:cNvSpPr>
            <a:spLocks noGrp="1" noChangeArrowheads="1"/>
          </p:cNvSpPr>
          <p:nvPr>
            <p:ph type="title"/>
          </p:nvPr>
        </p:nvSpPr>
        <p:spPr/>
        <p:txBody>
          <a:bodyPr/>
          <a:lstStyle/>
          <a:p>
            <a:pPr eaLnBrk="1" hangingPunct="1">
              <a:defRPr/>
            </a:pPr>
            <a:r>
              <a:rPr lang="en-US" altLang="en-US"/>
              <a:t>Shift and Rotate Instructions</a:t>
            </a:r>
          </a:p>
        </p:txBody>
      </p:sp>
      <p:sp>
        <p:nvSpPr>
          <p:cNvPr id="5125" name="Rectangle 3">
            <a:extLst>
              <a:ext uri="{FF2B5EF4-FFF2-40B4-BE49-F238E27FC236}">
                <a16:creationId xmlns:a16="http://schemas.microsoft.com/office/drawing/2014/main" id="{A1AF8BEC-3722-48E6-895E-19FEA8A65A59}"/>
              </a:ext>
            </a:extLst>
          </p:cNvPr>
          <p:cNvSpPr>
            <a:spLocks noGrp="1" noChangeArrowheads="1"/>
          </p:cNvSpPr>
          <p:nvPr>
            <p:ph type="body" idx="1"/>
          </p:nvPr>
        </p:nvSpPr>
        <p:spPr>
          <a:xfrm>
            <a:off x="1447800" y="1295400"/>
            <a:ext cx="6400800" cy="3657600"/>
          </a:xfrm>
        </p:spPr>
        <p:txBody>
          <a:bodyPr/>
          <a:lstStyle/>
          <a:p>
            <a:pPr eaLnBrk="1" hangingPunct="1"/>
            <a:r>
              <a:rPr lang="en-US" altLang="en-US"/>
              <a:t>Logical vs Arithmetic Shifts</a:t>
            </a:r>
          </a:p>
          <a:p>
            <a:pPr eaLnBrk="1" hangingPunct="1"/>
            <a:r>
              <a:rPr lang="en-US" altLang="en-US"/>
              <a:t>SHL Instruction </a:t>
            </a:r>
          </a:p>
          <a:p>
            <a:pPr eaLnBrk="1" hangingPunct="1"/>
            <a:r>
              <a:rPr lang="en-US" altLang="en-US"/>
              <a:t>SHR Instruction </a:t>
            </a:r>
          </a:p>
          <a:p>
            <a:pPr eaLnBrk="1" hangingPunct="1"/>
            <a:r>
              <a:rPr lang="en-US" altLang="en-US"/>
              <a:t>SAL and SAR Instructions </a:t>
            </a:r>
          </a:p>
          <a:p>
            <a:pPr eaLnBrk="1" hangingPunct="1"/>
            <a:r>
              <a:rPr lang="en-US" altLang="en-US"/>
              <a:t>ROL Instruction </a:t>
            </a:r>
          </a:p>
          <a:p>
            <a:pPr eaLnBrk="1" hangingPunct="1"/>
            <a:r>
              <a:rPr lang="en-US" altLang="en-US"/>
              <a:t>ROR Instruction </a:t>
            </a:r>
          </a:p>
          <a:p>
            <a:pPr eaLnBrk="1" hangingPunct="1"/>
            <a:r>
              <a:rPr lang="en-US" altLang="en-US"/>
              <a:t>RCL and RCR Instructions </a:t>
            </a:r>
          </a:p>
          <a:p>
            <a:pPr eaLnBrk="1" hangingPunct="1"/>
            <a:r>
              <a:rPr lang="en-US" altLang="en-US"/>
              <a:t>SHLD/SHRD Instructions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30ED72F2-83EE-4121-BAC3-FC4F49DD71A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147" name="Slide Number Placeholder 4">
            <a:extLst>
              <a:ext uri="{FF2B5EF4-FFF2-40B4-BE49-F238E27FC236}">
                <a16:creationId xmlns:a16="http://schemas.microsoft.com/office/drawing/2014/main" id="{AEF843CB-ED17-4227-8BBA-701658AEAEF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EF1CFFFF-7B55-4D8C-A3BE-323C3BCB6143}" type="slidenum">
              <a:rPr lang="en-US" altLang="en-US" sz="1600">
                <a:latin typeface="Times New Roman" panose="02020603050405020304" pitchFamily="18" charset="0"/>
              </a:rPr>
              <a:pPr eaLnBrk="1" hangingPunct="1">
                <a:spcBef>
                  <a:spcPct val="0"/>
                </a:spcBef>
                <a:buClrTx/>
                <a:buFontTx/>
                <a:buNone/>
              </a:pPr>
              <a:t>4</a:t>
            </a:fld>
            <a:endParaRPr lang="en-US" altLang="en-US" sz="1600">
              <a:latin typeface="Times New Roman" panose="02020603050405020304" pitchFamily="18" charset="0"/>
            </a:endParaRPr>
          </a:p>
        </p:txBody>
      </p:sp>
      <p:sp>
        <p:nvSpPr>
          <p:cNvPr id="83970" name="Rectangle 1026">
            <a:extLst>
              <a:ext uri="{FF2B5EF4-FFF2-40B4-BE49-F238E27FC236}">
                <a16:creationId xmlns:a16="http://schemas.microsoft.com/office/drawing/2014/main" id="{CBAECEE3-9AFD-4615-AB05-4479D163B6B0}"/>
              </a:ext>
            </a:extLst>
          </p:cNvPr>
          <p:cNvSpPr>
            <a:spLocks noGrp="1" noChangeArrowheads="1"/>
          </p:cNvSpPr>
          <p:nvPr>
            <p:ph type="title"/>
          </p:nvPr>
        </p:nvSpPr>
        <p:spPr/>
        <p:txBody>
          <a:bodyPr/>
          <a:lstStyle/>
          <a:p>
            <a:pPr eaLnBrk="1" hangingPunct="1">
              <a:defRPr/>
            </a:pPr>
            <a:r>
              <a:rPr lang="en-US" altLang="en-US"/>
              <a:t>Logical Shift</a:t>
            </a:r>
          </a:p>
        </p:txBody>
      </p:sp>
      <p:sp>
        <p:nvSpPr>
          <p:cNvPr id="6149" name="Rectangle 1027">
            <a:extLst>
              <a:ext uri="{FF2B5EF4-FFF2-40B4-BE49-F238E27FC236}">
                <a16:creationId xmlns:a16="http://schemas.microsoft.com/office/drawing/2014/main" id="{93986F77-759C-40EB-B433-25590BD9C0EB}"/>
              </a:ext>
            </a:extLst>
          </p:cNvPr>
          <p:cNvSpPr>
            <a:spLocks noGrp="1" noChangeArrowheads="1"/>
          </p:cNvSpPr>
          <p:nvPr>
            <p:ph type="body" idx="1"/>
          </p:nvPr>
        </p:nvSpPr>
        <p:spPr>
          <a:xfrm>
            <a:off x="685800" y="1219200"/>
            <a:ext cx="7772400" cy="914400"/>
          </a:xfrm>
        </p:spPr>
        <p:txBody>
          <a:bodyPr/>
          <a:lstStyle/>
          <a:p>
            <a:pPr eaLnBrk="1" hangingPunct="1"/>
            <a:r>
              <a:rPr lang="en-US" altLang="en-US"/>
              <a:t>A logical shift fills the newly created bit position with zero:</a:t>
            </a:r>
          </a:p>
        </p:txBody>
      </p:sp>
      <p:sp>
        <p:nvSpPr>
          <p:cNvPr id="6150" name="Rectangle 1028">
            <a:extLst>
              <a:ext uri="{FF2B5EF4-FFF2-40B4-BE49-F238E27FC236}">
                <a16:creationId xmlns:a16="http://schemas.microsoft.com/office/drawing/2014/main" id="{1E6009BD-1B0D-4167-8FA3-21C5F3E56A80}"/>
              </a:ext>
            </a:extLst>
          </p:cNvPr>
          <p:cNvSpPr>
            <a:spLocks noChangeArrowheads="1"/>
          </p:cNvSpPr>
          <p:nvPr/>
        </p:nvSpPr>
        <p:spPr bwMode="auto">
          <a:xfrm>
            <a:off x="762000" y="3276600"/>
            <a:ext cx="7772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endParaRPr lang="en-US" altLang="en-US"/>
          </a:p>
        </p:txBody>
      </p:sp>
      <p:graphicFrame>
        <p:nvGraphicFramePr>
          <p:cNvPr id="6151" name="Object 1029">
            <a:extLst>
              <a:ext uri="{FF2B5EF4-FFF2-40B4-BE49-F238E27FC236}">
                <a16:creationId xmlns:a16="http://schemas.microsoft.com/office/drawing/2014/main" id="{6F37C5AB-7590-42F1-8071-561920CE0979}"/>
              </a:ext>
            </a:extLst>
          </p:cNvPr>
          <p:cNvGraphicFramePr>
            <a:graphicFrameLocks noChangeAspect="1"/>
          </p:cNvGraphicFramePr>
          <p:nvPr/>
        </p:nvGraphicFramePr>
        <p:xfrm>
          <a:off x="1828800" y="2362200"/>
          <a:ext cx="4953000" cy="809625"/>
        </p:xfrm>
        <a:graphic>
          <a:graphicData uri="http://schemas.openxmlformats.org/presentationml/2006/ole">
            <mc:AlternateContent xmlns:mc="http://schemas.openxmlformats.org/markup-compatibility/2006">
              <mc:Choice xmlns:v="urn:schemas-microsoft-com:vml" Requires="v">
                <p:oleObj spid="_x0000_s18433" name="VISIO" r:id="rId3" imgW="3736848" imgH="502920" progId="Visio.Drawing.6">
                  <p:embed/>
                </p:oleObj>
              </mc:Choice>
              <mc:Fallback>
                <p:oleObj name="VISIO" r:id="rId3" imgW="3736848" imgH="502920" progId="Visio.Drawing.6">
                  <p:embed/>
                  <p:pic>
                    <p:nvPicPr>
                      <p:cNvPr id="0" name="Object 1029"/>
                      <p:cNvPicPr>
                        <a:picLocks noChangeAspect="1" noChangeArrowheads="1"/>
                      </p:cNvPicPr>
                      <p:nvPr/>
                    </p:nvPicPr>
                    <p:blipFill>
                      <a:blip r:embed="rId4">
                        <a:extLst>
                          <a:ext uri="{28A0092B-C50C-407E-A947-70E740481C1C}">
                            <a14:useLocalDpi xmlns:a14="http://schemas.microsoft.com/office/drawing/2010/main" val="0"/>
                          </a:ext>
                        </a:extLst>
                      </a:blip>
                      <a:srcRect t="-23189" r="-1563"/>
                      <a:stretch>
                        <a:fillRect/>
                      </a:stretch>
                    </p:blipFill>
                    <p:spPr bwMode="auto">
                      <a:xfrm>
                        <a:off x="1828800" y="2362200"/>
                        <a:ext cx="4953000" cy="8096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152" name="Picture 1031">
            <a:extLst>
              <a:ext uri="{FF2B5EF4-FFF2-40B4-BE49-F238E27FC236}">
                <a16:creationId xmlns:a16="http://schemas.microsoft.com/office/drawing/2014/main" id="{9279E2BB-B241-41C9-9314-16B90BF808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733800"/>
            <a:ext cx="5326063"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E49178DB-9992-4B19-8980-5A17FD73D9C1}"/>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171" name="Slide Number Placeholder 4">
            <a:extLst>
              <a:ext uri="{FF2B5EF4-FFF2-40B4-BE49-F238E27FC236}">
                <a16:creationId xmlns:a16="http://schemas.microsoft.com/office/drawing/2014/main" id="{6A6A9032-FC6E-42C5-A8E4-D7502D4F2A6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53BC5495-3712-473B-B35E-60693EC3BAD8}" type="slidenum">
              <a:rPr lang="en-US" altLang="en-US" sz="1600">
                <a:latin typeface="Times New Roman" panose="02020603050405020304" pitchFamily="18" charset="0"/>
              </a:rPr>
              <a:pPr eaLnBrk="1" hangingPunct="1">
                <a:spcBef>
                  <a:spcPct val="0"/>
                </a:spcBef>
                <a:buClrTx/>
                <a:buFontTx/>
                <a:buNone/>
              </a:pPr>
              <a:t>5</a:t>
            </a:fld>
            <a:endParaRPr lang="en-US" altLang="en-US" sz="1600">
              <a:latin typeface="Times New Roman" panose="02020603050405020304" pitchFamily="18" charset="0"/>
            </a:endParaRPr>
          </a:p>
        </p:txBody>
      </p:sp>
      <p:sp>
        <p:nvSpPr>
          <p:cNvPr id="168962" name="Rectangle 2">
            <a:extLst>
              <a:ext uri="{FF2B5EF4-FFF2-40B4-BE49-F238E27FC236}">
                <a16:creationId xmlns:a16="http://schemas.microsoft.com/office/drawing/2014/main" id="{96D6B65C-6486-40C6-90DA-7575FC870017}"/>
              </a:ext>
            </a:extLst>
          </p:cNvPr>
          <p:cNvSpPr>
            <a:spLocks noGrp="1" noChangeArrowheads="1"/>
          </p:cNvSpPr>
          <p:nvPr>
            <p:ph type="title"/>
          </p:nvPr>
        </p:nvSpPr>
        <p:spPr/>
        <p:txBody>
          <a:bodyPr/>
          <a:lstStyle/>
          <a:p>
            <a:pPr eaLnBrk="1" hangingPunct="1">
              <a:defRPr/>
            </a:pPr>
            <a:r>
              <a:rPr lang="en-US" altLang="en-US"/>
              <a:t>Arithmetic Shift</a:t>
            </a:r>
          </a:p>
        </p:txBody>
      </p:sp>
      <p:sp>
        <p:nvSpPr>
          <p:cNvPr id="7173" name="Rectangle 4">
            <a:extLst>
              <a:ext uri="{FF2B5EF4-FFF2-40B4-BE49-F238E27FC236}">
                <a16:creationId xmlns:a16="http://schemas.microsoft.com/office/drawing/2014/main" id="{D0D5637E-5B6D-441F-A157-981878FECF7D}"/>
              </a:ext>
            </a:extLst>
          </p:cNvPr>
          <p:cNvSpPr>
            <a:spLocks noChangeArrowheads="1"/>
          </p:cNvSpPr>
          <p:nvPr/>
        </p:nvSpPr>
        <p:spPr bwMode="auto">
          <a:xfrm>
            <a:off x="762000" y="1219200"/>
            <a:ext cx="7772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a:t>An arithmetic shift fills the newly created bit position with a copy of the number’s sign bit:</a:t>
            </a:r>
          </a:p>
        </p:txBody>
      </p:sp>
      <p:graphicFrame>
        <p:nvGraphicFramePr>
          <p:cNvPr id="7174" name="Object 6">
            <a:extLst>
              <a:ext uri="{FF2B5EF4-FFF2-40B4-BE49-F238E27FC236}">
                <a16:creationId xmlns:a16="http://schemas.microsoft.com/office/drawing/2014/main" id="{0F0F7934-B0DE-4AF0-993F-C6E52F356C01}"/>
              </a:ext>
            </a:extLst>
          </p:cNvPr>
          <p:cNvGraphicFramePr>
            <a:graphicFrameLocks noChangeAspect="1"/>
          </p:cNvGraphicFramePr>
          <p:nvPr/>
        </p:nvGraphicFramePr>
        <p:xfrm>
          <a:off x="1981200" y="2438400"/>
          <a:ext cx="4876800" cy="854075"/>
        </p:xfrm>
        <a:graphic>
          <a:graphicData uri="http://schemas.openxmlformats.org/presentationml/2006/ole">
            <mc:AlternateContent xmlns:mc="http://schemas.openxmlformats.org/markup-compatibility/2006">
              <mc:Choice xmlns:v="urn:schemas-microsoft-com:vml" Requires="v">
                <p:oleObj spid="_x0000_s19457" name="VISIO" r:id="rId3" imgW="3838956" imgH="542544" progId="Visio.Drawing.6">
                  <p:embed/>
                </p:oleObj>
              </mc:Choice>
              <mc:Fallback>
                <p:oleObj name="VISIO" r:id="rId3" imgW="3838956" imgH="542544" progId="Visio.Drawing.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l="3076" t="-21719" r="-1538"/>
                      <a:stretch>
                        <a:fillRect/>
                      </a:stretch>
                    </p:blipFill>
                    <p:spPr bwMode="auto">
                      <a:xfrm>
                        <a:off x="1981200" y="2438400"/>
                        <a:ext cx="4876800" cy="8540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175" name="Picture 7">
            <a:extLst>
              <a:ext uri="{FF2B5EF4-FFF2-40B4-BE49-F238E27FC236}">
                <a16:creationId xmlns:a16="http://schemas.microsoft.com/office/drawing/2014/main" id="{32CF8B9B-B063-47EF-B643-099D56EB43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810000"/>
            <a:ext cx="4818063"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FC19A865-2BD6-4125-A07B-C4F9C7E9CB0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195" name="Slide Number Placeholder 4">
            <a:extLst>
              <a:ext uri="{FF2B5EF4-FFF2-40B4-BE49-F238E27FC236}">
                <a16:creationId xmlns:a16="http://schemas.microsoft.com/office/drawing/2014/main" id="{3F41EE63-5165-4FEF-B6D0-5A07149CDB6A}"/>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C6252EA-ECB4-4A6D-BF3D-791FF4247794}" type="slidenum">
              <a:rPr lang="en-US" altLang="en-US" sz="1600">
                <a:latin typeface="Times New Roman" panose="02020603050405020304" pitchFamily="18" charset="0"/>
              </a:rPr>
              <a:pPr eaLnBrk="1" hangingPunct="1">
                <a:spcBef>
                  <a:spcPct val="0"/>
                </a:spcBef>
                <a:buClrTx/>
                <a:buFontTx/>
                <a:buNone/>
              </a:pPr>
              <a:t>6</a:t>
            </a:fld>
            <a:endParaRPr lang="en-US" altLang="en-US" sz="1600">
              <a:latin typeface="Times New Roman" panose="02020603050405020304" pitchFamily="18" charset="0"/>
            </a:endParaRPr>
          </a:p>
        </p:txBody>
      </p:sp>
      <p:sp>
        <p:nvSpPr>
          <p:cNvPr id="84994" name="Rectangle 1026">
            <a:extLst>
              <a:ext uri="{FF2B5EF4-FFF2-40B4-BE49-F238E27FC236}">
                <a16:creationId xmlns:a16="http://schemas.microsoft.com/office/drawing/2014/main" id="{3B82C543-452C-4243-90D7-66453624A842}"/>
              </a:ext>
            </a:extLst>
          </p:cNvPr>
          <p:cNvSpPr>
            <a:spLocks noGrp="1" noChangeArrowheads="1"/>
          </p:cNvSpPr>
          <p:nvPr>
            <p:ph type="title"/>
          </p:nvPr>
        </p:nvSpPr>
        <p:spPr/>
        <p:txBody>
          <a:bodyPr/>
          <a:lstStyle/>
          <a:p>
            <a:pPr eaLnBrk="1" hangingPunct="1">
              <a:defRPr/>
            </a:pPr>
            <a:r>
              <a:rPr lang="en-US" altLang="en-US"/>
              <a:t>SHL Instruction</a:t>
            </a:r>
          </a:p>
        </p:txBody>
      </p:sp>
      <p:sp>
        <p:nvSpPr>
          <p:cNvPr id="8197" name="Rectangle 1027">
            <a:extLst>
              <a:ext uri="{FF2B5EF4-FFF2-40B4-BE49-F238E27FC236}">
                <a16:creationId xmlns:a16="http://schemas.microsoft.com/office/drawing/2014/main" id="{F6023D7C-B736-47C1-B787-A523680EBF7F}"/>
              </a:ext>
            </a:extLst>
          </p:cNvPr>
          <p:cNvSpPr>
            <a:spLocks noGrp="1" noChangeArrowheads="1"/>
          </p:cNvSpPr>
          <p:nvPr>
            <p:ph type="body" idx="1"/>
          </p:nvPr>
        </p:nvSpPr>
        <p:spPr>
          <a:xfrm>
            <a:off x="685800" y="1143000"/>
            <a:ext cx="7772400" cy="1447800"/>
          </a:xfrm>
        </p:spPr>
        <p:txBody>
          <a:bodyPr/>
          <a:lstStyle/>
          <a:p>
            <a:pPr eaLnBrk="1" hangingPunct="1"/>
            <a:r>
              <a:rPr lang="en-US" altLang="en-US"/>
              <a:t>The SHL (shift left) instruction performs a logical left shift on the destination operand, filling the lowest bit with 0.</a:t>
            </a:r>
          </a:p>
        </p:txBody>
      </p:sp>
      <p:sp>
        <p:nvSpPr>
          <p:cNvPr id="8198" name="Text Box 1030">
            <a:extLst>
              <a:ext uri="{FF2B5EF4-FFF2-40B4-BE49-F238E27FC236}">
                <a16:creationId xmlns:a16="http://schemas.microsoft.com/office/drawing/2014/main" id="{B4082964-733E-4BFE-B8CE-9304EE3BE9BD}"/>
              </a:ext>
            </a:extLst>
          </p:cNvPr>
          <p:cNvSpPr txBox="1">
            <a:spLocks noChangeArrowheads="1"/>
          </p:cNvSpPr>
          <p:nvPr/>
        </p:nvSpPr>
        <p:spPr bwMode="auto">
          <a:xfrm>
            <a:off x="762000" y="3657600"/>
            <a:ext cx="7620000"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marL="344488" indent="-344488"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pPr>
            <a:r>
              <a:rPr lang="en-US" altLang="en-US" sz="2500"/>
              <a:t>Operand types for SHL:</a:t>
            </a:r>
            <a:endParaRPr lang="en-US" altLang="en-US" sz="1800" b="1">
              <a:latin typeface="Courier New" panose="02070309020205020404" pitchFamily="49" charset="0"/>
            </a:endParaRPr>
          </a:p>
        </p:txBody>
      </p:sp>
      <p:sp>
        <p:nvSpPr>
          <p:cNvPr id="8199" name="Text Box 1031">
            <a:extLst>
              <a:ext uri="{FF2B5EF4-FFF2-40B4-BE49-F238E27FC236}">
                <a16:creationId xmlns:a16="http://schemas.microsoft.com/office/drawing/2014/main" id="{4B40FBFB-60CC-453D-8F2B-7D1963E19356}"/>
              </a:ext>
            </a:extLst>
          </p:cNvPr>
          <p:cNvSpPr txBox="1">
            <a:spLocks noChangeArrowheads="1"/>
          </p:cNvSpPr>
          <p:nvPr/>
        </p:nvSpPr>
        <p:spPr bwMode="auto">
          <a:xfrm>
            <a:off x="1981200" y="4343400"/>
            <a:ext cx="2362200" cy="1274763"/>
          </a:xfrm>
          <a:prstGeom prst="rect">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457200" algn="l"/>
                <a:tab pos="394493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94493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94493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94493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9449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9pPr>
          </a:lstStyle>
          <a:p>
            <a:pPr eaLnBrk="1" hangingPunct="1">
              <a:lnSpc>
                <a:spcPct val="30000"/>
              </a:lnSpc>
              <a:spcBef>
                <a:spcPct val="50000"/>
              </a:spcBef>
              <a:buClrTx/>
              <a:buFontTx/>
              <a:buNone/>
            </a:pPr>
            <a:r>
              <a:rPr lang="en-US" altLang="en-US" sz="1800" b="1">
                <a:solidFill>
                  <a:schemeClr val="bg2"/>
                </a:solidFill>
                <a:latin typeface="Courier New" panose="02070309020205020404" pitchFamily="49" charset="0"/>
              </a:rPr>
              <a:t>SHL </a:t>
            </a:r>
            <a:r>
              <a:rPr lang="en-US" altLang="en-US" sz="1800" b="1" i="1">
                <a:solidFill>
                  <a:schemeClr val="bg2"/>
                </a:solidFill>
                <a:latin typeface="Courier New" panose="02070309020205020404" pitchFamily="49" charset="0"/>
              </a:rPr>
              <a:t>reg,imm8</a:t>
            </a:r>
          </a:p>
          <a:p>
            <a:pPr eaLnBrk="1" hangingPunct="1">
              <a:lnSpc>
                <a:spcPct val="30000"/>
              </a:lnSpc>
              <a:spcBef>
                <a:spcPct val="50000"/>
              </a:spcBef>
              <a:buClrTx/>
              <a:buFontTx/>
              <a:buNone/>
            </a:pPr>
            <a:r>
              <a:rPr lang="en-US" altLang="en-US" sz="1800" b="1">
                <a:solidFill>
                  <a:schemeClr val="bg2"/>
                </a:solidFill>
                <a:latin typeface="Courier New" panose="02070309020205020404" pitchFamily="49" charset="0"/>
              </a:rPr>
              <a:t>		SHL </a:t>
            </a:r>
            <a:r>
              <a:rPr lang="en-US" altLang="en-US" sz="1800" b="1" i="1">
                <a:solidFill>
                  <a:schemeClr val="bg2"/>
                </a:solidFill>
                <a:latin typeface="Courier New" panose="02070309020205020404" pitchFamily="49" charset="0"/>
              </a:rPr>
              <a:t>mem,imm8</a:t>
            </a:r>
          </a:p>
          <a:p>
            <a:pPr eaLnBrk="1" hangingPunct="1">
              <a:lnSpc>
                <a:spcPct val="30000"/>
              </a:lnSpc>
              <a:spcBef>
                <a:spcPct val="50000"/>
              </a:spcBef>
              <a:buClrTx/>
              <a:buFontTx/>
              <a:buNone/>
            </a:pPr>
            <a:r>
              <a:rPr lang="en-US" altLang="en-US" sz="1800" b="1">
                <a:solidFill>
                  <a:schemeClr val="bg2"/>
                </a:solidFill>
                <a:latin typeface="Courier New" panose="02070309020205020404" pitchFamily="49" charset="0"/>
              </a:rPr>
              <a:t>		SHL </a:t>
            </a:r>
            <a:r>
              <a:rPr lang="en-US" altLang="en-US" sz="1800" b="1" i="1">
                <a:solidFill>
                  <a:schemeClr val="bg2"/>
                </a:solidFill>
                <a:latin typeface="Courier New" panose="02070309020205020404" pitchFamily="49" charset="0"/>
              </a:rPr>
              <a:t>reg</a:t>
            </a:r>
            <a:r>
              <a:rPr lang="en-US" altLang="en-US" sz="1800" b="1">
                <a:solidFill>
                  <a:schemeClr val="bg2"/>
                </a:solidFill>
                <a:latin typeface="Courier New" panose="02070309020205020404" pitchFamily="49" charset="0"/>
              </a:rPr>
              <a:t>,CL</a:t>
            </a:r>
          </a:p>
          <a:p>
            <a:pPr eaLnBrk="1" hangingPunct="1">
              <a:lnSpc>
                <a:spcPct val="30000"/>
              </a:lnSpc>
              <a:spcBef>
                <a:spcPct val="50000"/>
              </a:spcBef>
              <a:buClrTx/>
              <a:buFontTx/>
              <a:buNone/>
            </a:pPr>
            <a:r>
              <a:rPr lang="en-US" altLang="en-US" sz="1800" b="1">
                <a:solidFill>
                  <a:schemeClr val="bg2"/>
                </a:solidFill>
                <a:latin typeface="Courier New" panose="02070309020205020404" pitchFamily="49" charset="0"/>
              </a:rPr>
              <a:t>		SHL </a:t>
            </a:r>
            <a:r>
              <a:rPr lang="en-US" altLang="en-US" sz="1800" b="1" i="1">
                <a:solidFill>
                  <a:schemeClr val="bg2"/>
                </a:solidFill>
                <a:latin typeface="Courier New" panose="02070309020205020404" pitchFamily="49" charset="0"/>
              </a:rPr>
              <a:t>mem</a:t>
            </a:r>
            <a:r>
              <a:rPr lang="en-US" altLang="en-US" sz="1800" b="1">
                <a:solidFill>
                  <a:schemeClr val="bg2"/>
                </a:solidFill>
                <a:latin typeface="Courier New" panose="02070309020205020404" pitchFamily="49" charset="0"/>
              </a:rPr>
              <a:t>,CL</a:t>
            </a:r>
          </a:p>
        </p:txBody>
      </p:sp>
      <p:sp>
        <p:nvSpPr>
          <p:cNvPr id="8200" name="Text Box 1032">
            <a:extLst>
              <a:ext uri="{FF2B5EF4-FFF2-40B4-BE49-F238E27FC236}">
                <a16:creationId xmlns:a16="http://schemas.microsoft.com/office/drawing/2014/main" id="{D53CA47E-AE54-4B76-BA00-DF886065C6DF}"/>
              </a:ext>
            </a:extLst>
          </p:cNvPr>
          <p:cNvSpPr txBox="1">
            <a:spLocks noChangeArrowheads="1"/>
          </p:cNvSpPr>
          <p:nvPr/>
        </p:nvSpPr>
        <p:spPr bwMode="auto">
          <a:xfrm>
            <a:off x="5029200" y="4419600"/>
            <a:ext cx="29718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(Same for all shift and rotate instructions)</a:t>
            </a:r>
          </a:p>
        </p:txBody>
      </p:sp>
      <p:pic>
        <p:nvPicPr>
          <p:cNvPr id="8201" name="Picture 1033">
            <a:extLst>
              <a:ext uri="{FF2B5EF4-FFF2-40B4-BE49-F238E27FC236}">
                <a16:creationId xmlns:a16="http://schemas.microsoft.com/office/drawing/2014/main" id="{1766B079-6722-4C43-8AFA-4B669EAA1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209800"/>
            <a:ext cx="5275263"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a:extLst>
              <a:ext uri="{FF2B5EF4-FFF2-40B4-BE49-F238E27FC236}">
                <a16:creationId xmlns:a16="http://schemas.microsoft.com/office/drawing/2014/main" id="{33C4AF70-3EE2-46AB-8D59-9ECE7E2AFC0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9219" name="Slide Number Placeholder 3">
            <a:extLst>
              <a:ext uri="{FF2B5EF4-FFF2-40B4-BE49-F238E27FC236}">
                <a16:creationId xmlns:a16="http://schemas.microsoft.com/office/drawing/2014/main" id="{BB6CAB2A-8824-4DE6-8A7B-02534B38FB84}"/>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65C0F15B-4844-4F53-BA71-6A53113978B7}" type="slidenum">
              <a:rPr lang="en-US" altLang="en-US" sz="1600">
                <a:latin typeface="Times New Roman" panose="02020603050405020304" pitchFamily="18" charset="0"/>
              </a:rPr>
              <a:pPr eaLnBrk="1" hangingPunct="1">
                <a:spcBef>
                  <a:spcPct val="0"/>
                </a:spcBef>
                <a:buClrTx/>
                <a:buFontTx/>
                <a:buNone/>
              </a:pPr>
              <a:t>7</a:t>
            </a:fld>
            <a:endParaRPr lang="en-US" altLang="en-US" sz="1600">
              <a:latin typeface="Times New Roman" panose="02020603050405020304" pitchFamily="18" charset="0"/>
            </a:endParaRPr>
          </a:p>
        </p:txBody>
      </p:sp>
      <p:sp>
        <p:nvSpPr>
          <p:cNvPr id="76802" name="Rectangle 2">
            <a:extLst>
              <a:ext uri="{FF2B5EF4-FFF2-40B4-BE49-F238E27FC236}">
                <a16:creationId xmlns:a16="http://schemas.microsoft.com/office/drawing/2014/main" id="{5D120CEF-81BB-4868-9C61-95176B6F005A}"/>
              </a:ext>
            </a:extLst>
          </p:cNvPr>
          <p:cNvSpPr>
            <a:spLocks noGrp="1" noChangeArrowheads="1"/>
          </p:cNvSpPr>
          <p:nvPr>
            <p:ph type="title"/>
          </p:nvPr>
        </p:nvSpPr>
        <p:spPr/>
        <p:txBody>
          <a:bodyPr/>
          <a:lstStyle/>
          <a:p>
            <a:pPr eaLnBrk="1" hangingPunct="1">
              <a:defRPr/>
            </a:pPr>
            <a:r>
              <a:rPr lang="en-US" altLang="en-US"/>
              <a:t>Fast Multiplication</a:t>
            </a:r>
          </a:p>
        </p:txBody>
      </p:sp>
      <p:sp>
        <p:nvSpPr>
          <p:cNvPr id="9221" name="Text Box 3">
            <a:extLst>
              <a:ext uri="{FF2B5EF4-FFF2-40B4-BE49-F238E27FC236}">
                <a16:creationId xmlns:a16="http://schemas.microsoft.com/office/drawing/2014/main" id="{9050C7DE-9807-474B-9D54-62261AE974E6}"/>
              </a:ext>
            </a:extLst>
          </p:cNvPr>
          <p:cNvSpPr txBox="1">
            <a:spLocks noChangeArrowheads="1"/>
          </p:cNvSpPr>
          <p:nvPr/>
        </p:nvSpPr>
        <p:spPr bwMode="auto">
          <a:xfrm>
            <a:off x="1219200" y="2057400"/>
            <a:ext cx="1905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dl,5</a:t>
            </a:r>
          </a:p>
          <a:p>
            <a:pPr eaLnBrk="1" hangingPunct="1">
              <a:lnSpc>
                <a:spcPct val="50000"/>
              </a:lnSpc>
              <a:spcBef>
                <a:spcPct val="50000"/>
              </a:spcBef>
              <a:buClrTx/>
              <a:buFontTx/>
              <a:buNone/>
            </a:pPr>
            <a:r>
              <a:rPr lang="en-US" altLang="en-US" sz="1800" b="1">
                <a:latin typeface="Courier New" panose="02070309020205020404" pitchFamily="49" charset="0"/>
              </a:rPr>
              <a:t>shl dl,1</a:t>
            </a:r>
          </a:p>
        </p:txBody>
      </p:sp>
      <p:sp>
        <p:nvSpPr>
          <p:cNvPr id="9222" name="Text Box 4">
            <a:extLst>
              <a:ext uri="{FF2B5EF4-FFF2-40B4-BE49-F238E27FC236}">
                <a16:creationId xmlns:a16="http://schemas.microsoft.com/office/drawing/2014/main" id="{131E1924-3540-49C3-B530-BFF65384AC6E}"/>
              </a:ext>
            </a:extLst>
          </p:cNvPr>
          <p:cNvSpPr txBox="1">
            <a:spLocks noChangeArrowheads="1"/>
          </p:cNvSpPr>
          <p:nvPr/>
        </p:nvSpPr>
        <p:spPr bwMode="auto">
          <a:xfrm>
            <a:off x="685800" y="1066800"/>
            <a:ext cx="7696200"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a:t>Shifting left 1 bit multiplies a number by 2</a:t>
            </a:r>
          </a:p>
        </p:txBody>
      </p:sp>
      <p:graphicFrame>
        <p:nvGraphicFramePr>
          <p:cNvPr id="9223" name="Object 5">
            <a:extLst>
              <a:ext uri="{FF2B5EF4-FFF2-40B4-BE49-F238E27FC236}">
                <a16:creationId xmlns:a16="http://schemas.microsoft.com/office/drawing/2014/main" id="{28B0493D-B88F-4575-98B6-7D38369C3B82}"/>
              </a:ext>
            </a:extLst>
          </p:cNvPr>
          <p:cNvGraphicFramePr>
            <a:graphicFrameLocks noChangeAspect="1"/>
          </p:cNvGraphicFramePr>
          <p:nvPr/>
        </p:nvGraphicFramePr>
        <p:xfrm>
          <a:off x="3657600" y="1981200"/>
          <a:ext cx="3505200" cy="990600"/>
        </p:xfrm>
        <a:graphic>
          <a:graphicData uri="http://schemas.openxmlformats.org/presentationml/2006/ole">
            <mc:AlternateContent xmlns:mc="http://schemas.openxmlformats.org/markup-compatibility/2006">
              <mc:Choice xmlns:v="urn:schemas-microsoft-com:vml" Requires="v">
                <p:oleObj spid="_x0000_s21505" name="VISIO" r:id="rId3" imgW="2160479" imgH="419924" progId="Visio.Drawing.6">
                  <p:embed/>
                </p:oleObj>
              </mc:Choice>
              <mc:Fallback>
                <p:oleObj name="VISIO" r:id="rId3" imgW="2160479" imgH="419924"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14035" t="-9023" r="5263" b="-8270"/>
                      <a:stretch>
                        <a:fillRect/>
                      </a:stretch>
                    </p:blipFill>
                    <p:spPr bwMode="auto">
                      <a:xfrm>
                        <a:off x="3657600" y="1981200"/>
                        <a:ext cx="3505200" cy="990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810" name="Group 10">
            <a:extLst>
              <a:ext uri="{FF2B5EF4-FFF2-40B4-BE49-F238E27FC236}">
                <a16:creationId xmlns:a16="http://schemas.microsoft.com/office/drawing/2014/main" id="{34271979-9D82-42AA-B87E-7E440ED1C558}"/>
              </a:ext>
            </a:extLst>
          </p:cNvPr>
          <p:cNvGrpSpPr>
            <a:grpSpLocks/>
          </p:cNvGrpSpPr>
          <p:nvPr/>
        </p:nvGrpSpPr>
        <p:grpSpPr bwMode="auto">
          <a:xfrm>
            <a:off x="609600" y="3429000"/>
            <a:ext cx="7696200" cy="2057400"/>
            <a:chOff x="384" y="2160"/>
            <a:chExt cx="4848" cy="1296"/>
          </a:xfrm>
        </p:grpSpPr>
        <p:sp>
          <p:nvSpPr>
            <p:cNvPr id="9225" name="Text Box 6">
              <a:extLst>
                <a:ext uri="{FF2B5EF4-FFF2-40B4-BE49-F238E27FC236}">
                  <a16:creationId xmlns:a16="http://schemas.microsoft.com/office/drawing/2014/main" id="{161440FA-44A0-4353-967B-6BDD83326957}"/>
                </a:ext>
              </a:extLst>
            </p:cNvPr>
            <p:cNvSpPr txBox="1">
              <a:spLocks noChangeArrowheads="1"/>
            </p:cNvSpPr>
            <p:nvPr/>
          </p:nvSpPr>
          <p:spPr bwMode="auto">
            <a:xfrm>
              <a:off x="576" y="2928"/>
              <a:ext cx="379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dl,5</a:t>
              </a:r>
            </a:p>
            <a:p>
              <a:pPr eaLnBrk="1" hangingPunct="1">
                <a:lnSpc>
                  <a:spcPct val="50000"/>
                </a:lnSpc>
                <a:spcBef>
                  <a:spcPct val="50000"/>
                </a:spcBef>
                <a:buClrTx/>
                <a:buFontTx/>
                <a:buNone/>
              </a:pPr>
              <a:r>
                <a:rPr lang="en-US" altLang="en-US" sz="1800" b="1">
                  <a:latin typeface="Courier New" panose="02070309020205020404" pitchFamily="49" charset="0"/>
                </a:rPr>
                <a:t>shl dl,2	; DL = 20</a:t>
              </a:r>
            </a:p>
          </p:txBody>
        </p:sp>
        <p:sp>
          <p:nvSpPr>
            <p:cNvPr id="9226" name="Text Box 7">
              <a:extLst>
                <a:ext uri="{FF2B5EF4-FFF2-40B4-BE49-F238E27FC236}">
                  <a16:creationId xmlns:a16="http://schemas.microsoft.com/office/drawing/2014/main" id="{48136ECC-C1EC-48EE-BB6C-432A9FBB469C}"/>
                </a:ext>
              </a:extLst>
            </p:cNvPr>
            <p:cNvSpPr txBox="1">
              <a:spLocks noChangeArrowheads="1"/>
            </p:cNvSpPr>
            <p:nvPr/>
          </p:nvSpPr>
          <p:spPr bwMode="auto">
            <a:xfrm>
              <a:off x="384" y="2160"/>
              <a:ext cx="4848" cy="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a:t>Shifting left </a:t>
              </a:r>
              <a:r>
                <a:rPr lang="en-US" altLang="en-US" sz="2500" i="1"/>
                <a:t>n</a:t>
              </a:r>
              <a:r>
                <a:rPr lang="en-US" altLang="en-US" sz="2500"/>
                <a:t> bits multiplies the operand by 2</a:t>
              </a:r>
              <a:r>
                <a:rPr lang="en-US" altLang="en-US" sz="2500" i="1" baseline="30000"/>
                <a:t>n</a:t>
              </a:r>
            </a:p>
            <a:p>
              <a:pPr eaLnBrk="1" hangingPunct="1">
                <a:spcBef>
                  <a:spcPct val="50000"/>
                </a:spcBef>
                <a:buClrTx/>
                <a:buFontTx/>
                <a:buNone/>
              </a:pPr>
              <a:r>
                <a:rPr lang="en-US" altLang="en-US" sz="2500"/>
                <a:t>For example, 5 * 2</a:t>
              </a:r>
              <a:r>
                <a:rPr lang="en-US" altLang="en-US" sz="2500" baseline="30000"/>
                <a:t>2</a:t>
              </a:r>
              <a:r>
                <a:rPr lang="en-US" altLang="en-US" sz="2500"/>
                <a:t> = 20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6810"/>
                                        </p:tgtEl>
                                        <p:attrNameLst>
                                          <p:attrName>style.visibility</p:attrName>
                                        </p:attrNameLst>
                                      </p:cBhvr>
                                      <p:to>
                                        <p:strVal val="visible"/>
                                      </p:to>
                                    </p:set>
                                    <p:animEffect transition="in" filter="box(in)">
                                      <p:cBhvr>
                                        <p:cTn id="7" dur="500"/>
                                        <p:tgtEl>
                                          <p:spTgt spid="76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3B95C5C6-6463-4FFB-979B-8B9B68884D32}"/>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0243" name="Slide Number Placeholder 4">
            <a:extLst>
              <a:ext uri="{FF2B5EF4-FFF2-40B4-BE49-F238E27FC236}">
                <a16:creationId xmlns:a16="http://schemas.microsoft.com/office/drawing/2014/main" id="{CBE3219C-BC40-4D56-BD45-78695C711E8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B5BEE1C0-1FD6-451D-ACE7-FDBE73AA7B80}" type="slidenum">
              <a:rPr lang="en-US" altLang="en-US" sz="1600">
                <a:latin typeface="Times New Roman" panose="02020603050405020304" pitchFamily="18" charset="0"/>
              </a:rPr>
              <a:pPr eaLnBrk="1" hangingPunct="1">
                <a:spcBef>
                  <a:spcPct val="0"/>
                </a:spcBef>
                <a:buClrTx/>
                <a:buFontTx/>
                <a:buNone/>
              </a:pPr>
              <a:t>8</a:t>
            </a:fld>
            <a:endParaRPr lang="en-US" altLang="en-US" sz="1600">
              <a:latin typeface="Times New Roman" panose="02020603050405020304" pitchFamily="18" charset="0"/>
            </a:endParaRPr>
          </a:p>
        </p:txBody>
      </p:sp>
      <p:sp>
        <p:nvSpPr>
          <p:cNvPr id="86018" name="Rectangle 2">
            <a:extLst>
              <a:ext uri="{FF2B5EF4-FFF2-40B4-BE49-F238E27FC236}">
                <a16:creationId xmlns:a16="http://schemas.microsoft.com/office/drawing/2014/main" id="{011B9977-7713-48C2-A527-3905DEAA4AD3}"/>
              </a:ext>
            </a:extLst>
          </p:cNvPr>
          <p:cNvSpPr>
            <a:spLocks noGrp="1" noChangeArrowheads="1"/>
          </p:cNvSpPr>
          <p:nvPr>
            <p:ph type="title"/>
          </p:nvPr>
        </p:nvSpPr>
        <p:spPr/>
        <p:txBody>
          <a:bodyPr/>
          <a:lstStyle/>
          <a:p>
            <a:pPr eaLnBrk="1" hangingPunct="1">
              <a:defRPr/>
            </a:pPr>
            <a:r>
              <a:rPr lang="en-US" altLang="en-US"/>
              <a:t>SHR Instruction</a:t>
            </a:r>
          </a:p>
        </p:txBody>
      </p:sp>
      <p:sp>
        <p:nvSpPr>
          <p:cNvPr id="10245" name="Rectangle 3">
            <a:extLst>
              <a:ext uri="{FF2B5EF4-FFF2-40B4-BE49-F238E27FC236}">
                <a16:creationId xmlns:a16="http://schemas.microsoft.com/office/drawing/2014/main" id="{128A9989-7B89-454A-9810-62E7EF208A61}"/>
              </a:ext>
            </a:extLst>
          </p:cNvPr>
          <p:cNvSpPr>
            <a:spLocks noGrp="1" noChangeArrowheads="1"/>
          </p:cNvSpPr>
          <p:nvPr>
            <p:ph type="body" idx="1"/>
          </p:nvPr>
        </p:nvSpPr>
        <p:spPr>
          <a:xfrm>
            <a:off x="685800" y="1143000"/>
            <a:ext cx="7772400" cy="1371600"/>
          </a:xfrm>
        </p:spPr>
        <p:txBody>
          <a:bodyPr/>
          <a:lstStyle/>
          <a:p>
            <a:pPr eaLnBrk="1" hangingPunct="1"/>
            <a:r>
              <a:rPr lang="en-US" altLang="en-US"/>
              <a:t>The SHR (shift right) instruction performs a logical right shift on the destination operand. The highest bit position is filled with a zero.</a:t>
            </a:r>
          </a:p>
        </p:txBody>
      </p:sp>
      <p:graphicFrame>
        <p:nvGraphicFramePr>
          <p:cNvPr id="10246" name="Object 4">
            <a:extLst>
              <a:ext uri="{FF2B5EF4-FFF2-40B4-BE49-F238E27FC236}">
                <a16:creationId xmlns:a16="http://schemas.microsoft.com/office/drawing/2014/main" id="{17C3D33B-68C8-41FF-AE7E-E0CB430923BB}"/>
              </a:ext>
            </a:extLst>
          </p:cNvPr>
          <p:cNvGraphicFramePr>
            <a:graphicFrameLocks noChangeAspect="1"/>
          </p:cNvGraphicFramePr>
          <p:nvPr/>
        </p:nvGraphicFramePr>
        <p:xfrm>
          <a:off x="1447800" y="2590800"/>
          <a:ext cx="6248400" cy="984250"/>
        </p:xfrm>
        <a:graphic>
          <a:graphicData uri="http://schemas.openxmlformats.org/presentationml/2006/ole">
            <mc:AlternateContent xmlns:mc="http://schemas.openxmlformats.org/markup-compatibility/2006">
              <mc:Choice xmlns:v="urn:schemas-microsoft-com:vml" Requires="v">
                <p:oleObj spid="_x0000_s22529" name="VISIO" r:id="rId3" imgW="3736848" imgH="502920" progId="Visio.Drawing.6">
                  <p:embed/>
                </p:oleObj>
              </mc:Choice>
              <mc:Fallback>
                <p:oleObj name="VISIO" r:id="rId3" imgW="3736848" imgH="50292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t="-18321" r="-1234"/>
                      <a:stretch>
                        <a:fillRect/>
                      </a:stretch>
                    </p:blipFill>
                    <p:spPr bwMode="auto">
                      <a:xfrm>
                        <a:off x="1447800" y="2590800"/>
                        <a:ext cx="6248400" cy="9842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6023" name="Group 7">
            <a:extLst>
              <a:ext uri="{FF2B5EF4-FFF2-40B4-BE49-F238E27FC236}">
                <a16:creationId xmlns:a16="http://schemas.microsoft.com/office/drawing/2014/main" id="{8C3C3736-5DC1-4392-BCD6-8C8DEA447671}"/>
              </a:ext>
            </a:extLst>
          </p:cNvPr>
          <p:cNvGrpSpPr>
            <a:grpSpLocks/>
          </p:cNvGrpSpPr>
          <p:nvPr/>
        </p:nvGrpSpPr>
        <p:grpSpPr bwMode="auto">
          <a:xfrm>
            <a:off x="685800" y="3810000"/>
            <a:ext cx="7696200" cy="1828800"/>
            <a:chOff x="432" y="2400"/>
            <a:chExt cx="4848" cy="1152"/>
          </a:xfrm>
        </p:grpSpPr>
        <p:sp>
          <p:nvSpPr>
            <p:cNvPr id="10248" name="Text Box 5">
              <a:extLst>
                <a:ext uri="{FF2B5EF4-FFF2-40B4-BE49-F238E27FC236}">
                  <a16:creationId xmlns:a16="http://schemas.microsoft.com/office/drawing/2014/main" id="{3223035C-6B1C-497B-8AB2-A641C9A945C3}"/>
                </a:ext>
              </a:extLst>
            </p:cNvPr>
            <p:cNvSpPr txBox="1">
              <a:spLocks noChangeArrowheads="1"/>
            </p:cNvSpPr>
            <p:nvPr/>
          </p:nvSpPr>
          <p:spPr bwMode="auto">
            <a:xfrm>
              <a:off x="912" y="2832"/>
              <a:ext cx="3456"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dl,80</a:t>
              </a:r>
            </a:p>
            <a:p>
              <a:pPr eaLnBrk="1" hangingPunct="1">
                <a:lnSpc>
                  <a:spcPct val="50000"/>
                </a:lnSpc>
                <a:spcBef>
                  <a:spcPct val="50000"/>
                </a:spcBef>
                <a:buClrTx/>
                <a:buFontTx/>
                <a:buNone/>
              </a:pPr>
              <a:r>
                <a:rPr lang="en-US" altLang="en-US" sz="1800" b="1">
                  <a:latin typeface="Courier New" panose="02070309020205020404" pitchFamily="49" charset="0"/>
                </a:rPr>
                <a:t>shr dl,1	; DL = 40</a:t>
              </a:r>
            </a:p>
            <a:p>
              <a:pPr eaLnBrk="1" hangingPunct="1">
                <a:lnSpc>
                  <a:spcPct val="50000"/>
                </a:lnSpc>
                <a:spcBef>
                  <a:spcPct val="50000"/>
                </a:spcBef>
                <a:buClrTx/>
                <a:buFontTx/>
                <a:buNone/>
              </a:pPr>
              <a:r>
                <a:rPr lang="en-US" altLang="en-US" sz="1800" b="1">
                  <a:latin typeface="Courier New" panose="02070309020205020404" pitchFamily="49" charset="0"/>
                </a:rPr>
                <a:t>shr dl,2	; DL = 10</a:t>
              </a:r>
            </a:p>
          </p:txBody>
        </p:sp>
        <p:sp>
          <p:nvSpPr>
            <p:cNvPr id="10249" name="Text Box 6">
              <a:extLst>
                <a:ext uri="{FF2B5EF4-FFF2-40B4-BE49-F238E27FC236}">
                  <a16:creationId xmlns:a16="http://schemas.microsoft.com/office/drawing/2014/main" id="{27DE7FCB-F45D-4841-9475-6565C96967A2}"/>
                </a:ext>
              </a:extLst>
            </p:cNvPr>
            <p:cNvSpPr txBox="1">
              <a:spLocks noChangeArrowheads="1"/>
            </p:cNvSpPr>
            <p:nvPr/>
          </p:nvSpPr>
          <p:spPr bwMode="auto">
            <a:xfrm>
              <a:off x="432" y="2400"/>
              <a:ext cx="4848"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a:t>Shifting right </a:t>
              </a:r>
              <a:r>
                <a:rPr lang="en-US" altLang="en-US" sz="2500" i="1"/>
                <a:t>n</a:t>
              </a:r>
              <a:r>
                <a:rPr lang="en-US" altLang="en-US" sz="2500"/>
                <a:t> bits divides the operand by 2</a:t>
              </a:r>
              <a:r>
                <a:rPr lang="en-US" altLang="en-US" sz="2500" i="1" baseline="30000"/>
                <a:t>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6023"/>
                                        </p:tgtEl>
                                        <p:attrNameLst>
                                          <p:attrName>style.visibility</p:attrName>
                                        </p:attrNameLst>
                                      </p:cBhvr>
                                      <p:to>
                                        <p:strVal val="visible"/>
                                      </p:to>
                                    </p:set>
                                    <p:animEffect transition="in" filter="box(in)">
                                      <p:cBhvr>
                                        <p:cTn id="7" dur="500"/>
                                        <p:tgtEl>
                                          <p:spTgt spid="86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78EA5168-B976-4503-8DB2-A8B12CD2CB9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1267" name="Slide Number Placeholder 4">
            <a:extLst>
              <a:ext uri="{FF2B5EF4-FFF2-40B4-BE49-F238E27FC236}">
                <a16:creationId xmlns:a16="http://schemas.microsoft.com/office/drawing/2014/main" id="{96267B98-50C1-4C4F-B9A6-847E2DBE895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9869333-9C70-4261-8676-9C88B7D6FDFF}" type="slidenum">
              <a:rPr lang="en-US" altLang="en-US" sz="1600">
                <a:latin typeface="Times New Roman" panose="02020603050405020304" pitchFamily="18" charset="0"/>
              </a:rPr>
              <a:pPr eaLnBrk="1" hangingPunct="1">
                <a:spcBef>
                  <a:spcPct val="0"/>
                </a:spcBef>
                <a:buClrTx/>
                <a:buFontTx/>
                <a:buNone/>
              </a:pPr>
              <a:t>9</a:t>
            </a:fld>
            <a:endParaRPr lang="en-US" altLang="en-US" sz="1600">
              <a:latin typeface="Times New Roman" panose="02020603050405020304" pitchFamily="18" charset="0"/>
            </a:endParaRPr>
          </a:p>
        </p:txBody>
      </p:sp>
      <p:sp>
        <p:nvSpPr>
          <p:cNvPr id="87042" name="Rectangle 2">
            <a:extLst>
              <a:ext uri="{FF2B5EF4-FFF2-40B4-BE49-F238E27FC236}">
                <a16:creationId xmlns:a16="http://schemas.microsoft.com/office/drawing/2014/main" id="{7A71A080-DE46-4DDC-B474-492BF49AF9D2}"/>
              </a:ext>
            </a:extLst>
          </p:cNvPr>
          <p:cNvSpPr>
            <a:spLocks noGrp="1" noChangeArrowheads="1"/>
          </p:cNvSpPr>
          <p:nvPr>
            <p:ph type="title"/>
          </p:nvPr>
        </p:nvSpPr>
        <p:spPr/>
        <p:txBody>
          <a:bodyPr/>
          <a:lstStyle/>
          <a:p>
            <a:pPr eaLnBrk="1" hangingPunct="1">
              <a:defRPr/>
            </a:pPr>
            <a:r>
              <a:rPr lang="en-US" altLang="en-US"/>
              <a:t>SAL and SAR Instructions</a:t>
            </a:r>
          </a:p>
        </p:txBody>
      </p:sp>
      <p:sp>
        <p:nvSpPr>
          <p:cNvPr id="11269" name="Rectangle 3">
            <a:extLst>
              <a:ext uri="{FF2B5EF4-FFF2-40B4-BE49-F238E27FC236}">
                <a16:creationId xmlns:a16="http://schemas.microsoft.com/office/drawing/2014/main" id="{A5D90E78-E1B6-4DF4-8986-13F220F55E86}"/>
              </a:ext>
            </a:extLst>
          </p:cNvPr>
          <p:cNvSpPr>
            <a:spLocks noGrp="1" noChangeArrowheads="1"/>
          </p:cNvSpPr>
          <p:nvPr>
            <p:ph type="body" idx="1"/>
          </p:nvPr>
        </p:nvSpPr>
        <p:spPr>
          <a:xfrm>
            <a:off x="685800" y="1143000"/>
            <a:ext cx="7772400" cy="1524000"/>
          </a:xfrm>
        </p:spPr>
        <p:txBody>
          <a:bodyPr/>
          <a:lstStyle/>
          <a:p>
            <a:pPr eaLnBrk="1" hangingPunct="1"/>
            <a:r>
              <a:rPr lang="en-US" altLang="en-US"/>
              <a:t>SAL (shift arithmetic left) is identical to SHL.</a:t>
            </a:r>
          </a:p>
          <a:p>
            <a:pPr eaLnBrk="1" hangingPunct="1"/>
            <a:r>
              <a:rPr lang="en-US" altLang="en-US"/>
              <a:t>SAR (shift arithmetic right) performs a right arithmetic shift on the destination operand.</a:t>
            </a:r>
          </a:p>
        </p:txBody>
      </p:sp>
      <p:graphicFrame>
        <p:nvGraphicFramePr>
          <p:cNvPr id="11270" name="Object 4">
            <a:extLst>
              <a:ext uri="{FF2B5EF4-FFF2-40B4-BE49-F238E27FC236}">
                <a16:creationId xmlns:a16="http://schemas.microsoft.com/office/drawing/2014/main" id="{DADE50F7-0622-4355-85F1-1C01B4329610}"/>
              </a:ext>
            </a:extLst>
          </p:cNvPr>
          <p:cNvGraphicFramePr>
            <a:graphicFrameLocks noChangeAspect="1"/>
          </p:cNvGraphicFramePr>
          <p:nvPr/>
        </p:nvGraphicFramePr>
        <p:xfrm>
          <a:off x="1752600" y="2667000"/>
          <a:ext cx="5943600" cy="1016000"/>
        </p:xfrm>
        <a:graphic>
          <a:graphicData uri="http://schemas.openxmlformats.org/presentationml/2006/ole">
            <mc:AlternateContent xmlns:mc="http://schemas.openxmlformats.org/markup-compatibility/2006">
              <mc:Choice xmlns:v="urn:schemas-microsoft-com:vml" Requires="v">
                <p:oleObj spid="_x0000_s23553" name="VISIO" r:id="rId3" imgW="3838956" imgH="542544" progId="Visio.Drawing.6">
                  <p:embed/>
                </p:oleObj>
              </mc:Choice>
              <mc:Fallback>
                <p:oleObj name="VISIO" r:id="rId3" imgW="3838956" imgH="542544"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3751" t="-17647" r="-1250"/>
                      <a:stretch>
                        <a:fillRect/>
                      </a:stretch>
                    </p:blipFill>
                    <p:spPr bwMode="auto">
                      <a:xfrm>
                        <a:off x="1752600" y="2667000"/>
                        <a:ext cx="5943600" cy="101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7048" name="Group 8">
            <a:extLst>
              <a:ext uri="{FF2B5EF4-FFF2-40B4-BE49-F238E27FC236}">
                <a16:creationId xmlns:a16="http://schemas.microsoft.com/office/drawing/2014/main" id="{89BD70CA-EEE2-42C3-B068-A583C5B1EE81}"/>
              </a:ext>
            </a:extLst>
          </p:cNvPr>
          <p:cNvGrpSpPr>
            <a:grpSpLocks/>
          </p:cNvGrpSpPr>
          <p:nvPr/>
        </p:nvGrpSpPr>
        <p:grpSpPr bwMode="auto">
          <a:xfrm>
            <a:off x="914400" y="3886200"/>
            <a:ext cx="7162800" cy="1828800"/>
            <a:chOff x="576" y="2448"/>
            <a:chExt cx="4512" cy="1152"/>
          </a:xfrm>
        </p:grpSpPr>
        <p:sp>
          <p:nvSpPr>
            <p:cNvPr id="11272" name="Text Box 5">
              <a:extLst>
                <a:ext uri="{FF2B5EF4-FFF2-40B4-BE49-F238E27FC236}">
                  <a16:creationId xmlns:a16="http://schemas.microsoft.com/office/drawing/2014/main" id="{42E7A5CD-5113-4715-8CE1-35A115B19F62}"/>
                </a:ext>
              </a:extLst>
            </p:cNvPr>
            <p:cNvSpPr txBox="1">
              <a:spLocks noChangeArrowheads="1"/>
            </p:cNvSpPr>
            <p:nvPr/>
          </p:nvSpPr>
          <p:spPr bwMode="auto">
            <a:xfrm>
              <a:off x="576" y="2448"/>
              <a:ext cx="4512"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a:t>An arithmetic shift preserves the number's sign.</a:t>
              </a:r>
            </a:p>
          </p:txBody>
        </p:sp>
        <p:sp>
          <p:nvSpPr>
            <p:cNvPr id="11273" name="Text Box 6">
              <a:extLst>
                <a:ext uri="{FF2B5EF4-FFF2-40B4-BE49-F238E27FC236}">
                  <a16:creationId xmlns:a16="http://schemas.microsoft.com/office/drawing/2014/main" id="{979D4850-BE25-4DDE-98DF-D99F909D5B20}"/>
                </a:ext>
              </a:extLst>
            </p:cNvPr>
            <p:cNvSpPr txBox="1">
              <a:spLocks noChangeArrowheads="1"/>
            </p:cNvSpPr>
            <p:nvPr/>
          </p:nvSpPr>
          <p:spPr bwMode="auto">
            <a:xfrm>
              <a:off x="960" y="2928"/>
              <a:ext cx="345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dl,-80</a:t>
              </a:r>
            </a:p>
            <a:p>
              <a:pPr eaLnBrk="1" hangingPunct="1">
                <a:lnSpc>
                  <a:spcPct val="50000"/>
                </a:lnSpc>
                <a:spcBef>
                  <a:spcPct val="50000"/>
                </a:spcBef>
                <a:buClrTx/>
                <a:buFontTx/>
                <a:buNone/>
              </a:pPr>
              <a:r>
                <a:rPr lang="en-US" altLang="en-US" sz="1800" b="1">
                  <a:latin typeface="Courier New" panose="02070309020205020404" pitchFamily="49" charset="0"/>
                </a:rPr>
                <a:t>sar dl,1	; DL = -40</a:t>
              </a:r>
            </a:p>
            <a:p>
              <a:pPr eaLnBrk="1" hangingPunct="1">
                <a:lnSpc>
                  <a:spcPct val="50000"/>
                </a:lnSpc>
                <a:spcBef>
                  <a:spcPct val="50000"/>
                </a:spcBef>
                <a:buClrTx/>
                <a:buFontTx/>
                <a:buNone/>
              </a:pPr>
              <a:r>
                <a:rPr lang="en-US" altLang="en-US" sz="1800" b="1">
                  <a:latin typeface="Courier New" panose="02070309020205020404" pitchFamily="49" charset="0"/>
                </a:rPr>
                <a:t>sar dl,2	; DL = -10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7048"/>
                                        </p:tgtEl>
                                        <p:attrNameLst>
                                          <p:attrName>style.visibility</p:attrName>
                                        </p:attrNameLst>
                                      </p:cBhvr>
                                      <p:to>
                                        <p:strVal val="visible"/>
                                      </p:to>
                                    </p:set>
                                    <p:animEffect transition="in" filter="box(in)">
                                      <p:cBhvr>
                                        <p:cTn id="7" dur="500"/>
                                        <p:tgtEl>
                                          <p:spTgt spid="87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A0DA2BC7-159E-4259-A396-455ADA36C1D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3315" name="Slide Number Placeholder 4">
            <a:extLst>
              <a:ext uri="{FF2B5EF4-FFF2-40B4-BE49-F238E27FC236}">
                <a16:creationId xmlns:a16="http://schemas.microsoft.com/office/drawing/2014/main" id="{BFEC61BB-43DF-48B0-BB27-DAAD89203A5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1341C56-A454-4811-B148-EDEC035B92B9}" type="slidenum">
              <a:rPr lang="en-US" altLang="en-US" sz="1600">
                <a:latin typeface="Times New Roman" panose="02020603050405020304" pitchFamily="18" charset="0"/>
              </a:rPr>
              <a:pPr eaLnBrk="1" hangingPunct="1">
                <a:spcBef>
                  <a:spcPct val="0"/>
                </a:spcBef>
                <a:buClrTx/>
                <a:buFontTx/>
                <a:buNone/>
              </a:pPr>
              <a:t>10</a:t>
            </a:fld>
            <a:endParaRPr lang="en-US" altLang="en-US" sz="1600">
              <a:latin typeface="Times New Roman" panose="02020603050405020304" pitchFamily="18" charset="0"/>
            </a:endParaRPr>
          </a:p>
        </p:txBody>
      </p:sp>
      <p:sp>
        <p:nvSpPr>
          <p:cNvPr id="88066" name="Rectangle 2">
            <a:extLst>
              <a:ext uri="{FF2B5EF4-FFF2-40B4-BE49-F238E27FC236}">
                <a16:creationId xmlns:a16="http://schemas.microsoft.com/office/drawing/2014/main" id="{D672D851-335E-4048-8F61-62F2E3D157CC}"/>
              </a:ext>
            </a:extLst>
          </p:cNvPr>
          <p:cNvSpPr>
            <a:spLocks noGrp="1" noChangeArrowheads="1"/>
          </p:cNvSpPr>
          <p:nvPr>
            <p:ph type="title"/>
          </p:nvPr>
        </p:nvSpPr>
        <p:spPr/>
        <p:txBody>
          <a:bodyPr/>
          <a:lstStyle/>
          <a:p>
            <a:pPr eaLnBrk="1" hangingPunct="1">
              <a:defRPr/>
            </a:pPr>
            <a:r>
              <a:rPr lang="en-US" altLang="en-US"/>
              <a:t>ROL Instruction</a:t>
            </a:r>
          </a:p>
        </p:txBody>
      </p:sp>
      <p:sp>
        <p:nvSpPr>
          <p:cNvPr id="13317" name="Rectangle 3">
            <a:extLst>
              <a:ext uri="{FF2B5EF4-FFF2-40B4-BE49-F238E27FC236}">
                <a16:creationId xmlns:a16="http://schemas.microsoft.com/office/drawing/2014/main" id="{77CEE229-6DCA-48E9-9AF4-82851AE1327C}"/>
              </a:ext>
            </a:extLst>
          </p:cNvPr>
          <p:cNvSpPr>
            <a:spLocks noGrp="1" noChangeArrowheads="1"/>
          </p:cNvSpPr>
          <p:nvPr>
            <p:ph type="body" idx="1"/>
          </p:nvPr>
        </p:nvSpPr>
        <p:spPr>
          <a:xfrm>
            <a:off x="685800" y="1143000"/>
            <a:ext cx="7391400" cy="1676400"/>
          </a:xfrm>
        </p:spPr>
        <p:txBody>
          <a:bodyPr/>
          <a:lstStyle/>
          <a:p>
            <a:pPr eaLnBrk="1" hangingPunct="1">
              <a:lnSpc>
                <a:spcPct val="90000"/>
              </a:lnSpc>
            </a:pPr>
            <a:r>
              <a:rPr lang="en-US" altLang="en-US"/>
              <a:t>ROL (rotate) shifts each bit to the left</a:t>
            </a:r>
          </a:p>
          <a:p>
            <a:pPr eaLnBrk="1" hangingPunct="1">
              <a:lnSpc>
                <a:spcPct val="90000"/>
              </a:lnSpc>
            </a:pPr>
            <a:r>
              <a:rPr lang="en-US" altLang="en-US"/>
              <a:t>The highest bit is copied into both the Carry flag and into the lowest bit</a:t>
            </a:r>
          </a:p>
          <a:p>
            <a:pPr eaLnBrk="1" hangingPunct="1">
              <a:lnSpc>
                <a:spcPct val="90000"/>
              </a:lnSpc>
            </a:pPr>
            <a:r>
              <a:rPr lang="en-US" altLang="en-US"/>
              <a:t>No bits are lost</a:t>
            </a:r>
          </a:p>
        </p:txBody>
      </p:sp>
      <p:graphicFrame>
        <p:nvGraphicFramePr>
          <p:cNvPr id="13318" name="Object 4">
            <a:extLst>
              <a:ext uri="{FF2B5EF4-FFF2-40B4-BE49-F238E27FC236}">
                <a16:creationId xmlns:a16="http://schemas.microsoft.com/office/drawing/2014/main" id="{416EC72E-910B-4A47-B22D-83F0BB374421}"/>
              </a:ext>
            </a:extLst>
          </p:cNvPr>
          <p:cNvGraphicFramePr>
            <a:graphicFrameLocks noChangeAspect="1"/>
          </p:cNvGraphicFramePr>
          <p:nvPr/>
        </p:nvGraphicFramePr>
        <p:xfrm>
          <a:off x="1371600" y="2971800"/>
          <a:ext cx="5943600" cy="1054100"/>
        </p:xfrm>
        <a:graphic>
          <a:graphicData uri="http://schemas.openxmlformats.org/presentationml/2006/ole">
            <mc:AlternateContent xmlns:mc="http://schemas.openxmlformats.org/markup-compatibility/2006">
              <mc:Choice xmlns:v="urn:schemas-microsoft-com:vml" Requires="v">
                <p:oleObj spid="_x0000_s24577" name="VISIO" r:id="rId3" imgW="3538728" imgH="542544" progId="Visio.Drawing.6">
                  <p:embed/>
                </p:oleObj>
              </mc:Choice>
              <mc:Fallback>
                <p:oleObj name="VISIO" r:id="rId3" imgW="3538728" imgH="542544"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1299" t="-16902"/>
                      <a:stretch>
                        <a:fillRect/>
                      </a:stretch>
                    </p:blipFill>
                    <p:spPr bwMode="auto">
                      <a:xfrm>
                        <a:off x="1371600" y="2971800"/>
                        <a:ext cx="5943600" cy="10541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2" name="Text Box 8">
            <a:extLst>
              <a:ext uri="{FF2B5EF4-FFF2-40B4-BE49-F238E27FC236}">
                <a16:creationId xmlns:a16="http://schemas.microsoft.com/office/drawing/2014/main" id="{C4E55BDE-4870-4A42-BE8B-39A9ED563BCA}"/>
              </a:ext>
            </a:extLst>
          </p:cNvPr>
          <p:cNvSpPr txBox="1">
            <a:spLocks noChangeArrowheads="1"/>
          </p:cNvSpPr>
          <p:nvPr/>
        </p:nvSpPr>
        <p:spPr bwMode="auto">
          <a:xfrm>
            <a:off x="1066800" y="4343400"/>
            <a:ext cx="6324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al,11110000b</a:t>
            </a:r>
          </a:p>
          <a:p>
            <a:pPr eaLnBrk="1" hangingPunct="1">
              <a:lnSpc>
                <a:spcPct val="50000"/>
              </a:lnSpc>
              <a:spcBef>
                <a:spcPct val="50000"/>
              </a:spcBef>
              <a:buClrTx/>
              <a:buFontTx/>
              <a:buNone/>
            </a:pPr>
            <a:r>
              <a:rPr lang="en-US" altLang="en-US" sz="1800" b="1">
                <a:latin typeface="Courier New" panose="02070309020205020404" pitchFamily="49" charset="0"/>
              </a:rPr>
              <a:t>rol al,1	; AL = 11100001b</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mov dl,3Fh</a:t>
            </a:r>
          </a:p>
          <a:p>
            <a:pPr eaLnBrk="1" hangingPunct="1">
              <a:lnSpc>
                <a:spcPct val="50000"/>
              </a:lnSpc>
              <a:spcBef>
                <a:spcPct val="50000"/>
              </a:spcBef>
              <a:buClrTx/>
              <a:buFontTx/>
              <a:buNone/>
            </a:pPr>
            <a:r>
              <a:rPr lang="en-US" altLang="en-US" sz="1800" b="1">
                <a:latin typeface="Courier New" panose="02070309020205020404" pitchFamily="49" charset="0"/>
              </a:rPr>
              <a:t>rol dl,4	; DL = F3h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8072"/>
                                        </p:tgtEl>
                                        <p:attrNameLst>
                                          <p:attrName>style.visibility</p:attrName>
                                        </p:attrNameLst>
                                      </p:cBhvr>
                                      <p:to>
                                        <p:strVal val="visible"/>
                                      </p:to>
                                    </p:set>
                                    <p:animEffect transition="in" filter="box(in)">
                                      <p:cBhvr>
                                        <p:cTn id="7" dur="500"/>
                                        <p:tgtEl>
                                          <p:spTgt spid="88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9874B31E-FF8B-4F48-82A4-4C76122DA91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4339" name="Slide Number Placeholder 4">
            <a:extLst>
              <a:ext uri="{FF2B5EF4-FFF2-40B4-BE49-F238E27FC236}">
                <a16:creationId xmlns:a16="http://schemas.microsoft.com/office/drawing/2014/main" id="{5C67EAE8-2490-4ECC-92CE-99EA557744A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AC66A2A-3357-49A7-BB51-F9672C44BE9E}" type="slidenum">
              <a:rPr lang="en-US" altLang="en-US" sz="1600">
                <a:latin typeface="Times New Roman" panose="02020603050405020304" pitchFamily="18" charset="0"/>
              </a:rPr>
              <a:pPr eaLnBrk="1" hangingPunct="1">
                <a:spcBef>
                  <a:spcPct val="0"/>
                </a:spcBef>
                <a:buClrTx/>
                <a:buFontTx/>
                <a:buNone/>
              </a:pPr>
              <a:t>11</a:t>
            </a:fld>
            <a:endParaRPr lang="en-US" altLang="en-US" sz="1600">
              <a:latin typeface="Times New Roman" panose="02020603050405020304" pitchFamily="18" charset="0"/>
            </a:endParaRPr>
          </a:p>
        </p:txBody>
      </p:sp>
      <p:sp>
        <p:nvSpPr>
          <p:cNvPr id="89090" name="Rectangle 2">
            <a:extLst>
              <a:ext uri="{FF2B5EF4-FFF2-40B4-BE49-F238E27FC236}">
                <a16:creationId xmlns:a16="http://schemas.microsoft.com/office/drawing/2014/main" id="{8073795C-AFBC-45E9-9854-FA8C3419758A}"/>
              </a:ext>
            </a:extLst>
          </p:cNvPr>
          <p:cNvSpPr>
            <a:spLocks noGrp="1" noChangeArrowheads="1"/>
          </p:cNvSpPr>
          <p:nvPr>
            <p:ph type="title"/>
          </p:nvPr>
        </p:nvSpPr>
        <p:spPr/>
        <p:txBody>
          <a:bodyPr/>
          <a:lstStyle/>
          <a:p>
            <a:pPr eaLnBrk="1" hangingPunct="1">
              <a:defRPr/>
            </a:pPr>
            <a:r>
              <a:rPr lang="en-US" altLang="en-US"/>
              <a:t>ROR Instruction</a:t>
            </a:r>
          </a:p>
        </p:txBody>
      </p:sp>
      <p:sp>
        <p:nvSpPr>
          <p:cNvPr id="14341" name="Rectangle 3">
            <a:extLst>
              <a:ext uri="{FF2B5EF4-FFF2-40B4-BE49-F238E27FC236}">
                <a16:creationId xmlns:a16="http://schemas.microsoft.com/office/drawing/2014/main" id="{CB11E34B-2A30-4646-A733-3BC4C5BBC8F5}"/>
              </a:ext>
            </a:extLst>
          </p:cNvPr>
          <p:cNvSpPr>
            <a:spLocks noGrp="1" noChangeArrowheads="1"/>
          </p:cNvSpPr>
          <p:nvPr>
            <p:ph type="body" idx="1"/>
          </p:nvPr>
        </p:nvSpPr>
        <p:spPr>
          <a:xfrm>
            <a:off x="685800" y="1143000"/>
            <a:ext cx="7772400" cy="1828800"/>
          </a:xfrm>
        </p:spPr>
        <p:txBody>
          <a:bodyPr/>
          <a:lstStyle/>
          <a:p>
            <a:pPr eaLnBrk="1" hangingPunct="1"/>
            <a:r>
              <a:rPr lang="en-US" altLang="en-US"/>
              <a:t>ROR (rotate right) shifts each bit to the right</a:t>
            </a:r>
          </a:p>
          <a:p>
            <a:pPr eaLnBrk="1" hangingPunct="1"/>
            <a:r>
              <a:rPr lang="en-US" altLang="en-US"/>
              <a:t>The lowest bit is copied into both the Carry flag and into the highest bit</a:t>
            </a:r>
          </a:p>
          <a:p>
            <a:pPr eaLnBrk="1" hangingPunct="1"/>
            <a:r>
              <a:rPr lang="en-US" altLang="en-US"/>
              <a:t>No bits are lost</a:t>
            </a:r>
          </a:p>
        </p:txBody>
      </p:sp>
      <p:graphicFrame>
        <p:nvGraphicFramePr>
          <p:cNvPr id="14342" name="Object 4">
            <a:extLst>
              <a:ext uri="{FF2B5EF4-FFF2-40B4-BE49-F238E27FC236}">
                <a16:creationId xmlns:a16="http://schemas.microsoft.com/office/drawing/2014/main" id="{47AEBAE0-FDCE-4C10-884C-96D65EDA8F23}"/>
              </a:ext>
            </a:extLst>
          </p:cNvPr>
          <p:cNvGraphicFramePr>
            <a:graphicFrameLocks noChangeAspect="1"/>
          </p:cNvGraphicFramePr>
          <p:nvPr/>
        </p:nvGraphicFramePr>
        <p:xfrm>
          <a:off x="1447800" y="2971800"/>
          <a:ext cx="5867400" cy="1023938"/>
        </p:xfrm>
        <a:graphic>
          <a:graphicData uri="http://schemas.openxmlformats.org/presentationml/2006/ole">
            <mc:AlternateContent xmlns:mc="http://schemas.openxmlformats.org/markup-compatibility/2006">
              <mc:Choice xmlns:v="urn:schemas-microsoft-com:vml" Requires="v">
                <p:oleObj spid="_x0000_s25601" name="VISIO" r:id="rId3" imgW="3610356" imgH="542544" progId="Visio.Drawing.6">
                  <p:embed/>
                </p:oleObj>
              </mc:Choice>
              <mc:Fallback>
                <p:oleObj name="VISIO" r:id="rId3" imgW="3610356" imgH="542544"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1315" t="-17487" r="-2632"/>
                      <a:stretch>
                        <a:fillRect/>
                      </a:stretch>
                    </p:blipFill>
                    <p:spPr bwMode="auto">
                      <a:xfrm>
                        <a:off x="1447800" y="2971800"/>
                        <a:ext cx="5867400" cy="10239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3" name="Text Box 5">
            <a:extLst>
              <a:ext uri="{FF2B5EF4-FFF2-40B4-BE49-F238E27FC236}">
                <a16:creationId xmlns:a16="http://schemas.microsoft.com/office/drawing/2014/main" id="{153C218E-D1DF-4914-9907-1330FDD12AA6}"/>
              </a:ext>
            </a:extLst>
          </p:cNvPr>
          <p:cNvSpPr txBox="1">
            <a:spLocks noChangeArrowheads="1"/>
          </p:cNvSpPr>
          <p:nvPr/>
        </p:nvSpPr>
        <p:spPr bwMode="auto">
          <a:xfrm>
            <a:off x="1066800" y="4343400"/>
            <a:ext cx="6324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al,11110000b</a:t>
            </a:r>
          </a:p>
          <a:p>
            <a:pPr eaLnBrk="1" hangingPunct="1">
              <a:lnSpc>
                <a:spcPct val="50000"/>
              </a:lnSpc>
              <a:spcBef>
                <a:spcPct val="50000"/>
              </a:spcBef>
              <a:buClrTx/>
              <a:buFontTx/>
              <a:buNone/>
            </a:pPr>
            <a:r>
              <a:rPr lang="en-US" altLang="en-US" sz="1800" b="1">
                <a:latin typeface="Courier New" panose="02070309020205020404" pitchFamily="49" charset="0"/>
              </a:rPr>
              <a:t>ror al,1	; AL = 01111000b</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mov dl,3Fh</a:t>
            </a:r>
          </a:p>
          <a:p>
            <a:pPr eaLnBrk="1" hangingPunct="1">
              <a:lnSpc>
                <a:spcPct val="50000"/>
              </a:lnSpc>
              <a:spcBef>
                <a:spcPct val="50000"/>
              </a:spcBef>
              <a:buClrTx/>
              <a:buFontTx/>
              <a:buNone/>
            </a:pPr>
            <a:r>
              <a:rPr lang="en-US" altLang="en-US" sz="1800" b="1">
                <a:latin typeface="Courier New" panose="02070309020205020404" pitchFamily="49" charset="0"/>
              </a:rPr>
              <a:t>ror dl,4	; DL = F3h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9093"/>
                                        </p:tgtEl>
                                        <p:attrNameLst>
                                          <p:attrName>style.visibility</p:attrName>
                                        </p:attrNameLst>
                                      </p:cBhvr>
                                      <p:to>
                                        <p:strVal val="visible"/>
                                      </p:to>
                                    </p:set>
                                    <p:animEffect transition="in" filter="box(in)">
                                      <p:cBhvr>
                                        <p:cTn id="7"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362BE33E-2676-458C-B32F-3D2CFA802AA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6387" name="Slide Number Placeholder 4">
            <a:extLst>
              <a:ext uri="{FF2B5EF4-FFF2-40B4-BE49-F238E27FC236}">
                <a16:creationId xmlns:a16="http://schemas.microsoft.com/office/drawing/2014/main" id="{5BD1D66D-ACDE-40EC-80B3-18A3B4E8B279}"/>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70E1C62-5109-4C97-AC03-FFC8B7300985}" type="slidenum">
              <a:rPr lang="en-US" altLang="en-US" sz="1600">
                <a:latin typeface="Times New Roman" panose="02020603050405020304" pitchFamily="18" charset="0"/>
              </a:rPr>
              <a:pPr eaLnBrk="1" hangingPunct="1">
                <a:spcBef>
                  <a:spcPct val="0"/>
                </a:spcBef>
                <a:buClrTx/>
                <a:buFontTx/>
                <a:buNone/>
              </a:pPr>
              <a:t>12</a:t>
            </a:fld>
            <a:endParaRPr lang="en-US" altLang="en-US" sz="1600">
              <a:latin typeface="Times New Roman" panose="02020603050405020304" pitchFamily="18" charset="0"/>
            </a:endParaRPr>
          </a:p>
        </p:txBody>
      </p:sp>
      <p:sp>
        <p:nvSpPr>
          <p:cNvPr id="90114" name="Rectangle 2">
            <a:extLst>
              <a:ext uri="{FF2B5EF4-FFF2-40B4-BE49-F238E27FC236}">
                <a16:creationId xmlns:a16="http://schemas.microsoft.com/office/drawing/2014/main" id="{F15DBD23-A105-4182-9EE0-578A17008D8C}"/>
              </a:ext>
            </a:extLst>
          </p:cNvPr>
          <p:cNvSpPr>
            <a:spLocks noGrp="1" noChangeArrowheads="1"/>
          </p:cNvSpPr>
          <p:nvPr>
            <p:ph type="title"/>
          </p:nvPr>
        </p:nvSpPr>
        <p:spPr/>
        <p:txBody>
          <a:bodyPr/>
          <a:lstStyle/>
          <a:p>
            <a:pPr eaLnBrk="1" hangingPunct="1">
              <a:defRPr/>
            </a:pPr>
            <a:r>
              <a:rPr lang="en-US" altLang="en-US"/>
              <a:t>RCL Instruction</a:t>
            </a:r>
          </a:p>
        </p:txBody>
      </p:sp>
      <p:sp>
        <p:nvSpPr>
          <p:cNvPr id="16389" name="Rectangle 3">
            <a:extLst>
              <a:ext uri="{FF2B5EF4-FFF2-40B4-BE49-F238E27FC236}">
                <a16:creationId xmlns:a16="http://schemas.microsoft.com/office/drawing/2014/main" id="{0A6E094B-6F4A-410E-84DE-69EF8EA895C4}"/>
              </a:ext>
            </a:extLst>
          </p:cNvPr>
          <p:cNvSpPr>
            <a:spLocks noGrp="1" noChangeArrowheads="1"/>
          </p:cNvSpPr>
          <p:nvPr>
            <p:ph type="body" idx="1"/>
          </p:nvPr>
        </p:nvSpPr>
        <p:spPr>
          <a:xfrm>
            <a:off x="685800" y="1143000"/>
            <a:ext cx="7772400" cy="1600200"/>
          </a:xfrm>
        </p:spPr>
        <p:txBody>
          <a:bodyPr/>
          <a:lstStyle/>
          <a:p>
            <a:pPr eaLnBrk="1" hangingPunct="1"/>
            <a:r>
              <a:rPr lang="en-US" altLang="en-US"/>
              <a:t>RCL (rotate carry left) shifts each bit to the left</a:t>
            </a:r>
          </a:p>
          <a:p>
            <a:pPr eaLnBrk="1" hangingPunct="1"/>
            <a:r>
              <a:rPr lang="en-US" altLang="en-US"/>
              <a:t>Copies the Carry flag to the least significant bit</a:t>
            </a:r>
          </a:p>
          <a:p>
            <a:pPr eaLnBrk="1" hangingPunct="1"/>
            <a:r>
              <a:rPr lang="en-US" altLang="en-US"/>
              <a:t>Copies the most significant bit to the Carry flag</a:t>
            </a:r>
          </a:p>
        </p:txBody>
      </p:sp>
      <p:graphicFrame>
        <p:nvGraphicFramePr>
          <p:cNvPr id="16390" name="Object 5">
            <a:extLst>
              <a:ext uri="{FF2B5EF4-FFF2-40B4-BE49-F238E27FC236}">
                <a16:creationId xmlns:a16="http://schemas.microsoft.com/office/drawing/2014/main" id="{D12392A7-75A7-4CAA-9A96-5946BBF125AF}"/>
              </a:ext>
            </a:extLst>
          </p:cNvPr>
          <p:cNvGraphicFramePr>
            <a:graphicFrameLocks noChangeAspect="1"/>
          </p:cNvGraphicFramePr>
          <p:nvPr/>
        </p:nvGraphicFramePr>
        <p:xfrm>
          <a:off x="1752600" y="2743200"/>
          <a:ext cx="5410200" cy="1089025"/>
        </p:xfrm>
        <a:graphic>
          <a:graphicData uri="http://schemas.openxmlformats.org/presentationml/2006/ole">
            <mc:AlternateContent xmlns:mc="http://schemas.openxmlformats.org/markup-compatibility/2006">
              <mc:Choice xmlns:v="urn:schemas-microsoft-com:vml" Requires="v">
                <p:oleObj spid="_x0000_s26625" name="VISIO" r:id="rId3" imgW="3625596" imgH="728472" progId="Visio.Drawing.6">
                  <p:embed/>
                </p:oleObj>
              </mc:Choice>
              <mc:Fallback>
                <p:oleObj name="VISIO" r:id="rId3" imgW="3625596" imgH="728472"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743200"/>
                        <a:ext cx="5410200" cy="10890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8" name="Text Box 6">
            <a:extLst>
              <a:ext uri="{FF2B5EF4-FFF2-40B4-BE49-F238E27FC236}">
                <a16:creationId xmlns:a16="http://schemas.microsoft.com/office/drawing/2014/main" id="{2AD8BE1D-8CEC-4F0E-8F45-D26975649647}"/>
              </a:ext>
            </a:extLst>
          </p:cNvPr>
          <p:cNvSpPr txBox="1">
            <a:spLocks noChangeArrowheads="1"/>
          </p:cNvSpPr>
          <p:nvPr/>
        </p:nvSpPr>
        <p:spPr bwMode="auto">
          <a:xfrm>
            <a:off x="838200" y="4191000"/>
            <a:ext cx="7010400"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900" b="1">
                <a:latin typeface="Courier New" panose="02070309020205020404" pitchFamily="49" charset="0"/>
              </a:rPr>
              <a:t>clc		; CF = 0</a:t>
            </a:r>
          </a:p>
          <a:p>
            <a:pPr eaLnBrk="1" hangingPunct="1">
              <a:lnSpc>
                <a:spcPct val="60000"/>
              </a:lnSpc>
              <a:spcBef>
                <a:spcPct val="50000"/>
              </a:spcBef>
              <a:buClrTx/>
              <a:buFontTx/>
              <a:buNone/>
            </a:pPr>
            <a:r>
              <a:rPr lang="en-US" altLang="en-US" sz="1900" b="1">
                <a:latin typeface="Courier New" panose="02070309020205020404" pitchFamily="49" charset="0"/>
              </a:rPr>
              <a:t>mov bl,88h		; CF,BL = 0 10001000b</a:t>
            </a:r>
          </a:p>
          <a:p>
            <a:pPr eaLnBrk="1" hangingPunct="1">
              <a:lnSpc>
                <a:spcPct val="60000"/>
              </a:lnSpc>
              <a:spcBef>
                <a:spcPct val="50000"/>
              </a:spcBef>
              <a:buClrTx/>
              <a:buFontTx/>
              <a:buNone/>
            </a:pPr>
            <a:r>
              <a:rPr lang="en-US" altLang="en-US" sz="1900" b="1">
                <a:latin typeface="Courier New" panose="02070309020205020404" pitchFamily="49" charset="0"/>
              </a:rPr>
              <a:t>rcl bl,1		; CF,BL = 1 00010000b</a:t>
            </a:r>
          </a:p>
          <a:p>
            <a:pPr eaLnBrk="1" hangingPunct="1">
              <a:lnSpc>
                <a:spcPct val="60000"/>
              </a:lnSpc>
              <a:spcBef>
                <a:spcPct val="50000"/>
              </a:spcBef>
              <a:buClrTx/>
              <a:buFontTx/>
              <a:buNone/>
            </a:pPr>
            <a:r>
              <a:rPr lang="en-US" altLang="en-US" sz="1900" b="1">
                <a:latin typeface="Courier New" panose="02070309020205020404" pitchFamily="49" charset="0"/>
              </a:rPr>
              <a:t>rcl bl,1		; CF,BL = 0 00100001b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0118"/>
                                        </p:tgtEl>
                                        <p:attrNameLst>
                                          <p:attrName>style.visibility</p:attrName>
                                        </p:attrNameLst>
                                      </p:cBhvr>
                                      <p:to>
                                        <p:strVal val="visible"/>
                                      </p:to>
                                    </p:set>
                                    <p:animEffect transition="in" filter="box(in)">
                                      <p:cBhvr>
                                        <p:cTn id="7" dur="500"/>
                                        <p:tgtEl>
                                          <p:spTgt spid="90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8B316EF7-3424-4B31-961F-D694367E14A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7411" name="Slide Number Placeholder 4">
            <a:extLst>
              <a:ext uri="{FF2B5EF4-FFF2-40B4-BE49-F238E27FC236}">
                <a16:creationId xmlns:a16="http://schemas.microsoft.com/office/drawing/2014/main" id="{DB66B244-C24F-40B0-81AA-F3A8380C724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D9BB331-8B49-4BF4-9E62-15F965B3A868}" type="slidenum">
              <a:rPr lang="en-US" altLang="en-US" sz="1600">
                <a:latin typeface="Times New Roman" panose="02020603050405020304" pitchFamily="18" charset="0"/>
              </a:rPr>
              <a:pPr eaLnBrk="1" hangingPunct="1">
                <a:spcBef>
                  <a:spcPct val="0"/>
                </a:spcBef>
                <a:buClrTx/>
                <a:buFontTx/>
                <a:buNone/>
              </a:pPr>
              <a:t>13</a:t>
            </a:fld>
            <a:endParaRPr lang="en-US" altLang="en-US" sz="1600">
              <a:latin typeface="Times New Roman" panose="02020603050405020304" pitchFamily="18" charset="0"/>
            </a:endParaRPr>
          </a:p>
        </p:txBody>
      </p:sp>
      <p:sp>
        <p:nvSpPr>
          <p:cNvPr id="91138" name="Rectangle 2">
            <a:extLst>
              <a:ext uri="{FF2B5EF4-FFF2-40B4-BE49-F238E27FC236}">
                <a16:creationId xmlns:a16="http://schemas.microsoft.com/office/drawing/2014/main" id="{F5C8F79E-EF7C-48C7-BA1B-90F184A37BE3}"/>
              </a:ext>
            </a:extLst>
          </p:cNvPr>
          <p:cNvSpPr>
            <a:spLocks noGrp="1" noChangeArrowheads="1"/>
          </p:cNvSpPr>
          <p:nvPr>
            <p:ph type="title"/>
          </p:nvPr>
        </p:nvSpPr>
        <p:spPr/>
        <p:txBody>
          <a:bodyPr/>
          <a:lstStyle/>
          <a:p>
            <a:pPr eaLnBrk="1" hangingPunct="1">
              <a:defRPr/>
            </a:pPr>
            <a:r>
              <a:rPr lang="en-US" altLang="en-US"/>
              <a:t>RCR Instruction</a:t>
            </a:r>
          </a:p>
        </p:txBody>
      </p:sp>
      <p:sp>
        <p:nvSpPr>
          <p:cNvPr id="17413" name="Rectangle 4">
            <a:extLst>
              <a:ext uri="{FF2B5EF4-FFF2-40B4-BE49-F238E27FC236}">
                <a16:creationId xmlns:a16="http://schemas.microsoft.com/office/drawing/2014/main" id="{C9606F8D-72D9-486D-814F-66C7C7E222BB}"/>
              </a:ext>
            </a:extLst>
          </p:cNvPr>
          <p:cNvSpPr>
            <a:spLocks noGrp="1" noChangeArrowheads="1"/>
          </p:cNvSpPr>
          <p:nvPr>
            <p:ph type="body" idx="1"/>
          </p:nvPr>
        </p:nvSpPr>
        <p:spPr>
          <a:xfrm>
            <a:off x="685800" y="1143000"/>
            <a:ext cx="7772400" cy="1600200"/>
          </a:xfrm>
          <a:noFill/>
        </p:spPr>
        <p:txBody>
          <a:bodyPr/>
          <a:lstStyle/>
          <a:p>
            <a:pPr eaLnBrk="1" hangingPunct="1"/>
            <a:r>
              <a:rPr lang="en-US" altLang="en-US"/>
              <a:t>RCR (rotate carry right) shifts each bit to the right</a:t>
            </a:r>
          </a:p>
          <a:p>
            <a:pPr eaLnBrk="1" hangingPunct="1"/>
            <a:r>
              <a:rPr lang="en-US" altLang="en-US"/>
              <a:t>Copies the Carry flag to the most significant bit</a:t>
            </a:r>
          </a:p>
          <a:p>
            <a:pPr eaLnBrk="1" hangingPunct="1"/>
            <a:r>
              <a:rPr lang="en-US" altLang="en-US"/>
              <a:t>Copies the least significant bit to the Carry flag</a:t>
            </a:r>
          </a:p>
        </p:txBody>
      </p:sp>
      <p:sp>
        <p:nvSpPr>
          <p:cNvPr id="91142" name="Text Box 6">
            <a:extLst>
              <a:ext uri="{FF2B5EF4-FFF2-40B4-BE49-F238E27FC236}">
                <a16:creationId xmlns:a16="http://schemas.microsoft.com/office/drawing/2014/main" id="{C48987C8-DB48-4AFD-95F4-8A6F57B4A98E}"/>
              </a:ext>
            </a:extLst>
          </p:cNvPr>
          <p:cNvSpPr txBox="1">
            <a:spLocks noChangeArrowheads="1"/>
          </p:cNvSpPr>
          <p:nvPr/>
        </p:nvSpPr>
        <p:spPr bwMode="auto">
          <a:xfrm>
            <a:off x="914400" y="4191000"/>
            <a:ext cx="6629400"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3205163"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900" b="1">
                <a:latin typeface="Courier New" panose="02070309020205020404" pitchFamily="49" charset="0"/>
              </a:rPr>
              <a:t>stc	; CF = 1</a:t>
            </a:r>
          </a:p>
          <a:p>
            <a:pPr eaLnBrk="1" hangingPunct="1">
              <a:lnSpc>
                <a:spcPct val="60000"/>
              </a:lnSpc>
              <a:spcBef>
                <a:spcPct val="50000"/>
              </a:spcBef>
              <a:buClrTx/>
              <a:buFontTx/>
              <a:buNone/>
            </a:pPr>
            <a:r>
              <a:rPr lang="en-US" altLang="en-US" sz="1900" b="1">
                <a:latin typeface="Courier New" panose="02070309020205020404" pitchFamily="49" charset="0"/>
              </a:rPr>
              <a:t>mov ah,10h	; CF,AH = 1 00010000b</a:t>
            </a:r>
          </a:p>
          <a:p>
            <a:pPr eaLnBrk="1" hangingPunct="1">
              <a:lnSpc>
                <a:spcPct val="60000"/>
              </a:lnSpc>
              <a:spcBef>
                <a:spcPct val="50000"/>
              </a:spcBef>
              <a:buClrTx/>
              <a:buFontTx/>
              <a:buNone/>
            </a:pPr>
            <a:r>
              <a:rPr lang="en-US" altLang="en-US" sz="1900" b="1">
                <a:latin typeface="Courier New" panose="02070309020205020404" pitchFamily="49" charset="0"/>
              </a:rPr>
              <a:t>rcr ah,1	; CF,AH = 0 10001000b</a:t>
            </a:r>
          </a:p>
        </p:txBody>
      </p:sp>
      <p:graphicFrame>
        <p:nvGraphicFramePr>
          <p:cNvPr id="17415" name="Object 8">
            <a:extLst>
              <a:ext uri="{FF2B5EF4-FFF2-40B4-BE49-F238E27FC236}">
                <a16:creationId xmlns:a16="http://schemas.microsoft.com/office/drawing/2014/main" id="{4E92B022-8BDF-4E35-AB31-7809C886FF7A}"/>
              </a:ext>
            </a:extLst>
          </p:cNvPr>
          <p:cNvGraphicFramePr>
            <a:graphicFrameLocks noChangeAspect="1"/>
          </p:cNvGraphicFramePr>
          <p:nvPr/>
        </p:nvGraphicFramePr>
        <p:xfrm>
          <a:off x="1752600" y="2743200"/>
          <a:ext cx="5562600" cy="1093788"/>
        </p:xfrm>
        <a:graphic>
          <a:graphicData uri="http://schemas.openxmlformats.org/presentationml/2006/ole">
            <mc:AlternateContent xmlns:mc="http://schemas.openxmlformats.org/markup-compatibility/2006">
              <mc:Choice xmlns:v="urn:schemas-microsoft-com:vml" Requires="v">
                <p:oleObj spid="_x0000_s27649" name="VISIO" r:id="rId3" imgW="3604349" imgH="727260" progId="Visio.Drawing.6">
                  <p:embed/>
                </p:oleObj>
              </mc:Choice>
              <mc:Fallback>
                <p:oleObj name="VISIO" r:id="rId3" imgW="3604349" imgH="727260" progId="Visio.Drawing.6">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r="-2817"/>
                      <a:stretch>
                        <a:fillRect/>
                      </a:stretch>
                    </p:blipFill>
                    <p:spPr bwMode="auto">
                      <a:xfrm>
                        <a:off x="1752600" y="2743200"/>
                        <a:ext cx="5562600" cy="10937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1142"/>
                                        </p:tgtEl>
                                        <p:attrNameLst>
                                          <p:attrName>style.visibility</p:attrName>
                                        </p:attrNameLst>
                                      </p:cBhvr>
                                      <p:to>
                                        <p:strVal val="visible"/>
                                      </p:to>
                                    </p:set>
                                    <p:animEffect transition="in" filter="box(in)">
                                      <p:cBhvr>
                                        <p:cTn id="7" dur="5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200913ED-152A-4803-982B-EF69A4951BA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19459" name="Slide Number Placeholder 4">
            <a:extLst>
              <a:ext uri="{FF2B5EF4-FFF2-40B4-BE49-F238E27FC236}">
                <a16:creationId xmlns:a16="http://schemas.microsoft.com/office/drawing/2014/main" id="{7B1CC47E-4042-4B3F-A455-5A757CD1A3C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02CD04C-6294-4CB1-8DF4-4059B23214BE}" type="slidenum">
              <a:rPr lang="en-US" altLang="en-US" sz="1600">
                <a:latin typeface="Times New Roman" panose="02020603050405020304" pitchFamily="18" charset="0"/>
              </a:rPr>
              <a:pPr eaLnBrk="1" hangingPunct="1">
                <a:spcBef>
                  <a:spcPct val="0"/>
                </a:spcBef>
                <a:buClrTx/>
                <a:buFontTx/>
                <a:buNone/>
              </a:pPr>
              <a:t>14</a:t>
            </a:fld>
            <a:endParaRPr lang="en-US" altLang="en-US" sz="1600">
              <a:latin typeface="Times New Roman" panose="02020603050405020304" pitchFamily="18" charset="0"/>
            </a:endParaRPr>
          </a:p>
        </p:txBody>
      </p:sp>
      <p:sp>
        <p:nvSpPr>
          <p:cNvPr id="92162" name="Rectangle 1026">
            <a:extLst>
              <a:ext uri="{FF2B5EF4-FFF2-40B4-BE49-F238E27FC236}">
                <a16:creationId xmlns:a16="http://schemas.microsoft.com/office/drawing/2014/main" id="{5369B4E7-9DB5-4548-9F50-E34F8EEFBA82}"/>
              </a:ext>
            </a:extLst>
          </p:cNvPr>
          <p:cNvSpPr>
            <a:spLocks noGrp="1" noChangeArrowheads="1"/>
          </p:cNvSpPr>
          <p:nvPr>
            <p:ph type="title"/>
          </p:nvPr>
        </p:nvSpPr>
        <p:spPr/>
        <p:txBody>
          <a:bodyPr/>
          <a:lstStyle/>
          <a:p>
            <a:pPr eaLnBrk="1" hangingPunct="1">
              <a:defRPr/>
            </a:pPr>
            <a:r>
              <a:rPr lang="en-US" altLang="en-US"/>
              <a:t>SHLD Instruction</a:t>
            </a:r>
          </a:p>
        </p:txBody>
      </p:sp>
      <p:sp>
        <p:nvSpPr>
          <p:cNvPr id="19461" name="Rectangle 1027">
            <a:extLst>
              <a:ext uri="{FF2B5EF4-FFF2-40B4-BE49-F238E27FC236}">
                <a16:creationId xmlns:a16="http://schemas.microsoft.com/office/drawing/2014/main" id="{037E4DAA-A970-4EFB-893D-C8439F8BC922}"/>
              </a:ext>
            </a:extLst>
          </p:cNvPr>
          <p:cNvSpPr>
            <a:spLocks noGrp="1" noChangeArrowheads="1"/>
          </p:cNvSpPr>
          <p:nvPr>
            <p:ph type="body" idx="1"/>
          </p:nvPr>
        </p:nvSpPr>
        <p:spPr>
          <a:xfrm>
            <a:off x="685800" y="1143000"/>
            <a:ext cx="7772400" cy="3505200"/>
          </a:xfrm>
        </p:spPr>
        <p:txBody>
          <a:bodyPr/>
          <a:lstStyle/>
          <a:p>
            <a:pPr eaLnBrk="1" hangingPunct="1"/>
            <a:r>
              <a:rPr lang="en-US" altLang="en-US"/>
              <a:t>Shifts a destination operand a given number of bits to the left </a:t>
            </a:r>
          </a:p>
          <a:p>
            <a:pPr eaLnBrk="1" hangingPunct="1"/>
            <a:r>
              <a:rPr lang="en-US" altLang="en-US"/>
              <a:t>The bit positions opened up by the shift are filled by the most significant bits of the source operand</a:t>
            </a:r>
          </a:p>
          <a:p>
            <a:pPr eaLnBrk="1" hangingPunct="1"/>
            <a:r>
              <a:rPr lang="en-US" altLang="en-US"/>
              <a:t>The source operand is not affected</a:t>
            </a:r>
          </a:p>
          <a:p>
            <a:pPr eaLnBrk="1" hangingPunct="1"/>
            <a:r>
              <a:rPr lang="en-US" altLang="en-US"/>
              <a:t>Syntax:</a:t>
            </a:r>
          </a:p>
          <a:p>
            <a:pPr lvl="1" eaLnBrk="1" hangingPunct="1">
              <a:buFontTx/>
              <a:buNone/>
            </a:pPr>
            <a:r>
              <a:rPr lang="en-US" altLang="en-US"/>
              <a:t>	</a:t>
            </a:r>
            <a:r>
              <a:rPr lang="en-US" altLang="en-US">
                <a:solidFill>
                  <a:schemeClr val="tx2"/>
                </a:solidFill>
              </a:rPr>
              <a:t>SHLD </a:t>
            </a:r>
            <a:r>
              <a:rPr lang="en-US" altLang="en-US" i="1">
                <a:solidFill>
                  <a:schemeClr val="tx2"/>
                </a:solidFill>
              </a:rPr>
              <a:t>destination, source, count</a:t>
            </a:r>
          </a:p>
          <a:p>
            <a:pPr eaLnBrk="1" hangingPunct="1"/>
            <a:r>
              <a:rPr lang="en-US" altLang="en-US"/>
              <a:t>Operand types:</a:t>
            </a:r>
            <a:endParaRPr lang="en-US" altLang="en-US" i="1">
              <a:solidFill>
                <a:schemeClr val="tx2"/>
              </a:solidFill>
            </a:endParaRPr>
          </a:p>
        </p:txBody>
      </p:sp>
      <p:sp>
        <p:nvSpPr>
          <p:cNvPr id="19462" name="Text Box 1028">
            <a:extLst>
              <a:ext uri="{FF2B5EF4-FFF2-40B4-BE49-F238E27FC236}">
                <a16:creationId xmlns:a16="http://schemas.microsoft.com/office/drawing/2014/main" id="{2DF9C0E8-3C13-403D-8A05-558EB11E1AA6}"/>
              </a:ext>
            </a:extLst>
          </p:cNvPr>
          <p:cNvSpPr txBox="1">
            <a:spLocks noChangeArrowheads="1"/>
          </p:cNvSpPr>
          <p:nvPr/>
        </p:nvSpPr>
        <p:spPr bwMode="auto">
          <a:xfrm>
            <a:off x="1828800" y="4572000"/>
            <a:ext cx="4876800" cy="804863"/>
          </a:xfrm>
          <a:prstGeom prst="rect">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457200" algn="l"/>
                <a:tab pos="394493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94493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94493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94493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9449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9pPr>
          </a:lstStyle>
          <a:p>
            <a:pPr eaLnBrk="1" hangingPunct="1">
              <a:lnSpc>
                <a:spcPct val="70000"/>
              </a:lnSpc>
              <a:spcBef>
                <a:spcPct val="50000"/>
              </a:spcBef>
              <a:buClrTx/>
              <a:buFontTx/>
              <a:buNone/>
            </a:pPr>
            <a:r>
              <a:rPr lang="en-US" altLang="en-US" sz="1800" b="1">
                <a:solidFill>
                  <a:schemeClr val="bg2"/>
                </a:solidFill>
                <a:latin typeface="Courier New" panose="02070309020205020404" pitchFamily="49" charset="0"/>
              </a:rPr>
              <a:t>SHLD </a:t>
            </a:r>
            <a:r>
              <a:rPr lang="en-US" altLang="en-US" sz="1800" b="1" i="1">
                <a:solidFill>
                  <a:schemeClr val="bg2"/>
                </a:solidFill>
                <a:latin typeface="Courier New" panose="02070309020205020404" pitchFamily="49" charset="0"/>
              </a:rPr>
              <a:t>reg16/32</a:t>
            </a:r>
            <a:r>
              <a:rPr lang="en-US" altLang="en-US" sz="1800" b="1">
                <a:solidFill>
                  <a:schemeClr val="bg2"/>
                </a:solidFill>
                <a:latin typeface="Courier New" panose="02070309020205020404" pitchFamily="49" charset="0"/>
              </a:rPr>
              <a:t>, </a:t>
            </a:r>
            <a:r>
              <a:rPr lang="en-US" altLang="en-US" sz="1800" b="1" i="1">
                <a:solidFill>
                  <a:schemeClr val="bg2"/>
                </a:solidFill>
                <a:latin typeface="Courier New" panose="02070309020205020404" pitchFamily="49" charset="0"/>
              </a:rPr>
              <a:t>reg16/32, imm8</a:t>
            </a:r>
            <a:r>
              <a:rPr lang="en-US" altLang="en-US" sz="1800" b="1">
                <a:solidFill>
                  <a:schemeClr val="bg2"/>
                </a:solidFill>
                <a:latin typeface="Courier New" panose="02070309020205020404" pitchFamily="49" charset="0"/>
              </a:rPr>
              <a:t>/CL</a:t>
            </a:r>
          </a:p>
          <a:p>
            <a:pPr eaLnBrk="1" hangingPunct="1">
              <a:lnSpc>
                <a:spcPct val="70000"/>
              </a:lnSpc>
              <a:spcBef>
                <a:spcPct val="50000"/>
              </a:spcBef>
              <a:buClrTx/>
              <a:buFontTx/>
              <a:buNone/>
            </a:pPr>
            <a:r>
              <a:rPr lang="en-US" altLang="en-US" sz="1800" b="1">
                <a:solidFill>
                  <a:schemeClr val="bg2"/>
                </a:solidFill>
                <a:latin typeface="Courier New" panose="02070309020205020404" pitchFamily="49" charset="0"/>
              </a:rPr>
              <a:t>SHLD </a:t>
            </a:r>
            <a:r>
              <a:rPr lang="en-US" altLang="en-US" sz="1800" b="1" i="1">
                <a:solidFill>
                  <a:schemeClr val="bg2"/>
                </a:solidFill>
                <a:latin typeface="Courier New" panose="02070309020205020404" pitchFamily="49" charset="0"/>
              </a:rPr>
              <a:t>mem16/32, reg16/32, imm8</a:t>
            </a:r>
            <a:r>
              <a:rPr lang="en-US" altLang="en-US" sz="1800" b="1">
                <a:solidFill>
                  <a:schemeClr val="bg2"/>
                </a:solidFill>
                <a:latin typeface="Courier New" panose="02070309020205020404" pitchFamily="49" charset="0"/>
              </a:rPr>
              <a:t>/CL</a:t>
            </a:r>
            <a:endParaRPr lang="en-US" altLang="en-US" sz="1800" b="1" i="1">
              <a:solidFill>
                <a:schemeClr val="bg2"/>
              </a:solidFill>
              <a:latin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1BFAE7CB-7C04-4E1E-A83C-1734A04F35B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0483" name="Slide Number Placeholder 4">
            <a:extLst>
              <a:ext uri="{FF2B5EF4-FFF2-40B4-BE49-F238E27FC236}">
                <a16:creationId xmlns:a16="http://schemas.microsoft.com/office/drawing/2014/main" id="{08E5BFE2-2098-4AC3-A6A6-8CDE55DC09D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23FA51E-004B-47D6-BAB7-C624C42931CB}" type="slidenum">
              <a:rPr lang="en-US" altLang="en-US" sz="1600">
                <a:latin typeface="Times New Roman" panose="02020603050405020304" pitchFamily="18" charset="0"/>
              </a:rPr>
              <a:pPr eaLnBrk="1" hangingPunct="1">
                <a:spcBef>
                  <a:spcPct val="0"/>
                </a:spcBef>
                <a:buClrTx/>
                <a:buFontTx/>
                <a:buNone/>
              </a:pPr>
              <a:t>15</a:t>
            </a:fld>
            <a:endParaRPr lang="en-US" altLang="en-US" sz="1600">
              <a:latin typeface="Times New Roman" panose="02020603050405020304" pitchFamily="18" charset="0"/>
            </a:endParaRPr>
          </a:p>
        </p:txBody>
      </p:sp>
      <p:sp>
        <p:nvSpPr>
          <p:cNvPr id="169986" name="Rectangle 2">
            <a:extLst>
              <a:ext uri="{FF2B5EF4-FFF2-40B4-BE49-F238E27FC236}">
                <a16:creationId xmlns:a16="http://schemas.microsoft.com/office/drawing/2014/main" id="{DD285F80-CE9D-4806-95B3-2141C231C06C}"/>
              </a:ext>
            </a:extLst>
          </p:cNvPr>
          <p:cNvSpPr>
            <a:spLocks noGrp="1" noChangeArrowheads="1"/>
          </p:cNvSpPr>
          <p:nvPr>
            <p:ph type="title"/>
          </p:nvPr>
        </p:nvSpPr>
        <p:spPr/>
        <p:txBody>
          <a:bodyPr/>
          <a:lstStyle/>
          <a:p>
            <a:pPr eaLnBrk="1" hangingPunct="1">
              <a:defRPr/>
            </a:pPr>
            <a:r>
              <a:rPr lang="en-US" altLang="en-US"/>
              <a:t>SHLD Example</a:t>
            </a:r>
          </a:p>
        </p:txBody>
      </p:sp>
      <p:sp>
        <p:nvSpPr>
          <p:cNvPr id="20485" name="Rectangle 3">
            <a:extLst>
              <a:ext uri="{FF2B5EF4-FFF2-40B4-BE49-F238E27FC236}">
                <a16:creationId xmlns:a16="http://schemas.microsoft.com/office/drawing/2014/main" id="{D8A3D08D-8AF5-45A0-94C2-A4A18EDAAE26}"/>
              </a:ext>
            </a:extLst>
          </p:cNvPr>
          <p:cNvSpPr>
            <a:spLocks noGrp="1" noChangeArrowheads="1"/>
          </p:cNvSpPr>
          <p:nvPr>
            <p:ph type="body" idx="1"/>
          </p:nvPr>
        </p:nvSpPr>
        <p:spPr>
          <a:xfrm>
            <a:off x="685800" y="1143000"/>
            <a:ext cx="7772400" cy="1600200"/>
          </a:xfrm>
        </p:spPr>
        <p:txBody>
          <a:bodyPr/>
          <a:lstStyle/>
          <a:p>
            <a:pPr eaLnBrk="1" hangingPunct="1">
              <a:lnSpc>
                <a:spcPct val="90000"/>
              </a:lnSpc>
              <a:buFontTx/>
              <a:buNone/>
            </a:pPr>
            <a:r>
              <a:rPr lang="en-US" altLang="en-US"/>
              <a:t>Shift count of 1:</a:t>
            </a:r>
          </a:p>
          <a:p>
            <a:pPr eaLnBrk="1" hangingPunct="1">
              <a:lnSpc>
                <a:spcPct val="90000"/>
              </a:lnSpc>
              <a:buFontTx/>
              <a:buNone/>
            </a:pPr>
            <a:r>
              <a:rPr lang="en-US" altLang="en-US"/>
              <a:t>	</a:t>
            </a:r>
            <a:r>
              <a:rPr lang="en-US" altLang="en-US" sz="2000" b="1">
                <a:latin typeface="Courier New" panose="02070309020205020404" pitchFamily="49" charset="0"/>
              </a:rPr>
              <a:t>	mov al,11100000b</a:t>
            </a:r>
          </a:p>
          <a:p>
            <a:pPr eaLnBrk="1" hangingPunct="1">
              <a:lnSpc>
                <a:spcPct val="90000"/>
              </a:lnSpc>
              <a:buFontTx/>
              <a:buNone/>
            </a:pPr>
            <a:r>
              <a:rPr lang="en-US" altLang="en-US" sz="2000" b="1">
                <a:latin typeface="Courier New" panose="02070309020205020404" pitchFamily="49" charset="0"/>
              </a:rPr>
              <a:t>		mov bl,10011101b</a:t>
            </a:r>
          </a:p>
          <a:p>
            <a:pPr eaLnBrk="1" hangingPunct="1">
              <a:lnSpc>
                <a:spcPct val="90000"/>
              </a:lnSpc>
              <a:buFontTx/>
              <a:buNone/>
            </a:pPr>
            <a:r>
              <a:rPr lang="en-US" altLang="en-US" sz="2000" b="1">
                <a:latin typeface="Courier New" panose="02070309020205020404" pitchFamily="49" charset="0"/>
              </a:rPr>
              <a:t>		shld al,bl,1</a:t>
            </a:r>
          </a:p>
        </p:txBody>
      </p:sp>
      <p:pic>
        <p:nvPicPr>
          <p:cNvPr id="20486" name="Picture 4">
            <a:extLst>
              <a:ext uri="{FF2B5EF4-FFF2-40B4-BE49-F238E27FC236}">
                <a16:creationId xmlns:a16="http://schemas.microsoft.com/office/drawing/2014/main" id="{F3B9133D-D323-4496-B23A-0809CFC7B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8000"/>
            <a:ext cx="6477000" cy="223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4245AE04-AB72-4D1C-9C81-084D47E7F95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2531" name="Slide Number Placeholder 4">
            <a:extLst>
              <a:ext uri="{FF2B5EF4-FFF2-40B4-BE49-F238E27FC236}">
                <a16:creationId xmlns:a16="http://schemas.microsoft.com/office/drawing/2014/main" id="{FAD2F22D-C927-45E7-9BC5-9CA3D98DC70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A109770-4031-434C-B112-9A315EC2AFE3}" type="slidenum">
              <a:rPr lang="en-US" altLang="en-US" sz="1600">
                <a:latin typeface="Times New Roman" panose="02020603050405020304" pitchFamily="18" charset="0"/>
              </a:rPr>
              <a:pPr eaLnBrk="1" hangingPunct="1">
                <a:spcBef>
                  <a:spcPct val="0"/>
                </a:spcBef>
                <a:buClrTx/>
                <a:buFontTx/>
                <a:buNone/>
              </a:pPr>
              <a:t>16</a:t>
            </a:fld>
            <a:endParaRPr lang="en-US" altLang="en-US" sz="1600">
              <a:latin typeface="Times New Roman" panose="02020603050405020304" pitchFamily="18" charset="0"/>
            </a:endParaRPr>
          </a:p>
        </p:txBody>
      </p:sp>
      <p:sp>
        <p:nvSpPr>
          <p:cNvPr id="93186" name="Rectangle 2">
            <a:extLst>
              <a:ext uri="{FF2B5EF4-FFF2-40B4-BE49-F238E27FC236}">
                <a16:creationId xmlns:a16="http://schemas.microsoft.com/office/drawing/2014/main" id="{78E0749E-7B89-42A9-9FD0-45F1D4A6382A}"/>
              </a:ext>
            </a:extLst>
          </p:cNvPr>
          <p:cNvSpPr>
            <a:spLocks noGrp="1" noChangeArrowheads="1"/>
          </p:cNvSpPr>
          <p:nvPr>
            <p:ph type="title"/>
          </p:nvPr>
        </p:nvSpPr>
        <p:spPr/>
        <p:txBody>
          <a:bodyPr/>
          <a:lstStyle/>
          <a:p>
            <a:pPr eaLnBrk="1" hangingPunct="1">
              <a:defRPr/>
            </a:pPr>
            <a:r>
              <a:rPr lang="en-US" altLang="en-US"/>
              <a:t>SHRD Instruction</a:t>
            </a:r>
          </a:p>
        </p:txBody>
      </p:sp>
      <p:sp>
        <p:nvSpPr>
          <p:cNvPr id="22533" name="Rectangle 3">
            <a:extLst>
              <a:ext uri="{FF2B5EF4-FFF2-40B4-BE49-F238E27FC236}">
                <a16:creationId xmlns:a16="http://schemas.microsoft.com/office/drawing/2014/main" id="{CE753F79-AE53-4D3F-8B84-5F61753DD161}"/>
              </a:ext>
            </a:extLst>
          </p:cNvPr>
          <p:cNvSpPr>
            <a:spLocks noGrp="1" noChangeArrowheads="1"/>
          </p:cNvSpPr>
          <p:nvPr>
            <p:ph type="body" idx="1"/>
          </p:nvPr>
        </p:nvSpPr>
        <p:spPr>
          <a:xfrm>
            <a:off x="685800" y="1143000"/>
            <a:ext cx="7772400" cy="3581400"/>
          </a:xfrm>
        </p:spPr>
        <p:txBody>
          <a:bodyPr/>
          <a:lstStyle/>
          <a:p>
            <a:pPr eaLnBrk="1" hangingPunct="1"/>
            <a:r>
              <a:rPr lang="en-US" altLang="en-US"/>
              <a:t>Shifts a destination operand a given number of bits to the right</a:t>
            </a:r>
          </a:p>
          <a:p>
            <a:pPr eaLnBrk="1" hangingPunct="1"/>
            <a:r>
              <a:rPr lang="en-US" altLang="en-US"/>
              <a:t>The bit positions opened up by the shift are filled by the least significant bits of the source operand</a:t>
            </a:r>
          </a:p>
          <a:p>
            <a:pPr eaLnBrk="1" hangingPunct="1"/>
            <a:r>
              <a:rPr lang="en-US" altLang="en-US"/>
              <a:t>The source operand is not affected</a:t>
            </a:r>
          </a:p>
          <a:p>
            <a:pPr eaLnBrk="1" hangingPunct="1"/>
            <a:r>
              <a:rPr lang="en-US" altLang="en-US"/>
              <a:t>Syntax:</a:t>
            </a:r>
          </a:p>
          <a:p>
            <a:pPr lvl="1" eaLnBrk="1" hangingPunct="1">
              <a:buFontTx/>
              <a:buNone/>
            </a:pPr>
            <a:r>
              <a:rPr lang="en-US" altLang="en-US"/>
              <a:t>	</a:t>
            </a:r>
            <a:r>
              <a:rPr lang="en-US" altLang="en-US">
                <a:solidFill>
                  <a:schemeClr val="tx2"/>
                </a:solidFill>
              </a:rPr>
              <a:t>SHRD </a:t>
            </a:r>
            <a:r>
              <a:rPr lang="en-US" altLang="en-US" i="1">
                <a:solidFill>
                  <a:schemeClr val="tx2"/>
                </a:solidFill>
              </a:rPr>
              <a:t>destination, source, count</a:t>
            </a:r>
          </a:p>
          <a:p>
            <a:pPr eaLnBrk="1" hangingPunct="1"/>
            <a:r>
              <a:rPr lang="en-US" altLang="en-US"/>
              <a:t>Operand types:</a:t>
            </a:r>
          </a:p>
        </p:txBody>
      </p:sp>
      <p:sp>
        <p:nvSpPr>
          <p:cNvPr id="22534" name="Text Box 5">
            <a:extLst>
              <a:ext uri="{FF2B5EF4-FFF2-40B4-BE49-F238E27FC236}">
                <a16:creationId xmlns:a16="http://schemas.microsoft.com/office/drawing/2014/main" id="{72C0630D-7E7B-4E8D-BA41-895E7DED2157}"/>
              </a:ext>
            </a:extLst>
          </p:cNvPr>
          <p:cNvSpPr txBox="1">
            <a:spLocks noChangeArrowheads="1"/>
          </p:cNvSpPr>
          <p:nvPr/>
        </p:nvSpPr>
        <p:spPr bwMode="auto">
          <a:xfrm>
            <a:off x="1828800" y="4572000"/>
            <a:ext cx="4876800" cy="804863"/>
          </a:xfrm>
          <a:prstGeom prst="rect">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457200" algn="l"/>
                <a:tab pos="394493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94493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94493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94493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9449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944938" algn="l"/>
              </a:tabLst>
              <a:defRPr sz="2000">
                <a:solidFill>
                  <a:schemeClr val="tx1"/>
                </a:solidFill>
                <a:latin typeface="Times New Roman" panose="02020603050405020304" pitchFamily="18" charset="0"/>
              </a:defRPr>
            </a:lvl9pPr>
          </a:lstStyle>
          <a:p>
            <a:pPr eaLnBrk="1" hangingPunct="1">
              <a:lnSpc>
                <a:spcPct val="70000"/>
              </a:lnSpc>
              <a:spcBef>
                <a:spcPct val="50000"/>
              </a:spcBef>
              <a:buClrTx/>
              <a:buFontTx/>
              <a:buNone/>
            </a:pPr>
            <a:r>
              <a:rPr lang="en-US" altLang="en-US" sz="1800" b="1">
                <a:solidFill>
                  <a:schemeClr val="bg2"/>
                </a:solidFill>
                <a:latin typeface="Courier New" panose="02070309020205020404" pitchFamily="49" charset="0"/>
              </a:rPr>
              <a:t>SHRD </a:t>
            </a:r>
            <a:r>
              <a:rPr lang="en-US" altLang="en-US" sz="1800" b="1" i="1">
                <a:solidFill>
                  <a:schemeClr val="bg2"/>
                </a:solidFill>
                <a:latin typeface="Courier New" panose="02070309020205020404" pitchFamily="49" charset="0"/>
              </a:rPr>
              <a:t>reg16/32</a:t>
            </a:r>
            <a:r>
              <a:rPr lang="en-US" altLang="en-US" sz="1800" b="1">
                <a:solidFill>
                  <a:schemeClr val="bg2"/>
                </a:solidFill>
                <a:latin typeface="Courier New" panose="02070309020205020404" pitchFamily="49" charset="0"/>
              </a:rPr>
              <a:t>, </a:t>
            </a:r>
            <a:r>
              <a:rPr lang="en-US" altLang="en-US" sz="1800" b="1" i="1">
                <a:solidFill>
                  <a:schemeClr val="bg2"/>
                </a:solidFill>
                <a:latin typeface="Courier New" panose="02070309020205020404" pitchFamily="49" charset="0"/>
              </a:rPr>
              <a:t>reg16/32, imm8</a:t>
            </a:r>
            <a:r>
              <a:rPr lang="en-US" altLang="en-US" sz="1800" b="1">
                <a:solidFill>
                  <a:schemeClr val="bg2"/>
                </a:solidFill>
                <a:latin typeface="Courier New" panose="02070309020205020404" pitchFamily="49" charset="0"/>
              </a:rPr>
              <a:t>/CL</a:t>
            </a:r>
          </a:p>
          <a:p>
            <a:pPr eaLnBrk="1" hangingPunct="1">
              <a:lnSpc>
                <a:spcPct val="70000"/>
              </a:lnSpc>
              <a:spcBef>
                <a:spcPct val="50000"/>
              </a:spcBef>
              <a:buClrTx/>
              <a:buFontTx/>
              <a:buNone/>
            </a:pPr>
            <a:r>
              <a:rPr lang="en-US" altLang="en-US" sz="1800" b="1">
                <a:solidFill>
                  <a:schemeClr val="bg2"/>
                </a:solidFill>
                <a:latin typeface="Courier New" panose="02070309020205020404" pitchFamily="49" charset="0"/>
              </a:rPr>
              <a:t>SHRD </a:t>
            </a:r>
            <a:r>
              <a:rPr lang="en-US" altLang="en-US" sz="1800" b="1" i="1">
                <a:solidFill>
                  <a:schemeClr val="bg2"/>
                </a:solidFill>
                <a:latin typeface="Courier New" panose="02070309020205020404" pitchFamily="49" charset="0"/>
              </a:rPr>
              <a:t>mem16/32, reg16/32, imm8</a:t>
            </a:r>
            <a:r>
              <a:rPr lang="en-US" altLang="en-US" sz="1800" b="1">
                <a:solidFill>
                  <a:schemeClr val="bg2"/>
                </a:solidFill>
                <a:latin typeface="Courier New" panose="02070309020205020404" pitchFamily="49" charset="0"/>
              </a:rPr>
              <a:t>/CL</a:t>
            </a:r>
            <a:endParaRPr lang="en-US" altLang="en-US" sz="1800" b="1" i="1">
              <a:solidFill>
                <a:schemeClr val="bg2"/>
              </a:solidFill>
              <a:latin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E77B06B9-9ACD-44EC-BF0E-54B0F6889DD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3555" name="Slide Number Placeholder 4">
            <a:extLst>
              <a:ext uri="{FF2B5EF4-FFF2-40B4-BE49-F238E27FC236}">
                <a16:creationId xmlns:a16="http://schemas.microsoft.com/office/drawing/2014/main" id="{DCC85347-A045-4AB3-A079-5B860693488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656F031A-FCFE-47C1-B81D-702DEF1BCCC7}" type="slidenum">
              <a:rPr lang="en-US" altLang="en-US" sz="1600">
                <a:latin typeface="Times New Roman" panose="02020603050405020304" pitchFamily="18" charset="0"/>
              </a:rPr>
              <a:pPr eaLnBrk="1" hangingPunct="1">
                <a:spcBef>
                  <a:spcPct val="0"/>
                </a:spcBef>
                <a:buClrTx/>
                <a:buFontTx/>
                <a:buNone/>
              </a:pPr>
              <a:t>17</a:t>
            </a:fld>
            <a:endParaRPr lang="en-US" altLang="en-US" sz="1600">
              <a:latin typeface="Times New Roman" panose="02020603050405020304" pitchFamily="18" charset="0"/>
            </a:endParaRPr>
          </a:p>
        </p:txBody>
      </p:sp>
      <p:sp>
        <p:nvSpPr>
          <p:cNvPr id="171010" name="Rectangle 2">
            <a:extLst>
              <a:ext uri="{FF2B5EF4-FFF2-40B4-BE49-F238E27FC236}">
                <a16:creationId xmlns:a16="http://schemas.microsoft.com/office/drawing/2014/main" id="{909E5230-2845-4D2C-A83A-7E25AB2E4EAA}"/>
              </a:ext>
            </a:extLst>
          </p:cNvPr>
          <p:cNvSpPr>
            <a:spLocks noGrp="1" noChangeArrowheads="1"/>
          </p:cNvSpPr>
          <p:nvPr>
            <p:ph type="title"/>
          </p:nvPr>
        </p:nvSpPr>
        <p:spPr/>
        <p:txBody>
          <a:bodyPr/>
          <a:lstStyle/>
          <a:p>
            <a:pPr eaLnBrk="1" hangingPunct="1">
              <a:defRPr/>
            </a:pPr>
            <a:r>
              <a:rPr lang="en-US" altLang="en-US"/>
              <a:t>SHRD Example</a:t>
            </a:r>
          </a:p>
        </p:txBody>
      </p:sp>
      <p:sp>
        <p:nvSpPr>
          <p:cNvPr id="23557" name="Rectangle 3">
            <a:extLst>
              <a:ext uri="{FF2B5EF4-FFF2-40B4-BE49-F238E27FC236}">
                <a16:creationId xmlns:a16="http://schemas.microsoft.com/office/drawing/2014/main" id="{00F369FB-F916-49BB-9BF9-77F4464EEB49}"/>
              </a:ext>
            </a:extLst>
          </p:cNvPr>
          <p:cNvSpPr>
            <a:spLocks noGrp="1" noChangeArrowheads="1"/>
          </p:cNvSpPr>
          <p:nvPr>
            <p:ph type="body" idx="1"/>
          </p:nvPr>
        </p:nvSpPr>
        <p:spPr>
          <a:xfrm>
            <a:off x="685800" y="1143000"/>
            <a:ext cx="7772400" cy="1600200"/>
          </a:xfrm>
        </p:spPr>
        <p:txBody>
          <a:bodyPr/>
          <a:lstStyle/>
          <a:p>
            <a:pPr eaLnBrk="1" hangingPunct="1">
              <a:lnSpc>
                <a:spcPct val="90000"/>
              </a:lnSpc>
              <a:buFontTx/>
              <a:buNone/>
            </a:pPr>
            <a:r>
              <a:rPr lang="en-US" altLang="en-US"/>
              <a:t>Shift count of 1:</a:t>
            </a:r>
          </a:p>
          <a:p>
            <a:pPr eaLnBrk="1" hangingPunct="1">
              <a:lnSpc>
                <a:spcPct val="90000"/>
              </a:lnSpc>
              <a:buFontTx/>
              <a:buNone/>
            </a:pPr>
            <a:r>
              <a:rPr lang="en-US" altLang="en-US"/>
              <a:t>	</a:t>
            </a:r>
            <a:r>
              <a:rPr lang="en-US" altLang="en-US" sz="2000" b="1">
                <a:latin typeface="Courier New" panose="02070309020205020404" pitchFamily="49" charset="0"/>
              </a:rPr>
              <a:t>	mov al,11000001b</a:t>
            </a:r>
          </a:p>
          <a:p>
            <a:pPr eaLnBrk="1" hangingPunct="1">
              <a:lnSpc>
                <a:spcPct val="90000"/>
              </a:lnSpc>
              <a:buFontTx/>
              <a:buNone/>
            </a:pPr>
            <a:r>
              <a:rPr lang="en-US" altLang="en-US" sz="2000" b="1">
                <a:latin typeface="Courier New" panose="02070309020205020404" pitchFamily="49" charset="0"/>
              </a:rPr>
              <a:t>		mov bl,00011101b</a:t>
            </a:r>
          </a:p>
          <a:p>
            <a:pPr eaLnBrk="1" hangingPunct="1">
              <a:lnSpc>
                <a:spcPct val="90000"/>
              </a:lnSpc>
              <a:buFontTx/>
              <a:buNone/>
            </a:pPr>
            <a:r>
              <a:rPr lang="en-US" altLang="en-US" sz="2000" b="1">
                <a:latin typeface="Courier New" panose="02070309020205020404" pitchFamily="49" charset="0"/>
              </a:rPr>
              <a:t>		shrd al,bl,1</a:t>
            </a:r>
          </a:p>
        </p:txBody>
      </p:sp>
      <p:pic>
        <p:nvPicPr>
          <p:cNvPr id="23558" name="Picture 5">
            <a:extLst>
              <a:ext uri="{FF2B5EF4-FFF2-40B4-BE49-F238E27FC236}">
                <a16:creationId xmlns:a16="http://schemas.microsoft.com/office/drawing/2014/main" id="{C9C21777-04F9-4B6B-A59B-5205B400B8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124200"/>
            <a:ext cx="6196013" cy="205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622378FB-2802-47F3-A616-42F4565D35B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6627" name="Slide Number Placeholder 4">
            <a:extLst>
              <a:ext uri="{FF2B5EF4-FFF2-40B4-BE49-F238E27FC236}">
                <a16:creationId xmlns:a16="http://schemas.microsoft.com/office/drawing/2014/main" id="{54A9843D-515C-45B8-BC7A-7248A04A644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2E2A564-ACD2-4DF3-8E06-EDEEBD292F5D}" type="slidenum">
              <a:rPr lang="en-US" altLang="en-US" sz="1600">
                <a:latin typeface="Times New Roman" panose="02020603050405020304" pitchFamily="18" charset="0"/>
              </a:rPr>
              <a:pPr eaLnBrk="1" hangingPunct="1">
                <a:spcBef>
                  <a:spcPct val="0"/>
                </a:spcBef>
                <a:buClrTx/>
                <a:buFontTx/>
                <a:buNone/>
              </a:pPr>
              <a:t>18</a:t>
            </a:fld>
            <a:endParaRPr lang="en-US" altLang="en-US" sz="1600">
              <a:latin typeface="Times New Roman" panose="02020603050405020304" pitchFamily="18" charset="0"/>
            </a:endParaRPr>
          </a:p>
        </p:txBody>
      </p:sp>
      <p:sp>
        <p:nvSpPr>
          <p:cNvPr id="162818" name="Rectangle 2">
            <a:extLst>
              <a:ext uri="{FF2B5EF4-FFF2-40B4-BE49-F238E27FC236}">
                <a16:creationId xmlns:a16="http://schemas.microsoft.com/office/drawing/2014/main" id="{80EAC56E-094C-4C2B-A340-C6F9213D1DE7}"/>
              </a:ext>
            </a:extLst>
          </p:cNvPr>
          <p:cNvSpPr>
            <a:spLocks noGrp="1" noChangeArrowheads="1"/>
          </p:cNvSpPr>
          <p:nvPr>
            <p:ph type="title"/>
          </p:nvPr>
        </p:nvSpPr>
        <p:spPr/>
        <p:txBody>
          <a:bodyPr/>
          <a:lstStyle/>
          <a:p>
            <a:pPr eaLnBrk="1" hangingPunct="1">
              <a:defRPr/>
            </a:pPr>
            <a:r>
              <a:rPr lang="en-US" altLang="en-US"/>
              <a:t>What's Next</a:t>
            </a:r>
          </a:p>
        </p:txBody>
      </p:sp>
      <p:sp>
        <p:nvSpPr>
          <p:cNvPr id="26629" name="Rectangle 3">
            <a:extLst>
              <a:ext uri="{FF2B5EF4-FFF2-40B4-BE49-F238E27FC236}">
                <a16:creationId xmlns:a16="http://schemas.microsoft.com/office/drawing/2014/main" id="{1237BFB8-6950-4AB2-BF09-1605577AE441}"/>
              </a:ext>
            </a:extLst>
          </p:cNvPr>
          <p:cNvSpPr>
            <a:spLocks noGrp="1" noChangeArrowheads="1"/>
          </p:cNvSpPr>
          <p:nvPr>
            <p:ph type="body" idx="1"/>
          </p:nvPr>
        </p:nvSpPr>
        <p:spPr>
          <a:xfrm>
            <a:off x="1295400" y="1600200"/>
            <a:ext cx="6934200" cy="2819400"/>
          </a:xfrm>
        </p:spPr>
        <p:txBody>
          <a:bodyPr/>
          <a:lstStyle/>
          <a:p>
            <a:pPr eaLnBrk="1" hangingPunct="1"/>
            <a:r>
              <a:rPr lang="en-US" altLang="en-US"/>
              <a:t>Shift and Rotate Instructions</a:t>
            </a:r>
          </a:p>
          <a:p>
            <a:pPr eaLnBrk="1" hangingPunct="1"/>
            <a:r>
              <a:rPr lang="en-US" altLang="en-US" b="1">
                <a:solidFill>
                  <a:schemeClr val="tx2"/>
                </a:solidFill>
              </a:rPr>
              <a:t>Shift and Rotate Applications</a:t>
            </a:r>
          </a:p>
          <a:p>
            <a:pPr eaLnBrk="1" hangingPunct="1"/>
            <a:r>
              <a:rPr lang="en-US" altLang="en-US"/>
              <a:t>Multiplication and Division Instructions</a:t>
            </a:r>
          </a:p>
          <a:p>
            <a:pPr eaLnBrk="1" hangingPunct="1"/>
            <a:r>
              <a:rPr lang="en-US" altLang="en-US"/>
              <a:t>Extended Addition and Subtraction</a:t>
            </a:r>
          </a:p>
          <a:p>
            <a:pPr eaLnBrk="1" hangingPunct="1"/>
            <a:r>
              <a:rPr lang="en-US" altLang="en-US"/>
              <a:t>ASCII and Unpacked Decimal Arithmetic</a:t>
            </a:r>
          </a:p>
          <a:p>
            <a:pPr eaLnBrk="1" hangingPunct="1"/>
            <a:r>
              <a:rPr lang="en-US" altLang="en-US"/>
              <a:t>Packed Decimal Arithmetic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B768B860-CBE6-4E2C-A4BD-D4A601CD63F2}"/>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7651" name="Slide Number Placeholder 4">
            <a:extLst>
              <a:ext uri="{FF2B5EF4-FFF2-40B4-BE49-F238E27FC236}">
                <a16:creationId xmlns:a16="http://schemas.microsoft.com/office/drawing/2014/main" id="{9CC2A260-B93E-4733-AD05-5449C961F1E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AEFF9B2-23A1-47B2-B1AC-E0BBB5451C4B}" type="slidenum">
              <a:rPr lang="en-US" altLang="en-US" sz="1600">
                <a:latin typeface="Times New Roman" panose="02020603050405020304" pitchFamily="18" charset="0"/>
              </a:rPr>
              <a:pPr eaLnBrk="1" hangingPunct="1">
                <a:spcBef>
                  <a:spcPct val="0"/>
                </a:spcBef>
                <a:buClrTx/>
                <a:buFontTx/>
                <a:buNone/>
              </a:pPr>
              <a:t>19</a:t>
            </a:fld>
            <a:endParaRPr lang="en-US" altLang="en-US" sz="1600">
              <a:latin typeface="Times New Roman" panose="02020603050405020304" pitchFamily="18" charset="0"/>
            </a:endParaRPr>
          </a:p>
        </p:txBody>
      </p:sp>
      <p:sp>
        <p:nvSpPr>
          <p:cNvPr id="79874" name="Rectangle 2">
            <a:extLst>
              <a:ext uri="{FF2B5EF4-FFF2-40B4-BE49-F238E27FC236}">
                <a16:creationId xmlns:a16="http://schemas.microsoft.com/office/drawing/2014/main" id="{945D9D38-1875-4609-9937-AE3382470D64}"/>
              </a:ext>
            </a:extLst>
          </p:cNvPr>
          <p:cNvSpPr>
            <a:spLocks noGrp="1" noChangeArrowheads="1"/>
          </p:cNvSpPr>
          <p:nvPr>
            <p:ph type="title"/>
          </p:nvPr>
        </p:nvSpPr>
        <p:spPr/>
        <p:txBody>
          <a:bodyPr/>
          <a:lstStyle/>
          <a:p>
            <a:pPr eaLnBrk="1" hangingPunct="1">
              <a:defRPr/>
            </a:pPr>
            <a:r>
              <a:rPr lang="en-US" altLang="en-US"/>
              <a:t>Shift and Rotate Applications</a:t>
            </a:r>
          </a:p>
        </p:txBody>
      </p:sp>
      <p:sp>
        <p:nvSpPr>
          <p:cNvPr id="27653" name="Rectangle 3">
            <a:extLst>
              <a:ext uri="{FF2B5EF4-FFF2-40B4-BE49-F238E27FC236}">
                <a16:creationId xmlns:a16="http://schemas.microsoft.com/office/drawing/2014/main" id="{DB5CB856-A982-4014-B1A8-2D9CCE1AE587}"/>
              </a:ext>
            </a:extLst>
          </p:cNvPr>
          <p:cNvSpPr>
            <a:spLocks noGrp="1" noChangeArrowheads="1"/>
          </p:cNvSpPr>
          <p:nvPr>
            <p:ph type="body" idx="1"/>
          </p:nvPr>
        </p:nvSpPr>
        <p:spPr>
          <a:xfrm>
            <a:off x="1828800" y="1600200"/>
            <a:ext cx="6324600" cy="2743200"/>
          </a:xfrm>
        </p:spPr>
        <p:txBody>
          <a:bodyPr/>
          <a:lstStyle/>
          <a:p>
            <a:pPr eaLnBrk="1" hangingPunct="1"/>
            <a:r>
              <a:rPr lang="en-US" altLang="en-US"/>
              <a:t>Shifting Multiple Doublewords </a:t>
            </a:r>
          </a:p>
          <a:p>
            <a:pPr eaLnBrk="1" hangingPunct="1"/>
            <a:r>
              <a:rPr lang="en-US" altLang="en-US"/>
              <a:t>Binary Multiplication </a:t>
            </a:r>
          </a:p>
          <a:p>
            <a:pPr eaLnBrk="1" hangingPunct="1"/>
            <a:r>
              <a:rPr lang="en-US" altLang="en-US"/>
              <a:t>Displaying Binary Bits </a:t>
            </a:r>
          </a:p>
          <a:p>
            <a:pPr eaLnBrk="1" hangingPunct="1"/>
            <a:r>
              <a:rPr lang="en-US" altLang="en-US"/>
              <a:t>Isolating a Bit String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a:extLst>
              <a:ext uri="{FF2B5EF4-FFF2-40B4-BE49-F238E27FC236}">
                <a16:creationId xmlns:a16="http://schemas.microsoft.com/office/drawing/2014/main" id="{243D4AC7-5539-4DCB-94A9-F7E2BC2A25C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28675" name="Slide Number Placeholder 4">
            <a:extLst>
              <a:ext uri="{FF2B5EF4-FFF2-40B4-BE49-F238E27FC236}">
                <a16:creationId xmlns:a16="http://schemas.microsoft.com/office/drawing/2014/main" id="{67B40BB9-1435-4334-9CA8-057B271153BA}"/>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7479DD6A-6D41-4071-82FE-E077BC355045}" type="slidenum">
              <a:rPr lang="en-US" altLang="en-US" sz="1600">
                <a:latin typeface="Times New Roman" panose="02020603050405020304" pitchFamily="18" charset="0"/>
              </a:rPr>
              <a:pPr eaLnBrk="1" hangingPunct="1">
                <a:spcBef>
                  <a:spcPct val="0"/>
                </a:spcBef>
                <a:buClrTx/>
                <a:buFontTx/>
                <a:buNone/>
              </a:pPr>
              <a:t>20</a:t>
            </a:fld>
            <a:endParaRPr lang="en-US" altLang="en-US" sz="1600">
              <a:latin typeface="Times New Roman" panose="02020603050405020304" pitchFamily="18" charset="0"/>
            </a:endParaRPr>
          </a:p>
        </p:txBody>
      </p:sp>
      <p:sp>
        <p:nvSpPr>
          <p:cNvPr id="94210" name="Rectangle 2">
            <a:extLst>
              <a:ext uri="{FF2B5EF4-FFF2-40B4-BE49-F238E27FC236}">
                <a16:creationId xmlns:a16="http://schemas.microsoft.com/office/drawing/2014/main" id="{960BDF2F-C9C8-4314-9B54-52EFEC836855}"/>
              </a:ext>
            </a:extLst>
          </p:cNvPr>
          <p:cNvSpPr>
            <a:spLocks noGrp="1" noChangeArrowheads="1"/>
          </p:cNvSpPr>
          <p:nvPr>
            <p:ph type="title"/>
          </p:nvPr>
        </p:nvSpPr>
        <p:spPr/>
        <p:txBody>
          <a:bodyPr/>
          <a:lstStyle/>
          <a:p>
            <a:pPr eaLnBrk="1" hangingPunct="1">
              <a:defRPr/>
            </a:pPr>
            <a:r>
              <a:rPr lang="en-US" altLang="en-US"/>
              <a:t>Shifting Multiple Doublewords</a:t>
            </a:r>
          </a:p>
        </p:txBody>
      </p:sp>
      <p:sp>
        <p:nvSpPr>
          <p:cNvPr id="28677" name="Rectangle 3">
            <a:extLst>
              <a:ext uri="{FF2B5EF4-FFF2-40B4-BE49-F238E27FC236}">
                <a16:creationId xmlns:a16="http://schemas.microsoft.com/office/drawing/2014/main" id="{61DFE6D9-8DB1-4325-898B-9E6808591788}"/>
              </a:ext>
            </a:extLst>
          </p:cNvPr>
          <p:cNvSpPr>
            <a:spLocks noGrp="1" noChangeArrowheads="1"/>
          </p:cNvSpPr>
          <p:nvPr>
            <p:ph type="body" idx="1"/>
          </p:nvPr>
        </p:nvSpPr>
        <p:spPr>
          <a:xfrm>
            <a:off x="685800" y="1143000"/>
            <a:ext cx="7772400" cy="2057400"/>
          </a:xfrm>
        </p:spPr>
        <p:txBody>
          <a:bodyPr/>
          <a:lstStyle/>
          <a:p>
            <a:pPr eaLnBrk="1" hangingPunct="1"/>
            <a:r>
              <a:rPr lang="en-US" altLang="en-US"/>
              <a:t>Programs sometimes need to shift all bits within an array, as one might when moving a bitmapped graphic image from one screen location to another.</a:t>
            </a:r>
          </a:p>
          <a:p>
            <a:pPr eaLnBrk="1" hangingPunct="1"/>
            <a:r>
              <a:rPr lang="en-US" altLang="en-US"/>
              <a:t>The following shifts an array of 3 doublewords 1 bit to the right (view complete </a:t>
            </a:r>
            <a:r>
              <a:rPr lang="en-US" altLang="en-US">
                <a:hlinkClick r:id="rId2" action="ppaction://hlinkfile"/>
              </a:rPr>
              <a:t>source code</a:t>
            </a:r>
            <a:r>
              <a:rPr lang="en-US" altLang="en-US"/>
              <a:t>):</a:t>
            </a:r>
          </a:p>
        </p:txBody>
      </p:sp>
      <p:sp>
        <p:nvSpPr>
          <p:cNvPr id="28678" name="Text Box 4">
            <a:extLst>
              <a:ext uri="{FF2B5EF4-FFF2-40B4-BE49-F238E27FC236}">
                <a16:creationId xmlns:a16="http://schemas.microsoft.com/office/drawing/2014/main" id="{84DF279F-41E3-45AB-9B3C-7D7189D9B77F}"/>
              </a:ext>
            </a:extLst>
          </p:cNvPr>
          <p:cNvSpPr txBox="1">
            <a:spLocks noChangeArrowheads="1"/>
          </p:cNvSpPr>
          <p:nvPr/>
        </p:nvSpPr>
        <p:spPr bwMode="auto">
          <a:xfrm>
            <a:off x="533400" y="3276600"/>
            <a:ext cx="8229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ArraySize = 3</a:t>
            </a:r>
          </a:p>
          <a:p>
            <a:pPr eaLnBrk="1" hangingPunct="1">
              <a:lnSpc>
                <a:spcPct val="50000"/>
              </a:lnSpc>
              <a:spcBef>
                <a:spcPct val="50000"/>
              </a:spcBef>
              <a:buClrTx/>
              <a:buFontTx/>
              <a:buNone/>
            </a:pPr>
            <a:r>
              <a:rPr lang="en-US" altLang="en-US" sz="1800" b="1">
                <a:latin typeface="Courier New" panose="02070309020205020404" pitchFamily="49" charset="0"/>
              </a:rPr>
              <a:t>array DWORD ArraySize DUP(99999999h)      ; 1001 1001...</a:t>
            </a:r>
          </a:p>
          <a:p>
            <a:pPr eaLnBrk="1" hangingPunct="1">
              <a:lnSpc>
                <a:spcPct val="50000"/>
              </a:lnSpc>
              <a:spcBef>
                <a:spcPct val="50000"/>
              </a:spcBef>
              <a:buClrTx/>
              <a:buFontTx/>
              <a:buNone/>
            </a:pPr>
            <a:r>
              <a:rPr lang="en-US" altLang="en-US" sz="1800" b="1">
                <a:latin typeface="Courier New" panose="02070309020205020404" pitchFamily="49" charset="0"/>
              </a:rPr>
              <a:t>.code</a:t>
            </a:r>
          </a:p>
          <a:p>
            <a:pPr eaLnBrk="1" hangingPunct="1">
              <a:lnSpc>
                <a:spcPct val="50000"/>
              </a:lnSpc>
              <a:spcBef>
                <a:spcPct val="50000"/>
              </a:spcBef>
              <a:buClrTx/>
              <a:buFontTx/>
              <a:buNone/>
            </a:pPr>
            <a:r>
              <a:rPr lang="en-US" altLang="en-US" sz="1800" b="1">
                <a:latin typeface="Courier New" panose="02070309020205020404" pitchFamily="49" charset="0"/>
              </a:rPr>
              <a:t>mov esi,0</a:t>
            </a:r>
          </a:p>
          <a:p>
            <a:pPr eaLnBrk="1" hangingPunct="1">
              <a:lnSpc>
                <a:spcPct val="50000"/>
              </a:lnSpc>
              <a:spcBef>
                <a:spcPct val="50000"/>
              </a:spcBef>
              <a:buClrTx/>
              <a:buFontTx/>
              <a:buNone/>
            </a:pPr>
            <a:r>
              <a:rPr lang="en-US" altLang="en-US" sz="1800" b="1">
                <a:latin typeface="Courier New" panose="02070309020205020404" pitchFamily="49" charset="0"/>
              </a:rPr>
              <a:t>shr array[esi + 8],1	; high dword</a:t>
            </a:r>
          </a:p>
          <a:p>
            <a:pPr eaLnBrk="1" hangingPunct="1">
              <a:lnSpc>
                <a:spcPct val="50000"/>
              </a:lnSpc>
              <a:spcBef>
                <a:spcPct val="50000"/>
              </a:spcBef>
              <a:buClrTx/>
              <a:buFontTx/>
              <a:buNone/>
            </a:pPr>
            <a:r>
              <a:rPr lang="en-US" altLang="en-US" sz="1800" b="1">
                <a:latin typeface="Courier New" panose="02070309020205020404" pitchFamily="49" charset="0"/>
              </a:rPr>
              <a:t>rcr array[esi + 4],1	; middle dword, include Carry</a:t>
            </a:r>
          </a:p>
          <a:p>
            <a:pPr eaLnBrk="1" hangingPunct="1">
              <a:lnSpc>
                <a:spcPct val="50000"/>
              </a:lnSpc>
              <a:spcBef>
                <a:spcPct val="50000"/>
              </a:spcBef>
              <a:buClrTx/>
              <a:buFontTx/>
              <a:buNone/>
            </a:pPr>
            <a:r>
              <a:rPr lang="en-US" altLang="en-US" sz="1800" b="1">
                <a:latin typeface="Courier New" panose="02070309020205020404" pitchFamily="49" charset="0"/>
              </a:rPr>
              <a:t>rcr array[esi],1	; low dword, include Carry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91986C1D-309F-4F70-89A3-FA16FA7AA34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3795" name="Slide Number Placeholder 4">
            <a:extLst>
              <a:ext uri="{FF2B5EF4-FFF2-40B4-BE49-F238E27FC236}">
                <a16:creationId xmlns:a16="http://schemas.microsoft.com/office/drawing/2014/main" id="{9B8CDBDC-44C4-42F4-9AD2-30C75D0FD507}"/>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46D8B68-3777-481A-B30A-4C5E47E8B72F}" type="slidenum">
              <a:rPr lang="en-US" altLang="en-US" sz="1600">
                <a:latin typeface="Times New Roman" panose="02020603050405020304" pitchFamily="18" charset="0"/>
              </a:rPr>
              <a:pPr eaLnBrk="1" hangingPunct="1">
                <a:spcBef>
                  <a:spcPct val="0"/>
                </a:spcBef>
                <a:buClrTx/>
                <a:buFontTx/>
                <a:buNone/>
              </a:pPr>
              <a:t>21</a:t>
            </a:fld>
            <a:endParaRPr lang="en-US" altLang="en-US" sz="1600">
              <a:latin typeface="Times New Roman" panose="02020603050405020304" pitchFamily="18" charset="0"/>
            </a:endParaRPr>
          </a:p>
        </p:txBody>
      </p:sp>
      <p:sp>
        <p:nvSpPr>
          <p:cNvPr id="97282" name="Rectangle 2">
            <a:extLst>
              <a:ext uri="{FF2B5EF4-FFF2-40B4-BE49-F238E27FC236}">
                <a16:creationId xmlns:a16="http://schemas.microsoft.com/office/drawing/2014/main" id="{B4C9B203-7CA4-4ACE-B993-9861B5596E9E}"/>
              </a:ext>
            </a:extLst>
          </p:cNvPr>
          <p:cNvSpPr>
            <a:spLocks noGrp="1" noChangeArrowheads="1"/>
          </p:cNvSpPr>
          <p:nvPr>
            <p:ph type="title"/>
          </p:nvPr>
        </p:nvSpPr>
        <p:spPr/>
        <p:txBody>
          <a:bodyPr/>
          <a:lstStyle/>
          <a:p>
            <a:pPr eaLnBrk="1" hangingPunct="1">
              <a:defRPr/>
            </a:pPr>
            <a:r>
              <a:rPr lang="en-US" altLang="en-US"/>
              <a:t>Isolating a Bit String</a:t>
            </a:r>
          </a:p>
        </p:txBody>
      </p:sp>
      <p:sp>
        <p:nvSpPr>
          <p:cNvPr id="33797" name="Rectangle 3">
            <a:extLst>
              <a:ext uri="{FF2B5EF4-FFF2-40B4-BE49-F238E27FC236}">
                <a16:creationId xmlns:a16="http://schemas.microsoft.com/office/drawing/2014/main" id="{EFF87776-63F7-4891-9AAB-99D183B1F50A}"/>
              </a:ext>
            </a:extLst>
          </p:cNvPr>
          <p:cNvSpPr>
            <a:spLocks noGrp="1" noChangeArrowheads="1"/>
          </p:cNvSpPr>
          <p:nvPr>
            <p:ph type="body" idx="1"/>
          </p:nvPr>
        </p:nvSpPr>
        <p:spPr>
          <a:xfrm>
            <a:off x="685800" y="1143000"/>
            <a:ext cx="7772400" cy="990600"/>
          </a:xfrm>
        </p:spPr>
        <p:txBody>
          <a:bodyPr/>
          <a:lstStyle/>
          <a:p>
            <a:pPr eaLnBrk="1" hangingPunct="1"/>
            <a:r>
              <a:rPr lang="en-US" altLang="en-US"/>
              <a:t>The MS-DOS file date field packs the year, month, and day into 16 bits:</a:t>
            </a:r>
          </a:p>
        </p:txBody>
      </p:sp>
      <p:graphicFrame>
        <p:nvGraphicFramePr>
          <p:cNvPr id="33798" name="Object 4">
            <a:extLst>
              <a:ext uri="{FF2B5EF4-FFF2-40B4-BE49-F238E27FC236}">
                <a16:creationId xmlns:a16="http://schemas.microsoft.com/office/drawing/2014/main" id="{8D435EE1-996C-4095-A6DF-53F6D2909935}"/>
              </a:ext>
            </a:extLst>
          </p:cNvPr>
          <p:cNvGraphicFramePr>
            <a:graphicFrameLocks noChangeAspect="1"/>
          </p:cNvGraphicFramePr>
          <p:nvPr/>
        </p:nvGraphicFramePr>
        <p:xfrm>
          <a:off x="1978025" y="2133600"/>
          <a:ext cx="5264150" cy="1720850"/>
        </p:xfrm>
        <a:graphic>
          <a:graphicData uri="http://schemas.openxmlformats.org/presentationml/2006/ole">
            <mc:AlternateContent xmlns:mc="http://schemas.openxmlformats.org/markup-compatibility/2006">
              <mc:Choice xmlns:v="urn:schemas-microsoft-com:vml" Requires="v">
                <p:oleObj spid="_x0000_s35841" name="VISIO" r:id="rId3" imgW="3745992" imgH="1094232" progId="Visio.Drawing.6">
                  <p:embed/>
                </p:oleObj>
              </mc:Choice>
              <mc:Fallback>
                <p:oleObj name="VISIO" r:id="rId3" imgW="3745992" imgH="109423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5132" r="5132"/>
                      <a:stretch>
                        <a:fillRect/>
                      </a:stretch>
                    </p:blipFill>
                    <p:spPr bwMode="auto">
                      <a:xfrm>
                        <a:off x="1978025" y="2133600"/>
                        <a:ext cx="5264150" cy="1720850"/>
                      </a:xfrm>
                      <a:prstGeom prst="rect">
                        <a:avLst/>
                      </a:prstGeom>
                      <a:solidFill>
                        <a:schemeClr val="accent1"/>
                      </a:solidFill>
                      <a:ln>
                        <a:noFill/>
                      </a:ln>
                      <a:effectLst/>
                      <a:extLst>
                        <a:ext uri="{91240B29-F687-4F45-9708-019B960494DF}">
                          <a14:hiddenLine xmlns:a14="http://schemas.microsoft.com/office/drawing/2010/main" w="1905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7287" name="Group 7">
            <a:extLst>
              <a:ext uri="{FF2B5EF4-FFF2-40B4-BE49-F238E27FC236}">
                <a16:creationId xmlns:a16="http://schemas.microsoft.com/office/drawing/2014/main" id="{E6CD8C5A-4626-415E-82A6-70729C8E4DC5}"/>
              </a:ext>
            </a:extLst>
          </p:cNvPr>
          <p:cNvGrpSpPr>
            <a:grpSpLocks/>
          </p:cNvGrpSpPr>
          <p:nvPr/>
        </p:nvGrpSpPr>
        <p:grpSpPr bwMode="auto">
          <a:xfrm>
            <a:off x="457200" y="3962400"/>
            <a:ext cx="7848600" cy="1851025"/>
            <a:chOff x="288" y="2496"/>
            <a:chExt cx="4944" cy="1166"/>
          </a:xfrm>
        </p:grpSpPr>
        <p:sp>
          <p:nvSpPr>
            <p:cNvPr id="33800" name="Text Box 5">
              <a:extLst>
                <a:ext uri="{FF2B5EF4-FFF2-40B4-BE49-F238E27FC236}">
                  <a16:creationId xmlns:a16="http://schemas.microsoft.com/office/drawing/2014/main" id="{ECC1D34B-7C13-4807-8224-C09C5A0EA212}"/>
                </a:ext>
              </a:extLst>
            </p:cNvPr>
            <p:cNvSpPr txBox="1">
              <a:spLocks noChangeArrowheads="1"/>
            </p:cNvSpPr>
            <p:nvPr/>
          </p:nvSpPr>
          <p:spPr bwMode="auto">
            <a:xfrm>
              <a:off x="624" y="2846"/>
              <a:ext cx="4608"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7600" algn="l"/>
                  <a:tab pos="41148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ax,dx	; make a copy of DX</a:t>
              </a:r>
            </a:p>
            <a:p>
              <a:pPr eaLnBrk="1" hangingPunct="1">
                <a:lnSpc>
                  <a:spcPct val="50000"/>
                </a:lnSpc>
                <a:spcBef>
                  <a:spcPct val="50000"/>
                </a:spcBef>
                <a:buClrTx/>
                <a:buFontTx/>
                <a:buNone/>
              </a:pPr>
              <a:r>
                <a:rPr lang="en-US" altLang="en-US" sz="1800" b="1">
                  <a:latin typeface="Courier New" panose="02070309020205020404" pitchFamily="49" charset="0"/>
                </a:rPr>
                <a:t>shr ax,5	; shift right 5 bits</a:t>
              </a:r>
            </a:p>
            <a:p>
              <a:pPr eaLnBrk="1" hangingPunct="1">
                <a:lnSpc>
                  <a:spcPct val="50000"/>
                </a:lnSpc>
                <a:spcBef>
                  <a:spcPct val="50000"/>
                </a:spcBef>
                <a:buClrTx/>
                <a:buFontTx/>
                <a:buNone/>
              </a:pPr>
              <a:r>
                <a:rPr lang="en-US" altLang="en-US" sz="1800" b="1">
                  <a:latin typeface="Courier New" panose="02070309020205020404" pitchFamily="49" charset="0"/>
                </a:rPr>
                <a:t>and al,00001111b	; clear bits 4-7</a:t>
              </a:r>
            </a:p>
            <a:p>
              <a:pPr eaLnBrk="1" hangingPunct="1">
                <a:lnSpc>
                  <a:spcPct val="50000"/>
                </a:lnSpc>
                <a:spcBef>
                  <a:spcPct val="50000"/>
                </a:spcBef>
                <a:buClrTx/>
                <a:buFontTx/>
                <a:buNone/>
              </a:pPr>
              <a:r>
                <a:rPr lang="en-US" altLang="en-US" sz="1800" b="1">
                  <a:latin typeface="Courier New" panose="02070309020205020404" pitchFamily="49" charset="0"/>
                </a:rPr>
                <a:t>mov month,al	; save in month variable</a:t>
              </a:r>
            </a:p>
          </p:txBody>
        </p:sp>
        <p:sp>
          <p:nvSpPr>
            <p:cNvPr id="33801" name="Text Box 6">
              <a:extLst>
                <a:ext uri="{FF2B5EF4-FFF2-40B4-BE49-F238E27FC236}">
                  <a16:creationId xmlns:a16="http://schemas.microsoft.com/office/drawing/2014/main" id="{CE9F7797-045A-44BE-A286-9B2C1D30A7BE}"/>
                </a:ext>
              </a:extLst>
            </p:cNvPr>
            <p:cNvSpPr txBox="1">
              <a:spLocks noChangeArrowheads="1"/>
            </p:cNvSpPr>
            <p:nvPr/>
          </p:nvSpPr>
          <p:spPr bwMode="auto">
            <a:xfrm>
              <a:off x="288" y="2496"/>
              <a:ext cx="216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Isolate the Month field: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7287"/>
                                        </p:tgtEl>
                                        <p:attrNameLst>
                                          <p:attrName>style.visibility</p:attrName>
                                        </p:attrNameLst>
                                      </p:cBhvr>
                                      <p:to>
                                        <p:strVal val="visible"/>
                                      </p:to>
                                    </p:set>
                                    <p:animEffect transition="in" filter="box(in)">
                                      <p:cBhvr>
                                        <p:cTn id="7"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A7A0E278-2A94-49CD-9F46-656C64ADC33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4819" name="Slide Number Placeholder 4">
            <a:extLst>
              <a:ext uri="{FF2B5EF4-FFF2-40B4-BE49-F238E27FC236}">
                <a16:creationId xmlns:a16="http://schemas.microsoft.com/office/drawing/2014/main" id="{788E898E-39F7-4D96-A863-4F79E891E3D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9D61557-DADC-40A7-A2B9-8BAC9A222A83}" type="slidenum">
              <a:rPr lang="en-US" altLang="en-US" sz="1600">
                <a:latin typeface="Times New Roman" panose="02020603050405020304" pitchFamily="18" charset="0"/>
              </a:rPr>
              <a:pPr eaLnBrk="1" hangingPunct="1">
                <a:spcBef>
                  <a:spcPct val="0"/>
                </a:spcBef>
                <a:buClrTx/>
                <a:buFontTx/>
                <a:buNone/>
              </a:pPr>
              <a:t>22</a:t>
            </a:fld>
            <a:endParaRPr lang="en-US" altLang="en-US" sz="1600">
              <a:latin typeface="Times New Roman" panose="02020603050405020304" pitchFamily="18" charset="0"/>
            </a:endParaRPr>
          </a:p>
        </p:txBody>
      </p:sp>
      <p:sp>
        <p:nvSpPr>
          <p:cNvPr id="163842" name="Rectangle 2">
            <a:extLst>
              <a:ext uri="{FF2B5EF4-FFF2-40B4-BE49-F238E27FC236}">
                <a16:creationId xmlns:a16="http://schemas.microsoft.com/office/drawing/2014/main" id="{10854633-7783-4C82-B9AD-75A7D6D8C689}"/>
              </a:ext>
            </a:extLst>
          </p:cNvPr>
          <p:cNvSpPr>
            <a:spLocks noGrp="1" noChangeArrowheads="1"/>
          </p:cNvSpPr>
          <p:nvPr>
            <p:ph type="title"/>
          </p:nvPr>
        </p:nvSpPr>
        <p:spPr/>
        <p:txBody>
          <a:bodyPr/>
          <a:lstStyle/>
          <a:p>
            <a:pPr eaLnBrk="1" hangingPunct="1">
              <a:defRPr/>
            </a:pPr>
            <a:r>
              <a:rPr lang="en-US" altLang="en-US"/>
              <a:t>What's Next</a:t>
            </a:r>
          </a:p>
        </p:txBody>
      </p:sp>
      <p:sp>
        <p:nvSpPr>
          <p:cNvPr id="34821" name="Rectangle 3">
            <a:extLst>
              <a:ext uri="{FF2B5EF4-FFF2-40B4-BE49-F238E27FC236}">
                <a16:creationId xmlns:a16="http://schemas.microsoft.com/office/drawing/2014/main" id="{63B7003B-0512-4ADF-B521-54B957528DFE}"/>
              </a:ext>
            </a:extLst>
          </p:cNvPr>
          <p:cNvSpPr>
            <a:spLocks noGrp="1" noChangeArrowheads="1"/>
          </p:cNvSpPr>
          <p:nvPr>
            <p:ph type="body" idx="1"/>
          </p:nvPr>
        </p:nvSpPr>
        <p:spPr>
          <a:xfrm>
            <a:off x="1295400" y="1600200"/>
            <a:ext cx="6934200" cy="2819400"/>
          </a:xfrm>
        </p:spPr>
        <p:txBody>
          <a:bodyPr/>
          <a:lstStyle/>
          <a:p>
            <a:pPr eaLnBrk="1" hangingPunct="1"/>
            <a:r>
              <a:rPr lang="en-US" altLang="en-US"/>
              <a:t>Shift and Rotate Instructions</a:t>
            </a:r>
          </a:p>
          <a:p>
            <a:pPr eaLnBrk="1" hangingPunct="1"/>
            <a:r>
              <a:rPr lang="en-US" altLang="en-US"/>
              <a:t>Shift and Rotate Applications</a:t>
            </a:r>
          </a:p>
          <a:p>
            <a:pPr eaLnBrk="1" hangingPunct="1"/>
            <a:r>
              <a:rPr lang="en-US" altLang="en-US" b="1">
                <a:solidFill>
                  <a:schemeClr val="tx2"/>
                </a:solidFill>
              </a:rPr>
              <a:t>Multiplication and Division Instructions</a:t>
            </a:r>
          </a:p>
          <a:p>
            <a:pPr eaLnBrk="1" hangingPunct="1"/>
            <a:r>
              <a:rPr lang="en-US" altLang="en-US"/>
              <a:t>Extended Addition and Subtraction</a:t>
            </a:r>
          </a:p>
          <a:p>
            <a:pPr eaLnBrk="1" hangingPunct="1"/>
            <a:r>
              <a:rPr lang="en-US" altLang="en-US"/>
              <a:t>ASCII and Unpacked Decimal Arithmetic</a:t>
            </a:r>
          </a:p>
          <a:p>
            <a:pPr eaLnBrk="1" hangingPunct="1"/>
            <a:r>
              <a:rPr lang="en-US" altLang="en-US"/>
              <a:t>Packed Decimal Arithmetic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30637A8E-D2A8-4CBE-8BB9-3375D113C17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5843" name="Slide Number Placeholder 4">
            <a:extLst>
              <a:ext uri="{FF2B5EF4-FFF2-40B4-BE49-F238E27FC236}">
                <a16:creationId xmlns:a16="http://schemas.microsoft.com/office/drawing/2014/main" id="{E2DBAF5D-A217-45B3-BAD0-16984905BB80}"/>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FB970D8-F108-41AB-8398-61686298E9DD}" type="slidenum">
              <a:rPr lang="en-US" altLang="en-US" sz="1600">
                <a:latin typeface="Times New Roman" panose="02020603050405020304" pitchFamily="18" charset="0"/>
              </a:rPr>
              <a:pPr eaLnBrk="1" hangingPunct="1">
                <a:spcBef>
                  <a:spcPct val="0"/>
                </a:spcBef>
                <a:buClrTx/>
                <a:buFontTx/>
                <a:buNone/>
              </a:pPr>
              <a:t>23</a:t>
            </a:fld>
            <a:endParaRPr lang="en-US" altLang="en-US" sz="1600">
              <a:latin typeface="Times New Roman" panose="02020603050405020304" pitchFamily="18" charset="0"/>
            </a:endParaRPr>
          </a:p>
        </p:txBody>
      </p:sp>
      <p:sp>
        <p:nvSpPr>
          <p:cNvPr id="80898" name="Rectangle 2">
            <a:extLst>
              <a:ext uri="{FF2B5EF4-FFF2-40B4-BE49-F238E27FC236}">
                <a16:creationId xmlns:a16="http://schemas.microsoft.com/office/drawing/2014/main" id="{F85F1906-1D1D-41C3-8508-28AA9436DC0A}"/>
              </a:ext>
            </a:extLst>
          </p:cNvPr>
          <p:cNvSpPr>
            <a:spLocks noGrp="1" noChangeArrowheads="1"/>
          </p:cNvSpPr>
          <p:nvPr>
            <p:ph type="title"/>
          </p:nvPr>
        </p:nvSpPr>
        <p:spPr/>
        <p:txBody>
          <a:bodyPr/>
          <a:lstStyle/>
          <a:p>
            <a:pPr eaLnBrk="1" hangingPunct="1">
              <a:defRPr/>
            </a:pPr>
            <a:r>
              <a:rPr lang="en-US" altLang="en-US"/>
              <a:t>Multiplication and Division Instructions</a:t>
            </a:r>
          </a:p>
        </p:txBody>
      </p:sp>
      <p:sp>
        <p:nvSpPr>
          <p:cNvPr id="35845" name="Rectangle 3">
            <a:extLst>
              <a:ext uri="{FF2B5EF4-FFF2-40B4-BE49-F238E27FC236}">
                <a16:creationId xmlns:a16="http://schemas.microsoft.com/office/drawing/2014/main" id="{DD4082EB-D2C6-49FB-9569-36B033045A34}"/>
              </a:ext>
            </a:extLst>
          </p:cNvPr>
          <p:cNvSpPr>
            <a:spLocks noGrp="1" noChangeArrowheads="1"/>
          </p:cNvSpPr>
          <p:nvPr>
            <p:ph type="body" idx="1"/>
          </p:nvPr>
        </p:nvSpPr>
        <p:spPr>
          <a:xfrm>
            <a:off x="1371600" y="1600200"/>
            <a:ext cx="6172200" cy="3505200"/>
          </a:xfrm>
        </p:spPr>
        <p:txBody>
          <a:bodyPr/>
          <a:lstStyle/>
          <a:p>
            <a:pPr eaLnBrk="1" hangingPunct="1"/>
            <a:r>
              <a:rPr lang="en-US" altLang="en-US"/>
              <a:t>MUL Instruction </a:t>
            </a:r>
          </a:p>
          <a:p>
            <a:pPr eaLnBrk="1" hangingPunct="1"/>
            <a:r>
              <a:rPr lang="en-US" altLang="en-US"/>
              <a:t>IMUL Instruction </a:t>
            </a:r>
          </a:p>
          <a:p>
            <a:pPr eaLnBrk="1" hangingPunct="1"/>
            <a:r>
              <a:rPr lang="en-US" altLang="en-US"/>
              <a:t>DIV Instruction </a:t>
            </a:r>
          </a:p>
          <a:p>
            <a:pPr eaLnBrk="1" hangingPunct="1"/>
            <a:r>
              <a:rPr lang="en-US" altLang="en-US"/>
              <a:t>Signed Integer Division</a:t>
            </a:r>
          </a:p>
          <a:p>
            <a:pPr eaLnBrk="1" hangingPunct="1"/>
            <a:r>
              <a:rPr lang="en-US" altLang="en-US"/>
              <a:t>CBW, CWD, CDQ Instructions</a:t>
            </a:r>
          </a:p>
          <a:p>
            <a:pPr eaLnBrk="1" hangingPunct="1"/>
            <a:r>
              <a:rPr lang="en-US" altLang="en-US"/>
              <a:t>IDIV Instruction </a:t>
            </a:r>
          </a:p>
          <a:p>
            <a:pPr eaLnBrk="1" hangingPunct="1"/>
            <a:r>
              <a:rPr lang="en-US" altLang="en-US"/>
              <a:t>Implementing Arithmetic Expressions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C4910EB3-EDBB-4BDB-B88E-9011ED3C27B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6867" name="Slide Number Placeholder 4">
            <a:extLst>
              <a:ext uri="{FF2B5EF4-FFF2-40B4-BE49-F238E27FC236}">
                <a16:creationId xmlns:a16="http://schemas.microsoft.com/office/drawing/2014/main" id="{198640F3-6A82-454E-B98E-925BF4E944A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B1731BB-E597-4FEC-9580-06EDB184B310}" type="slidenum">
              <a:rPr lang="en-US" altLang="en-US" sz="1600">
                <a:latin typeface="Times New Roman" panose="02020603050405020304" pitchFamily="18" charset="0"/>
              </a:rPr>
              <a:pPr eaLnBrk="1" hangingPunct="1">
                <a:spcBef>
                  <a:spcPct val="0"/>
                </a:spcBef>
                <a:buClrTx/>
                <a:buFontTx/>
                <a:buNone/>
              </a:pPr>
              <a:t>24</a:t>
            </a:fld>
            <a:endParaRPr lang="en-US" altLang="en-US" sz="1600">
              <a:latin typeface="Times New Roman" panose="02020603050405020304" pitchFamily="18" charset="0"/>
            </a:endParaRPr>
          </a:p>
        </p:txBody>
      </p:sp>
      <p:sp>
        <p:nvSpPr>
          <p:cNvPr id="98306" name="Rectangle 2">
            <a:extLst>
              <a:ext uri="{FF2B5EF4-FFF2-40B4-BE49-F238E27FC236}">
                <a16:creationId xmlns:a16="http://schemas.microsoft.com/office/drawing/2014/main" id="{EEEDC07E-10AC-46D7-B76D-65359EFBF748}"/>
              </a:ext>
            </a:extLst>
          </p:cNvPr>
          <p:cNvSpPr>
            <a:spLocks noGrp="1" noChangeArrowheads="1"/>
          </p:cNvSpPr>
          <p:nvPr>
            <p:ph type="title"/>
          </p:nvPr>
        </p:nvSpPr>
        <p:spPr/>
        <p:txBody>
          <a:bodyPr/>
          <a:lstStyle/>
          <a:p>
            <a:pPr eaLnBrk="1" hangingPunct="1">
              <a:defRPr/>
            </a:pPr>
            <a:r>
              <a:rPr lang="en-US" altLang="en-US"/>
              <a:t>MUL Instruction</a:t>
            </a:r>
          </a:p>
        </p:txBody>
      </p:sp>
      <p:sp>
        <p:nvSpPr>
          <p:cNvPr id="36869" name="Rectangle 3">
            <a:extLst>
              <a:ext uri="{FF2B5EF4-FFF2-40B4-BE49-F238E27FC236}">
                <a16:creationId xmlns:a16="http://schemas.microsoft.com/office/drawing/2014/main" id="{9E139A28-DFEB-4BE4-9AD7-1FA516216667}"/>
              </a:ext>
            </a:extLst>
          </p:cNvPr>
          <p:cNvSpPr>
            <a:spLocks noGrp="1" noChangeArrowheads="1"/>
          </p:cNvSpPr>
          <p:nvPr>
            <p:ph type="body" idx="1"/>
          </p:nvPr>
        </p:nvSpPr>
        <p:spPr>
          <a:xfrm>
            <a:off x="609600" y="1143000"/>
            <a:ext cx="7772400" cy="2438400"/>
          </a:xfrm>
        </p:spPr>
        <p:txBody>
          <a:bodyPr/>
          <a:lstStyle/>
          <a:p>
            <a:pPr eaLnBrk="1" hangingPunct="1"/>
            <a:r>
              <a:rPr lang="en-US" altLang="en-US" sz="2000"/>
              <a:t>In 32-bit mode, MUL (unsigned multiply) instruction multiplies an 8-, 16-, or 32-bit operand by either AL, AX, or EAX.</a:t>
            </a:r>
          </a:p>
          <a:p>
            <a:pPr eaLnBrk="1" hangingPunct="1"/>
            <a:endParaRPr lang="en-US" altLang="en-US" sz="2000"/>
          </a:p>
          <a:p>
            <a:pPr eaLnBrk="1" hangingPunct="1"/>
            <a:r>
              <a:rPr lang="en-US" altLang="en-US" sz="2000"/>
              <a:t>The instruction formats are:</a:t>
            </a:r>
          </a:p>
          <a:p>
            <a:pPr lvl="2" eaLnBrk="1" hangingPunct="1">
              <a:buFontTx/>
              <a:buNone/>
            </a:pPr>
            <a:r>
              <a:rPr lang="en-US" altLang="en-US" sz="1800" b="1">
                <a:latin typeface="Courier New" panose="02070309020205020404" pitchFamily="49" charset="0"/>
              </a:rPr>
              <a:t>MUL r/m8</a:t>
            </a:r>
          </a:p>
          <a:p>
            <a:pPr lvl="2" eaLnBrk="1" hangingPunct="1">
              <a:buFontTx/>
              <a:buNone/>
            </a:pPr>
            <a:r>
              <a:rPr lang="en-US" altLang="en-US" sz="1800" b="1">
                <a:latin typeface="Courier New" panose="02070309020205020404" pitchFamily="49" charset="0"/>
              </a:rPr>
              <a:t>MUL r/m16</a:t>
            </a:r>
          </a:p>
          <a:p>
            <a:pPr lvl="2" eaLnBrk="1" hangingPunct="1">
              <a:buFontTx/>
              <a:buNone/>
            </a:pPr>
            <a:r>
              <a:rPr lang="en-US" altLang="en-US" sz="1800" b="1">
                <a:latin typeface="Courier New" panose="02070309020205020404" pitchFamily="49" charset="0"/>
              </a:rPr>
              <a:t>MUL r/m32</a:t>
            </a:r>
          </a:p>
        </p:txBody>
      </p:sp>
      <p:pic>
        <p:nvPicPr>
          <p:cNvPr id="36870" name="Picture 11">
            <a:extLst>
              <a:ext uri="{FF2B5EF4-FFF2-40B4-BE49-F238E27FC236}">
                <a16:creationId xmlns:a16="http://schemas.microsoft.com/office/drawing/2014/main" id="{5E56C1D2-567D-4FFF-85F6-CC852C422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886200"/>
            <a:ext cx="5257800" cy="17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3BDB9734-29F6-49C5-88B6-50725272E091}"/>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38915" name="Slide Number Placeholder 4">
            <a:extLst>
              <a:ext uri="{FF2B5EF4-FFF2-40B4-BE49-F238E27FC236}">
                <a16:creationId xmlns:a16="http://schemas.microsoft.com/office/drawing/2014/main" id="{9E581969-1A24-4DEF-88C3-B9072CC96CD0}"/>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C5BC5E1-3E5C-4537-83C1-C20ED0415C8F}" type="slidenum">
              <a:rPr lang="en-US" altLang="en-US" sz="1600">
                <a:latin typeface="Times New Roman" panose="02020603050405020304" pitchFamily="18" charset="0"/>
              </a:rPr>
              <a:pPr eaLnBrk="1" hangingPunct="1">
                <a:spcBef>
                  <a:spcPct val="0"/>
                </a:spcBef>
                <a:buClrTx/>
                <a:buFontTx/>
                <a:buNone/>
              </a:pPr>
              <a:t>25</a:t>
            </a:fld>
            <a:endParaRPr lang="en-US" altLang="en-US" sz="1600">
              <a:latin typeface="Times New Roman" panose="02020603050405020304" pitchFamily="18" charset="0"/>
            </a:endParaRPr>
          </a:p>
        </p:txBody>
      </p:sp>
      <p:sp>
        <p:nvSpPr>
          <p:cNvPr id="117762" name="Rectangle 1026">
            <a:extLst>
              <a:ext uri="{FF2B5EF4-FFF2-40B4-BE49-F238E27FC236}">
                <a16:creationId xmlns:a16="http://schemas.microsoft.com/office/drawing/2014/main" id="{36D910AA-77CF-417B-9D41-9C2C639C5481}"/>
              </a:ext>
            </a:extLst>
          </p:cNvPr>
          <p:cNvSpPr>
            <a:spLocks noGrp="1" noChangeArrowheads="1"/>
          </p:cNvSpPr>
          <p:nvPr>
            <p:ph type="title"/>
          </p:nvPr>
        </p:nvSpPr>
        <p:spPr/>
        <p:txBody>
          <a:bodyPr/>
          <a:lstStyle/>
          <a:p>
            <a:pPr eaLnBrk="1" hangingPunct="1">
              <a:defRPr/>
            </a:pPr>
            <a:r>
              <a:rPr lang="en-US" altLang="en-US"/>
              <a:t>MUL Examples</a:t>
            </a:r>
          </a:p>
        </p:txBody>
      </p:sp>
      <p:sp>
        <p:nvSpPr>
          <p:cNvPr id="38917" name="Rectangle 1036">
            <a:extLst>
              <a:ext uri="{FF2B5EF4-FFF2-40B4-BE49-F238E27FC236}">
                <a16:creationId xmlns:a16="http://schemas.microsoft.com/office/drawing/2014/main" id="{94B7A7B2-176A-4C24-A8D7-5F9A09BB6E2C}"/>
              </a:ext>
            </a:extLst>
          </p:cNvPr>
          <p:cNvSpPr>
            <a:spLocks noChangeArrowheads="1"/>
          </p:cNvSpPr>
          <p:nvPr/>
        </p:nvSpPr>
        <p:spPr bwMode="auto">
          <a:xfrm>
            <a:off x="685800" y="12192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100h * 2000h, using 16-bit operands:</a:t>
            </a:r>
          </a:p>
        </p:txBody>
      </p:sp>
      <p:sp>
        <p:nvSpPr>
          <p:cNvPr id="38918" name="Text Box 1037">
            <a:extLst>
              <a:ext uri="{FF2B5EF4-FFF2-40B4-BE49-F238E27FC236}">
                <a16:creationId xmlns:a16="http://schemas.microsoft.com/office/drawing/2014/main" id="{67E48894-FECA-46A5-8639-BFE35CEF9B25}"/>
              </a:ext>
            </a:extLst>
          </p:cNvPr>
          <p:cNvSpPr txBox="1">
            <a:spLocks noChangeArrowheads="1"/>
          </p:cNvSpPr>
          <p:nvPr/>
        </p:nvSpPr>
        <p:spPr bwMode="auto">
          <a:xfrm>
            <a:off x="838200" y="1828800"/>
            <a:ext cx="5562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18303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183038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18303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18303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18303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18303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18303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18303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18303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val1 WORD 2000h</a:t>
            </a:r>
          </a:p>
          <a:p>
            <a:pPr eaLnBrk="1" hangingPunct="1">
              <a:lnSpc>
                <a:spcPct val="50000"/>
              </a:lnSpc>
              <a:spcBef>
                <a:spcPct val="50000"/>
              </a:spcBef>
              <a:buClrTx/>
              <a:buFontTx/>
              <a:buNone/>
            </a:pPr>
            <a:r>
              <a:rPr lang="en-US" altLang="en-US" sz="1800" b="1">
                <a:latin typeface="Courier New" panose="02070309020205020404" pitchFamily="49" charset="0"/>
              </a:rPr>
              <a:t>val2 WORD 100h</a:t>
            </a:r>
          </a:p>
          <a:p>
            <a:pPr eaLnBrk="1" hangingPunct="1">
              <a:lnSpc>
                <a:spcPct val="50000"/>
              </a:lnSpc>
              <a:spcBef>
                <a:spcPct val="50000"/>
              </a:spcBef>
              <a:buClrTx/>
              <a:buFontTx/>
              <a:buNone/>
            </a:pPr>
            <a:r>
              <a:rPr lang="en-US" altLang="en-US" sz="1800" b="1">
                <a:latin typeface="Courier New" panose="02070309020205020404" pitchFamily="49" charset="0"/>
              </a:rPr>
              <a:t>.code</a:t>
            </a:r>
          </a:p>
          <a:p>
            <a:pPr eaLnBrk="1" hangingPunct="1">
              <a:lnSpc>
                <a:spcPct val="50000"/>
              </a:lnSpc>
              <a:spcBef>
                <a:spcPct val="50000"/>
              </a:spcBef>
              <a:buClrTx/>
              <a:buFontTx/>
              <a:buNone/>
            </a:pPr>
            <a:r>
              <a:rPr lang="en-US" altLang="en-US" sz="1800" b="1">
                <a:latin typeface="Courier New" panose="02070309020205020404" pitchFamily="49" charset="0"/>
              </a:rPr>
              <a:t>mov ax,val1</a:t>
            </a:r>
          </a:p>
          <a:p>
            <a:pPr eaLnBrk="1" hangingPunct="1">
              <a:lnSpc>
                <a:spcPct val="50000"/>
              </a:lnSpc>
              <a:spcBef>
                <a:spcPct val="50000"/>
              </a:spcBef>
              <a:buClrTx/>
              <a:buFontTx/>
              <a:buNone/>
            </a:pPr>
            <a:r>
              <a:rPr lang="en-US" altLang="en-US" sz="1800" b="1">
                <a:latin typeface="Courier New" panose="02070309020205020404" pitchFamily="49" charset="0"/>
              </a:rPr>
              <a:t>mul val2	; DX:AX = 00200000h, CF=1</a:t>
            </a:r>
          </a:p>
        </p:txBody>
      </p:sp>
      <p:sp>
        <p:nvSpPr>
          <p:cNvPr id="117777" name="Text Box 1041">
            <a:extLst>
              <a:ext uri="{FF2B5EF4-FFF2-40B4-BE49-F238E27FC236}">
                <a16:creationId xmlns:a16="http://schemas.microsoft.com/office/drawing/2014/main" id="{7D564C21-1C34-4F69-BF06-EB51C1710281}"/>
              </a:ext>
            </a:extLst>
          </p:cNvPr>
          <p:cNvSpPr txBox="1">
            <a:spLocks noChangeArrowheads="1"/>
          </p:cNvSpPr>
          <p:nvPr/>
        </p:nvSpPr>
        <p:spPr bwMode="auto">
          <a:xfrm>
            <a:off x="6629400" y="1981200"/>
            <a:ext cx="2286000" cy="150495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600">
                <a:solidFill>
                  <a:schemeClr val="tx2"/>
                </a:solidFill>
              </a:rPr>
              <a:t>The Carry flag indicates whether or not the upper half of the product contains significant digits.</a:t>
            </a:r>
          </a:p>
        </p:txBody>
      </p:sp>
      <p:grpSp>
        <p:nvGrpSpPr>
          <p:cNvPr id="117779" name="Group 1043">
            <a:extLst>
              <a:ext uri="{FF2B5EF4-FFF2-40B4-BE49-F238E27FC236}">
                <a16:creationId xmlns:a16="http://schemas.microsoft.com/office/drawing/2014/main" id="{64BE47E2-48C2-48E9-BFB0-C196EBE8CEF1}"/>
              </a:ext>
            </a:extLst>
          </p:cNvPr>
          <p:cNvGrpSpPr>
            <a:grpSpLocks/>
          </p:cNvGrpSpPr>
          <p:nvPr/>
        </p:nvGrpSpPr>
        <p:grpSpPr bwMode="auto">
          <a:xfrm>
            <a:off x="609600" y="4114800"/>
            <a:ext cx="7162800" cy="1828800"/>
            <a:chOff x="384" y="2592"/>
            <a:chExt cx="4512" cy="1152"/>
          </a:xfrm>
        </p:grpSpPr>
        <p:sp>
          <p:nvSpPr>
            <p:cNvPr id="38921" name="Text Box 1040">
              <a:extLst>
                <a:ext uri="{FF2B5EF4-FFF2-40B4-BE49-F238E27FC236}">
                  <a16:creationId xmlns:a16="http://schemas.microsoft.com/office/drawing/2014/main" id="{AE1E195A-1B8E-4879-90E1-1F41A038DDDC}"/>
                </a:ext>
              </a:extLst>
            </p:cNvPr>
            <p:cNvSpPr txBox="1">
              <a:spLocks noChangeArrowheads="1"/>
            </p:cNvSpPr>
            <p:nvPr/>
          </p:nvSpPr>
          <p:spPr bwMode="auto">
            <a:xfrm>
              <a:off x="432" y="3072"/>
              <a:ext cx="446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17668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176688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17668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17668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17668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17668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17668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17668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17668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eax,12345h</a:t>
              </a:r>
            </a:p>
            <a:p>
              <a:pPr eaLnBrk="1" hangingPunct="1">
                <a:lnSpc>
                  <a:spcPct val="50000"/>
                </a:lnSpc>
                <a:spcBef>
                  <a:spcPct val="50000"/>
                </a:spcBef>
                <a:buClrTx/>
                <a:buFontTx/>
                <a:buNone/>
              </a:pPr>
              <a:r>
                <a:rPr lang="en-US" altLang="en-US" sz="1800" b="1">
                  <a:latin typeface="Courier New" panose="02070309020205020404" pitchFamily="49" charset="0"/>
                </a:rPr>
                <a:t>mov ebx,1000h</a:t>
              </a:r>
            </a:p>
            <a:p>
              <a:pPr eaLnBrk="1" hangingPunct="1">
                <a:lnSpc>
                  <a:spcPct val="50000"/>
                </a:lnSpc>
                <a:spcBef>
                  <a:spcPct val="50000"/>
                </a:spcBef>
                <a:buClrTx/>
                <a:buFontTx/>
                <a:buNone/>
              </a:pPr>
              <a:r>
                <a:rPr lang="en-US" altLang="en-US" sz="1800" b="1">
                  <a:latin typeface="Courier New" panose="02070309020205020404" pitchFamily="49" charset="0"/>
                </a:rPr>
                <a:t>mul ebx	; EDX:EAX = 0000000012345000h, CF=0</a:t>
              </a:r>
            </a:p>
          </p:txBody>
        </p:sp>
        <p:sp>
          <p:nvSpPr>
            <p:cNvPr id="38922" name="Text Box 1042">
              <a:extLst>
                <a:ext uri="{FF2B5EF4-FFF2-40B4-BE49-F238E27FC236}">
                  <a16:creationId xmlns:a16="http://schemas.microsoft.com/office/drawing/2014/main" id="{44F3E6BF-03A5-4C7E-98CC-53BE77F2D122}"/>
                </a:ext>
              </a:extLst>
            </p:cNvPr>
            <p:cNvSpPr txBox="1">
              <a:spLocks noChangeArrowheads="1"/>
            </p:cNvSpPr>
            <p:nvPr/>
          </p:nvSpPr>
          <p:spPr bwMode="auto">
            <a:xfrm>
              <a:off x="384" y="2592"/>
              <a:ext cx="4512"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a:t>12345h * 1000h, using 32-bit operands: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777"/>
                                        </p:tgtEl>
                                        <p:attrNameLst>
                                          <p:attrName>style.visibility</p:attrName>
                                        </p:attrNameLst>
                                      </p:cBhvr>
                                      <p:to>
                                        <p:strVal val="visible"/>
                                      </p:to>
                                    </p:set>
                                    <p:animEffect transition="in" filter="box(in)">
                                      <p:cBhvr>
                                        <p:cTn id="7" dur="500"/>
                                        <p:tgtEl>
                                          <p:spTgt spid="1177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17779"/>
                                        </p:tgtEl>
                                        <p:attrNameLst>
                                          <p:attrName>style.visibility</p:attrName>
                                        </p:attrNameLst>
                                      </p:cBhvr>
                                      <p:to>
                                        <p:strVal val="visible"/>
                                      </p:to>
                                    </p:set>
                                    <p:animEffect transition="in" filter="box(in)">
                                      <p:cBhvr>
                                        <p:cTn id="12" dur="500"/>
                                        <p:tgtEl>
                                          <p:spTgt spid="117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77"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63E9BE20-887B-407E-B639-860B11F8F80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1987" name="Slide Number Placeholder 4">
            <a:extLst>
              <a:ext uri="{FF2B5EF4-FFF2-40B4-BE49-F238E27FC236}">
                <a16:creationId xmlns:a16="http://schemas.microsoft.com/office/drawing/2014/main" id="{0BD7A409-8E48-4117-87CA-2B476CEDF9A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A547FA4B-5F5D-458D-B9E6-249541B2CBC4}" type="slidenum">
              <a:rPr lang="en-US" altLang="en-US" sz="1600">
                <a:latin typeface="Times New Roman" panose="02020603050405020304" pitchFamily="18" charset="0"/>
              </a:rPr>
              <a:pPr eaLnBrk="1" hangingPunct="1">
                <a:spcBef>
                  <a:spcPct val="0"/>
                </a:spcBef>
                <a:buClrTx/>
                <a:buFontTx/>
                <a:buNone/>
              </a:pPr>
              <a:t>26</a:t>
            </a:fld>
            <a:endParaRPr lang="en-US" altLang="en-US" sz="1600">
              <a:latin typeface="Times New Roman" panose="02020603050405020304" pitchFamily="18" charset="0"/>
            </a:endParaRPr>
          </a:p>
        </p:txBody>
      </p:sp>
      <p:sp>
        <p:nvSpPr>
          <p:cNvPr id="99330" name="Rectangle 2">
            <a:extLst>
              <a:ext uri="{FF2B5EF4-FFF2-40B4-BE49-F238E27FC236}">
                <a16:creationId xmlns:a16="http://schemas.microsoft.com/office/drawing/2014/main" id="{EF5D8241-DC09-4BC0-844A-7FEADD4A631B}"/>
              </a:ext>
            </a:extLst>
          </p:cNvPr>
          <p:cNvSpPr>
            <a:spLocks noGrp="1" noChangeArrowheads="1"/>
          </p:cNvSpPr>
          <p:nvPr>
            <p:ph type="title"/>
          </p:nvPr>
        </p:nvSpPr>
        <p:spPr/>
        <p:txBody>
          <a:bodyPr/>
          <a:lstStyle/>
          <a:p>
            <a:pPr eaLnBrk="1" hangingPunct="1">
              <a:defRPr/>
            </a:pPr>
            <a:r>
              <a:rPr lang="en-US" altLang="en-US"/>
              <a:t>IMUL Instruction</a:t>
            </a:r>
          </a:p>
        </p:txBody>
      </p:sp>
      <p:sp>
        <p:nvSpPr>
          <p:cNvPr id="41989" name="Rectangle 3">
            <a:extLst>
              <a:ext uri="{FF2B5EF4-FFF2-40B4-BE49-F238E27FC236}">
                <a16:creationId xmlns:a16="http://schemas.microsoft.com/office/drawing/2014/main" id="{D50AAE33-A19A-46F2-974A-7088D5FE1CF6}"/>
              </a:ext>
            </a:extLst>
          </p:cNvPr>
          <p:cNvSpPr>
            <a:spLocks noGrp="1" noChangeArrowheads="1"/>
          </p:cNvSpPr>
          <p:nvPr>
            <p:ph type="body" idx="1"/>
          </p:nvPr>
        </p:nvSpPr>
        <p:spPr>
          <a:xfrm>
            <a:off x="685800" y="1143000"/>
            <a:ext cx="7772400" cy="1600200"/>
          </a:xfrm>
        </p:spPr>
        <p:txBody>
          <a:bodyPr/>
          <a:lstStyle/>
          <a:p>
            <a:pPr eaLnBrk="1" hangingPunct="1">
              <a:lnSpc>
                <a:spcPct val="90000"/>
              </a:lnSpc>
            </a:pPr>
            <a:r>
              <a:rPr lang="en-US" altLang="en-US"/>
              <a:t>IMUL (signed integer multiply ) multiplies an 8-, 16-, or 32-bit signed operand by either AL, AX, or EAX</a:t>
            </a:r>
          </a:p>
          <a:p>
            <a:pPr eaLnBrk="1" hangingPunct="1">
              <a:lnSpc>
                <a:spcPct val="90000"/>
              </a:lnSpc>
            </a:pPr>
            <a:r>
              <a:rPr lang="en-US" altLang="en-US"/>
              <a:t>Preserves the sign of the product by sign-extending it into the upper half of the destination register</a:t>
            </a:r>
          </a:p>
        </p:txBody>
      </p:sp>
      <p:sp>
        <p:nvSpPr>
          <p:cNvPr id="41990" name="Rectangle 4">
            <a:extLst>
              <a:ext uri="{FF2B5EF4-FFF2-40B4-BE49-F238E27FC236}">
                <a16:creationId xmlns:a16="http://schemas.microsoft.com/office/drawing/2014/main" id="{89DDFFE8-46BF-493C-B1D5-CB75395B5829}"/>
              </a:ext>
            </a:extLst>
          </p:cNvPr>
          <p:cNvSpPr>
            <a:spLocks noChangeArrowheads="1"/>
          </p:cNvSpPr>
          <p:nvPr/>
        </p:nvSpPr>
        <p:spPr bwMode="auto">
          <a:xfrm>
            <a:off x="762000" y="2895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multiply 48 * 4, using 8-bit operands:</a:t>
            </a:r>
          </a:p>
        </p:txBody>
      </p:sp>
      <p:sp>
        <p:nvSpPr>
          <p:cNvPr id="41991" name="Text Box 5">
            <a:extLst>
              <a:ext uri="{FF2B5EF4-FFF2-40B4-BE49-F238E27FC236}">
                <a16:creationId xmlns:a16="http://schemas.microsoft.com/office/drawing/2014/main" id="{B29A0D1F-65CA-4D00-BEF5-8C97DB1832E5}"/>
              </a:ext>
            </a:extLst>
          </p:cNvPr>
          <p:cNvSpPr txBox="1">
            <a:spLocks noChangeArrowheads="1"/>
          </p:cNvSpPr>
          <p:nvPr/>
        </p:nvSpPr>
        <p:spPr bwMode="auto">
          <a:xfrm>
            <a:off x="1524000" y="3505200"/>
            <a:ext cx="5257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al,48</a:t>
            </a:r>
          </a:p>
          <a:p>
            <a:pPr eaLnBrk="1" hangingPunct="1">
              <a:lnSpc>
                <a:spcPct val="50000"/>
              </a:lnSpc>
              <a:spcBef>
                <a:spcPct val="50000"/>
              </a:spcBef>
              <a:buClrTx/>
              <a:buFontTx/>
              <a:buNone/>
            </a:pPr>
            <a:r>
              <a:rPr lang="en-US" altLang="en-US" sz="1800" b="1">
                <a:latin typeface="Courier New" panose="02070309020205020404" pitchFamily="49" charset="0"/>
              </a:rPr>
              <a:t>mov  bl,4</a:t>
            </a:r>
          </a:p>
          <a:p>
            <a:pPr eaLnBrk="1" hangingPunct="1">
              <a:lnSpc>
                <a:spcPct val="50000"/>
              </a:lnSpc>
              <a:spcBef>
                <a:spcPct val="50000"/>
              </a:spcBef>
              <a:buClrTx/>
              <a:buFontTx/>
              <a:buNone/>
            </a:pPr>
            <a:r>
              <a:rPr lang="en-US" altLang="en-US" sz="1800" b="1">
                <a:latin typeface="Courier New" panose="02070309020205020404" pitchFamily="49" charset="0"/>
              </a:rPr>
              <a:t>imul bl	; AX = 00C0h, OF=1</a:t>
            </a:r>
          </a:p>
        </p:txBody>
      </p:sp>
      <p:sp>
        <p:nvSpPr>
          <p:cNvPr id="41992" name="Text Box 6">
            <a:extLst>
              <a:ext uri="{FF2B5EF4-FFF2-40B4-BE49-F238E27FC236}">
                <a16:creationId xmlns:a16="http://schemas.microsoft.com/office/drawing/2014/main" id="{DFF63F2B-FBDB-4359-A995-7C29F5785AC0}"/>
              </a:ext>
            </a:extLst>
          </p:cNvPr>
          <p:cNvSpPr txBox="1">
            <a:spLocks noChangeArrowheads="1"/>
          </p:cNvSpPr>
          <p:nvPr/>
        </p:nvSpPr>
        <p:spPr bwMode="auto">
          <a:xfrm>
            <a:off x="685800" y="4724400"/>
            <a:ext cx="6705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OF=1 because AH is not a sign extension of 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a:extLst>
              <a:ext uri="{FF2B5EF4-FFF2-40B4-BE49-F238E27FC236}">
                <a16:creationId xmlns:a16="http://schemas.microsoft.com/office/drawing/2014/main" id="{979ACC6E-B4AA-49DA-BA21-05EBAFD31E4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4035" name="Slide Number Placeholder 4">
            <a:extLst>
              <a:ext uri="{FF2B5EF4-FFF2-40B4-BE49-F238E27FC236}">
                <a16:creationId xmlns:a16="http://schemas.microsoft.com/office/drawing/2014/main" id="{20C5C656-083D-4871-B462-32E4B4889D1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C527D86-13BF-4577-B878-9D0AFADFA433}" type="slidenum">
              <a:rPr lang="en-US" altLang="en-US" sz="1600">
                <a:latin typeface="Times New Roman" panose="02020603050405020304" pitchFamily="18" charset="0"/>
              </a:rPr>
              <a:pPr eaLnBrk="1" hangingPunct="1">
                <a:spcBef>
                  <a:spcPct val="0"/>
                </a:spcBef>
                <a:buClrTx/>
                <a:buFontTx/>
                <a:buNone/>
              </a:pPr>
              <a:t>27</a:t>
            </a:fld>
            <a:endParaRPr lang="en-US" altLang="en-US" sz="1600">
              <a:latin typeface="Times New Roman" panose="02020603050405020304" pitchFamily="18" charset="0"/>
            </a:endParaRPr>
          </a:p>
        </p:txBody>
      </p:sp>
      <p:sp>
        <p:nvSpPr>
          <p:cNvPr id="118786" name="Rectangle 2">
            <a:extLst>
              <a:ext uri="{FF2B5EF4-FFF2-40B4-BE49-F238E27FC236}">
                <a16:creationId xmlns:a16="http://schemas.microsoft.com/office/drawing/2014/main" id="{3E010373-5A53-417E-94EB-B426457D472C}"/>
              </a:ext>
            </a:extLst>
          </p:cNvPr>
          <p:cNvSpPr>
            <a:spLocks noGrp="1" noChangeArrowheads="1"/>
          </p:cNvSpPr>
          <p:nvPr>
            <p:ph type="title"/>
          </p:nvPr>
        </p:nvSpPr>
        <p:spPr/>
        <p:txBody>
          <a:bodyPr/>
          <a:lstStyle/>
          <a:p>
            <a:pPr eaLnBrk="1" hangingPunct="1">
              <a:defRPr/>
            </a:pPr>
            <a:r>
              <a:rPr lang="en-US" altLang="en-US"/>
              <a:t>IMUL Examples</a:t>
            </a:r>
          </a:p>
        </p:txBody>
      </p:sp>
      <p:sp>
        <p:nvSpPr>
          <p:cNvPr id="44037" name="Rectangle 4">
            <a:extLst>
              <a:ext uri="{FF2B5EF4-FFF2-40B4-BE49-F238E27FC236}">
                <a16:creationId xmlns:a16="http://schemas.microsoft.com/office/drawing/2014/main" id="{8F2E0280-352A-4C2E-8FD4-3C1BA82949C5}"/>
              </a:ext>
            </a:extLst>
          </p:cNvPr>
          <p:cNvSpPr>
            <a:spLocks noChangeArrowheads="1"/>
          </p:cNvSpPr>
          <p:nvPr/>
        </p:nvSpPr>
        <p:spPr bwMode="auto">
          <a:xfrm>
            <a:off x="762000" y="1219200"/>
            <a:ext cx="731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Multiply 4,823,424 *  </a:t>
            </a:r>
            <a:r>
              <a:rPr lang="en-US" altLang="en-US">
                <a:latin typeface="Symbol" panose="05050102010706020507" pitchFamily="18" charset="2"/>
              </a:rPr>
              <a:t>-</a:t>
            </a:r>
            <a:r>
              <a:rPr lang="en-US" altLang="en-US"/>
              <a:t>423:</a:t>
            </a:r>
          </a:p>
        </p:txBody>
      </p:sp>
      <p:sp>
        <p:nvSpPr>
          <p:cNvPr id="44038" name="Text Box 5">
            <a:extLst>
              <a:ext uri="{FF2B5EF4-FFF2-40B4-BE49-F238E27FC236}">
                <a16:creationId xmlns:a16="http://schemas.microsoft.com/office/drawing/2014/main" id="{83F1E285-3FBB-489B-B78B-BF7AF00C0061}"/>
              </a:ext>
            </a:extLst>
          </p:cNvPr>
          <p:cNvSpPr txBox="1">
            <a:spLocks noChangeArrowheads="1"/>
          </p:cNvSpPr>
          <p:nvPr/>
        </p:nvSpPr>
        <p:spPr bwMode="auto">
          <a:xfrm>
            <a:off x="762000" y="1828800"/>
            <a:ext cx="7696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eax,4823424</a:t>
            </a:r>
          </a:p>
          <a:p>
            <a:pPr eaLnBrk="1" hangingPunct="1">
              <a:lnSpc>
                <a:spcPct val="50000"/>
              </a:lnSpc>
              <a:spcBef>
                <a:spcPct val="50000"/>
              </a:spcBef>
              <a:buClrTx/>
              <a:buFontTx/>
              <a:buNone/>
            </a:pPr>
            <a:r>
              <a:rPr lang="en-US" altLang="en-US" sz="1800" b="1">
                <a:latin typeface="Courier New" panose="02070309020205020404" pitchFamily="49" charset="0"/>
              </a:rPr>
              <a:t>mov ebx,-423</a:t>
            </a:r>
          </a:p>
          <a:p>
            <a:pPr eaLnBrk="1" hangingPunct="1">
              <a:lnSpc>
                <a:spcPct val="50000"/>
              </a:lnSpc>
              <a:spcBef>
                <a:spcPct val="50000"/>
              </a:spcBef>
              <a:buClrTx/>
              <a:buFontTx/>
              <a:buNone/>
            </a:pPr>
            <a:r>
              <a:rPr lang="en-US" altLang="en-US" sz="1800" b="1">
                <a:latin typeface="Courier New" panose="02070309020205020404" pitchFamily="49" charset="0"/>
              </a:rPr>
              <a:t>imul ebx	; EDX:EAX = FFFFFFFF86635D80h, OF=0</a:t>
            </a:r>
          </a:p>
        </p:txBody>
      </p:sp>
      <p:sp>
        <p:nvSpPr>
          <p:cNvPr id="44039" name="Text Box 6">
            <a:extLst>
              <a:ext uri="{FF2B5EF4-FFF2-40B4-BE49-F238E27FC236}">
                <a16:creationId xmlns:a16="http://schemas.microsoft.com/office/drawing/2014/main" id="{C346541D-4BD7-4AE3-BDA2-6BDB3A8C2A88}"/>
              </a:ext>
            </a:extLst>
          </p:cNvPr>
          <p:cNvSpPr txBox="1">
            <a:spLocks noChangeArrowheads="1"/>
          </p:cNvSpPr>
          <p:nvPr/>
        </p:nvSpPr>
        <p:spPr bwMode="auto">
          <a:xfrm>
            <a:off x="762000" y="3352800"/>
            <a:ext cx="6705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OF=0 because EDX is a sign extension of EAX.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D2FE1DF2-1E48-43CF-BEB9-FF4DD813F68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6083" name="Slide Number Placeholder 4">
            <a:extLst>
              <a:ext uri="{FF2B5EF4-FFF2-40B4-BE49-F238E27FC236}">
                <a16:creationId xmlns:a16="http://schemas.microsoft.com/office/drawing/2014/main" id="{7FB79C63-0EBC-4376-8556-A74E47FCB29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7615F28-EDA4-4648-B584-2F533D8BF1F1}" type="slidenum">
              <a:rPr lang="en-US" altLang="en-US" sz="1600">
                <a:latin typeface="Times New Roman" panose="02020603050405020304" pitchFamily="18" charset="0"/>
              </a:rPr>
              <a:pPr eaLnBrk="1" hangingPunct="1">
                <a:spcBef>
                  <a:spcPct val="0"/>
                </a:spcBef>
                <a:buClrTx/>
                <a:buFontTx/>
                <a:buNone/>
              </a:pPr>
              <a:t>28</a:t>
            </a:fld>
            <a:endParaRPr lang="en-US" altLang="en-US" sz="1600">
              <a:latin typeface="Times New Roman" panose="02020603050405020304" pitchFamily="18" charset="0"/>
            </a:endParaRPr>
          </a:p>
        </p:txBody>
      </p:sp>
      <p:sp>
        <p:nvSpPr>
          <p:cNvPr id="100354" name="Rectangle 2">
            <a:extLst>
              <a:ext uri="{FF2B5EF4-FFF2-40B4-BE49-F238E27FC236}">
                <a16:creationId xmlns:a16="http://schemas.microsoft.com/office/drawing/2014/main" id="{07C5E236-6CE0-4714-93AB-2887D1F02648}"/>
              </a:ext>
            </a:extLst>
          </p:cNvPr>
          <p:cNvSpPr>
            <a:spLocks noGrp="1" noChangeArrowheads="1"/>
          </p:cNvSpPr>
          <p:nvPr>
            <p:ph type="title"/>
          </p:nvPr>
        </p:nvSpPr>
        <p:spPr/>
        <p:txBody>
          <a:bodyPr/>
          <a:lstStyle/>
          <a:p>
            <a:pPr eaLnBrk="1" hangingPunct="1">
              <a:defRPr/>
            </a:pPr>
            <a:r>
              <a:rPr lang="en-US" altLang="en-US"/>
              <a:t>DIV Instruction</a:t>
            </a:r>
          </a:p>
        </p:txBody>
      </p:sp>
      <p:sp>
        <p:nvSpPr>
          <p:cNvPr id="46085" name="Rectangle 3">
            <a:extLst>
              <a:ext uri="{FF2B5EF4-FFF2-40B4-BE49-F238E27FC236}">
                <a16:creationId xmlns:a16="http://schemas.microsoft.com/office/drawing/2014/main" id="{D59D4A6A-8CDF-49F8-83B8-A4881922115C}"/>
              </a:ext>
            </a:extLst>
          </p:cNvPr>
          <p:cNvSpPr>
            <a:spLocks noGrp="1" noChangeArrowheads="1"/>
          </p:cNvSpPr>
          <p:nvPr>
            <p:ph type="body" idx="1"/>
          </p:nvPr>
        </p:nvSpPr>
        <p:spPr/>
        <p:txBody>
          <a:bodyPr/>
          <a:lstStyle/>
          <a:p>
            <a:pPr eaLnBrk="1" hangingPunct="1"/>
            <a:r>
              <a:rPr lang="en-US" altLang="en-US"/>
              <a:t>The DIV (unsigned divide) instruction performs 8-bit, 16-bit, and 32-bit division on unsigned integers</a:t>
            </a:r>
          </a:p>
          <a:p>
            <a:pPr eaLnBrk="1" hangingPunct="1"/>
            <a:r>
              <a:rPr lang="en-US" altLang="en-US"/>
              <a:t>A single operand is supplied (register or memory operand), which is assumed to be the divisor </a:t>
            </a:r>
          </a:p>
          <a:p>
            <a:pPr eaLnBrk="1" hangingPunct="1"/>
            <a:r>
              <a:rPr lang="en-US" altLang="en-US"/>
              <a:t>Instruction formats:</a:t>
            </a:r>
          </a:p>
          <a:p>
            <a:pPr lvl="2" eaLnBrk="1" hangingPunct="1">
              <a:buFontTx/>
              <a:buNone/>
            </a:pPr>
            <a:r>
              <a:rPr lang="en-US" altLang="en-US" sz="1800" b="1">
                <a:latin typeface="Courier New" panose="02070309020205020404" pitchFamily="49" charset="0"/>
              </a:rPr>
              <a:t>DIV </a:t>
            </a:r>
            <a:r>
              <a:rPr lang="en-US" altLang="en-US" sz="1800" b="1" i="1">
                <a:latin typeface="Courier New" panose="02070309020205020404" pitchFamily="49" charset="0"/>
              </a:rPr>
              <a:t>reg/mem8</a:t>
            </a:r>
          </a:p>
          <a:p>
            <a:pPr lvl="2" eaLnBrk="1" hangingPunct="1">
              <a:buFontTx/>
              <a:buNone/>
            </a:pPr>
            <a:r>
              <a:rPr lang="en-US" altLang="en-US" sz="1800" b="1">
                <a:latin typeface="Courier New" panose="02070309020205020404" pitchFamily="49" charset="0"/>
              </a:rPr>
              <a:t>DIV </a:t>
            </a:r>
            <a:r>
              <a:rPr lang="en-US" altLang="en-US" sz="1800" b="1" i="1">
                <a:latin typeface="Courier New" panose="02070309020205020404" pitchFamily="49" charset="0"/>
              </a:rPr>
              <a:t>reg/mem16</a:t>
            </a:r>
          </a:p>
          <a:p>
            <a:pPr lvl="2" eaLnBrk="1" hangingPunct="1">
              <a:buFontTx/>
              <a:buNone/>
            </a:pPr>
            <a:r>
              <a:rPr lang="en-US" altLang="en-US" sz="1800" b="1">
                <a:latin typeface="Courier New" panose="02070309020205020404" pitchFamily="49" charset="0"/>
              </a:rPr>
              <a:t>DIV </a:t>
            </a:r>
            <a:r>
              <a:rPr lang="en-US" altLang="en-US" sz="1800" b="1" i="1">
                <a:latin typeface="Courier New" panose="02070309020205020404" pitchFamily="49" charset="0"/>
              </a:rPr>
              <a:t>reg/mem32</a:t>
            </a:r>
          </a:p>
        </p:txBody>
      </p:sp>
      <p:grpSp>
        <p:nvGrpSpPr>
          <p:cNvPr id="100358" name="Group 6">
            <a:extLst>
              <a:ext uri="{FF2B5EF4-FFF2-40B4-BE49-F238E27FC236}">
                <a16:creationId xmlns:a16="http://schemas.microsoft.com/office/drawing/2014/main" id="{CA85EA08-D7EC-4413-A2E5-E0F78F283C92}"/>
              </a:ext>
            </a:extLst>
          </p:cNvPr>
          <p:cNvGrpSpPr>
            <a:grpSpLocks/>
          </p:cNvGrpSpPr>
          <p:nvPr/>
        </p:nvGrpSpPr>
        <p:grpSpPr bwMode="auto">
          <a:xfrm>
            <a:off x="3886200" y="3505200"/>
            <a:ext cx="4724400" cy="2052638"/>
            <a:chOff x="2256" y="2496"/>
            <a:chExt cx="2976" cy="1293"/>
          </a:xfrm>
        </p:grpSpPr>
        <p:pic>
          <p:nvPicPr>
            <p:cNvPr id="46087" name="Picture 4">
              <a:extLst>
                <a:ext uri="{FF2B5EF4-FFF2-40B4-BE49-F238E27FC236}">
                  <a16:creationId xmlns:a16="http://schemas.microsoft.com/office/drawing/2014/main" id="{4DAAB361-635E-46E1-8A3C-06A24CE27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 y="2832"/>
              <a:ext cx="2976" cy="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8" name="Text Box 5">
              <a:extLst>
                <a:ext uri="{FF2B5EF4-FFF2-40B4-BE49-F238E27FC236}">
                  <a16:creationId xmlns:a16="http://schemas.microsoft.com/office/drawing/2014/main" id="{80083706-9E2F-4CA6-A372-FD086E41D20F}"/>
                </a:ext>
              </a:extLst>
            </p:cNvPr>
            <p:cNvSpPr txBox="1">
              <a:spLocks noChangeArrowheads="1"/>
            </p:cNvSpPr>
            <p:nvPr/>
          </p:nvSpPr>
          <p:spPr bwMode="auto">
            <a:xfrm>
              <a:off x="2880" y="2496"/>
              <a:ext cx="1728"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Default Operands: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dissolve">
                                      <p:cBhvr>
                                        <p:cTn id="7"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a:extLst>
              <a:ext uri="{FF2B5EF4-FFF2-40B4-BE49-F238E27FC236}">
                <a16:creationId xmlns:a16="http://schemas.microsoft.com/office/drawing/2014/main" id="{DFA2F009-6388-492B-8610-D105F8BD69E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47107" name="Slide Number Placeholder 4">
            <a:extLst>
              <a:ext uri="{FF2B5EF4-FFF2-40B4-BE49-F238E27FC236}">
                <a16:creationId xmlns:a16="http://schemas.microsoft.com/office/drawing/2014/main" id="{D3584230-B743-48C3-845B-CDB5E452AEEF}"/>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6ECCE39-3A93-4C4C-AE27-67BB8F53B440}" type="slidenum">
              <a:rPr lang="en-US" altLang="en-US" sz="1600">
                <a:latin typeface="Times New Roman" panose="02020603050405020304" pitchFamily="18" charset="0"/>
              </a:rPr>
              <a:pPr eaLnBrk="1" hangingPunct="1">
                <a:spcBef>
                  <a:spcPct val="0"/>
                </a:spcBef>
                <a:buClrTx/>
                <a:buFontTx/>
                <a:buNone/>
              </a:pPr>
              <a:t>29</a:t>
            </a:fld>
            <a:endParaRPr lang="en-US" altLang="en-US" sz="1600">
              <a:latin typeface="Times New Roman" panose="02020603050405020304" pitchFamily="18" charset="0"/>
            </a:endParaRPr>
          </a:p>
        </p:txBody>
      </p:sp>
      <p:sp>
        <p:nvSpPr>
          <p:cNvPr id="119810" name="Rectangle 2">
            <a:extLst>
              <a:ext uri="{FF2B5EF4-FFF2-40B4-BE49-F238E27FC236}">
                <a16:creationId xmlns:a16="http://schemas.microsoft.com/office/drawing/2014/main" id="{C05AC259-4E7B-4F44-9180-A98FBDFD18A9}"/>
              </a:ext>
            </a:extLst>
          </p:cNvPr>
          <p:cNvSpPr>
            <a:spLocks noGrp="1" noChangeArrowheads="1"/>
          </p:cNvSpPr>
          <p:nvPr>
            <p:ph type="title"/>
          </p:nvPr>
        </p:nvSpPr>
        <p:spPr/>
        <p:txBody>
          <a:bodyPr/>
          <a:lstStyle/>
          <a:p>
            <a:pPr eaLnBrk="1" hangingPunct="1">
              <a:defRPr/>
            </a:pPr>
            <a:r>
              <a:rPr lang="en-US" altLang="en-US"/>
              <a:t>DIV Examples</a:t>
            </a:r>
          </a:p>
        </p:txBody>
      </p:sp>
      <p:sp>
        <p:nvSpPr>
          <p:cNvPr id="47109" name="Rectangle 7">
            <a:extLst>
              <a:ext uri="{FF2B5EF4-FFF2-40B4-BE49-F238E27FC236}">
                <a16:creationId xmlns:a16="http://schemas.microsoft.com/office/drawing/2014/main" id="{51BD10CF-374D-4DA2-8459-0452FE2692B6}"/>
              </a:ext>
            </a:extLst>
          </p:cNvPr>
          <p:cNvSpPr>
            <a:spLocks noChangeArrowheads="1"/>
          </p:cNvSpPr>
          <p:nvPr/>
        </p:nvSpPr>
        <p:spPr bwMode="auto">
          <a:xfrm>
            <a:off x="762000" y="1219200"/>
            <a:ext cx="731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Divide 8003h by 100h, using 16-bit operands:</a:t>
            </a:r>
          </a:p>
        </p:txBody>
      </p:sp>
      <p:sp>
        <p:nvSpPr>
          <p:cNvPr id="47110" name="Text Box 8">
            <a:extLst>
              <a:ext uri="{FF2B5EF4-FFF2-40B4-BE49-F238E27FC236}">
                <a16:creationId xmlns:a16="http://schemas.microsoft.com/office/drawing/2014/main" id="{4167FD7D-0404-4A75-9C56-38158E96F18A}"/>
              </a:ext>
            </a:extLst>
          </p:cNvPr>
          <p:cNvSpPr txBox="1">
            <a:spLocks noChangeArrowheads="1"/>
          </p:cNvSpPr>
          <p:nvPr/>
        </p:nvSpPr>
        <p:spPr bwMode="auto">
          <a:xfrm>
            <a:off x="762000" y="1828800"/>
            <a:ext cx="7086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dx,0	; clear dividend, high</a:t>
            </a:r>
          </a:p>
          <a:p>
            <a:pPr eaLnBrk="1" hangingPunct="1">
              <a:lnSpc>
                <a:spcPct val="50000"/>
              </a:lnSpc>
              <a:spcBef>
                <a:spcPct val="50000"/>
              </a:spcBef>
              <a:buClrTx/>
              <a:buFontTx/>
              <a:buNone/>
            </a:pPr>
            <a:r>
              <a:rPr lang="en-US" altLang="en-US" sz="1800" b="1">
                <a:latin typeface="Courier New" panose="02070309020205020404" pitchFamily="49" charset="0"/>
              </a:rPr>
              <a:t>mov ax,8003h	; dividend, low</a:t>
            </a:r>
          </a:p>
          <a:p>
            <a:pPr eaLnBrk="1" hangingPunct="1">
              <a:lnSpc>
                <a:spcPct val="50000"/>
              </a:lnSpc>
              <a:spcBef>
                <a:spcPct val="50000"/>
              </a:spcBef>
              <a:buClrTx/>
              <a:buFontTx/>
              <a:buNone/>
            </a:pPr>
            <a:r>
              <a:rPr lang="en-US" altLang="en-US" sz="1800" b="1">
                <a:latin typeface="Courier New" panose="02070309020205020404" pitchFamily="49" charset="0"/>
              </a:rPr>
              <a:t>mov cx,100h	; divisor</a:t>
            </a:r>
          </a:p>
          <a:p>
            <a:pPr eaLnBrk="1" hangingPunct="1">
              <a:lnSpc>
                <a:spcPct val="50000"/>
              </a:lnSpc>
              <a:spcBef>
                <a:spcPct val="50000"/>
              </a:spcBef>
              <a:buClrTx/>
              <a:buFontTx/>
              <a:buNone/>
            </a:pPr>
            <a:r>
              <a:rPr lang="en-US" altLang="en-US" sz="1800" b="1">
                <a:latin typeface="Courier New" panose="02070309020205020404" pitchFamily="49" charset="0"/>
              </a:rPr>
              <a:t>div cx	; AX = 0080h, DX = 3</a:t>
            </a:r>
          </a:p>
        </p:txBody>
      </p:sp>
      <p:grpSp>
        <p:nvGrpSpPr>
          <p:cNvPr id="119819" name="Group 11">
            <a:extLst>
              <a:ext uri="{FF2B5EF4-FFF2-40B4-BE49-F238E27FC236}">
                <a16:creationId xmlns:a16="http://schemas.microsoft.com/office/drawing/2014/main" id="{C6F28412-A534-4BF6-B616-5F0EA95A1F77}"/>
              </a:ext>
            </a:extLst>
          </p:cNvPr>
          <p:cNvGrpSpPr>
            <a:grpSpLocks/>
          </p:cNvGrpSpPr>
          <p:nvPr/>
        </p:nvGrpSpPr>
        <p:grpSpPr bwMode="auto">
          <a:xfrm>
            <a:off x="762000" y="3657600"/>
            <a:ext cx="7391400" cy="2057400"/>
            <a:chOff x="480" y="2304"/>
            <a:chExt cx="4656" cy="1296"/>
          </a:xfrm>
        </p:grpSpPr>
        <p:sp>
          <p:nvSpPr>
            <p:cNvPr id="47112" name="Rectangle 9">
              <a:extLst>
                <a:ext uri="{FF2B5EF4-FFF2-40B4-BE49-F238E27FC236}">
                  <a16:creationId xmlns:a16="http://schemas.microsoft.com/office/drawing/2014/main" id="{F9635C77-C138-4C17-8802-FB0E3947AB83}"/>
                </a:ext>
              </a:extLst>
            </p:cNvPr>
            <p:cNvSpPr>
              <a:spLocks noChangeArrowheads="1"/>
            </p:cNvSpPr>
            <p:nvPr/>
          </p:nvSpPr>
          <p:spPr bwMode="auto">
            <a:xfrm>
              <a:off x="528" y="2304"/>
              <a:ext cx="460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Same division, using 32-bit operands:</a:t>
              </a:r>
            </a:p>
          </p:txBody>
        </p:sp>
        <p:sp>
          <p:nvSpPr>
            <p:cNvPr id="47113" name="Text Box 10">
              <a:extLst>
                <a:ext uri="{FF2B5EF4-FFF2-40B4-BE49-F238E27FC236}">
                  <a16:creationId xmlns:a16="http://schemas.microsoft.com/office/drawing/2014/main" id="{434315CB-CEDD-4684-BA83-C2A61E6DBA5C}"/>
                </a:ext>
              </a:extLst>
            </p:cNvPr>
            <p:cNvSpPr txBox="1">
              <a:spLocks noChangeArrowheads="1"/>
            </p:cNvSpPr>
            <p:nvPr/>
          </p:nvSpPr>
          <p:spPr bwMode="auto">
            <a:xfrm>
              <a:off x="480" y="2736"/>
              <a:ext cx="4512"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edx,0	; clear dividend, high</a:t>
              </a:r>
            </a:p>
            <a:p>
              <a:pPr eaLnBrk="1" hangingPunct="1">
                <a:lnSpc>
                  <a:spcPct val="50000"/>
                </a:lnSpc>
                <a:spcBef>
                  <a:spcPct val="50000"/>
                </a:spcBef>
                <a:buClrTx/>
                <a:buFontTx/>
                <a:buNone/>
              </a:pPr>
              <a:r>
                <a:rPr lang="en-US" altLang="en-US" sz="1800" b="1">
                  <a:latin typeface="Courier New" panose="02070309020205020404" pitchFamily="49" charset="0"/>
                </a:rPr>
                <a:t>mov eax,8003h	; dividend, low</a:t>
              </a:r>
            </a:p>
            <a:p>
              <a:pPr eaLnBrk="1" hangingPunct="1">
                <a:lnSpc>
                  <a:spcPct val="50000"/>
                </a:lnSpc>
                <a:spcBef>
                  <a:spcPct val="50000"/>
                </a:spcBef>
                <a:buClrTx/>
                <a:buFontTx/>
                <a:buNone/>
              </a:pPr>
              <a:r>
                <a:rPr lang="en-US" altLang="en-US" sz="1800" b="1">
                  <a:latin typeface="Courier New" panose="02070309020205020404" pitchFamily="49" charset="0"/>
                </a:rPr>
                <a:t>mov ecx,100h	; divisor</a:t>
              </a:r>
            </a:p>
            <a:p>
              <a:pPr eaLnBrk="1" hangingPunct="1">
                <a:lnSpc>
                  <a:spcPct val="50000"/>
                </a:lnSpc>
                <a:spcBef>
                  <a:spcPct val="50000"/>
                </a:spcBef>
                <a:buClrTx/>
                <a:buFontTx/>
                <a:buNone/>
              </a:pPr>
              <a:r>
                <a:rPr lang="en-US" altLang="en-US" sz="1800" b="1">
                  <a:latin typeface="Courier New" panose="02070309020205020404" pitchFamily="49" charset="0"/>
                </a:rPr>
                <a:t>div ecx	; EAX = 00000080h, DX = 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19819"/>
                                        </p:tgtEl>
                                        <p:attrNameLst>
                                          <p:attrName>style.visibility</p:attrName>
                                        </p:attrNameLst>
                                      </p:cBhvr>
                                      <p:to>
                                        <p:strVal val="visible"/>
                                      </p:to>
                                    </p:set>
                                    <p:animEffect transition="in" filter="box(in)">
                                      <p:cBhvr>
                                        <p:cTn id="7" dur="500"/>
                                        <p:tgtEl>
                                          <p:spTgt spid="11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a:extLst>
              <a:ext uri="{FF2B5EF4-FFF2-40B4-BE49-F238E27FC236}">
                <a16:creationId xmlns:a16="http://schemas.microsoft.com/office/drawing/2014/main" id="{48253F84-DFCC-4C9D-9045-7997C4C5F4C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1203" name="Slide Number Placeholder 4">
            <a:extLst>
              <a:ext uri="{FF2B5EF4-FFF2-40B4-BE49-F238E27FC236}">
                <a16:creationId xmlns:a16="http://schemas.microsoft.com/office/drawing/2014/main" id="{98823A7E-896F-472B-8C43-CF0A2730C55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5406783-80ED-44C5-A941-0EFAB2BC2453}" type="slidenum">
              <a:rPr lang="en-US" altLang="en-US" sz="1600">
                <a:latin typeface="Times New Roman" panose="02020603050405020304" pitchFamily="18" charset="0"/>
              </a:rPr>
              <a:pPr eaLnBrk="1" hangingPunct="1">
                <a:spcBef>
                  <a:spcPct val="0"/>
                </a:spcBef>
                <a:buClrTx/>
                <a:buFontTx/>
                <a:buNone/>
              </a:pPr>
              <a:t>30</a:t>
            </a:fld>
            <a:endParaRPr lang="en-US" altLang="en-US" sz="1600">
              <a:latin typeface="Times New Roman" panose="02020603050405020304" pitchFamily="18" charset="0"/>
            </a:endParaRPr>
          </a:p>
        </p:txBody>
      </p:sp>
      <p:sp>
        <p:nvSpPr>
          <p:cNvPr id="101378" name="Rectangle 2">
            <a:extLst>
              <a:ext uri="{FF2B5EF4-FFF2-40B4-BE49-F238E27FC236}">
                <a16:creationId xmlns:a16="http://schemas.microsoft.com/office/drawing/2014/main" id="{7B15FCE1-7FB2-47AC-907D-FD761B54A10C}"/>
              </a:ext>
            </a:extLst>
          </p:cNvPr>
          <p:cNvSpPr>
            <a:spLocks noGrp="1" noChangeArrowheads="1"/>
          </p:cNvSpPr>
          <p:nvPr>
            <p:ph type="title"/>
          </p:nvPr>
        </p:nvSpPr>
        <p:spPr/>
        <p:txBody>
          <a:bodyPr/>
          <a:lstStyle/>
          <a:p>
            <a:pPr eaLnBrk="1" hangingPunct="1">
              <a:defRPr/>
            </a:pPr>
            <a:r>
              <a:rPr lang="en-US" altLang="en-US"/>
              <a:t>Signed Integer Division (IDIV)</a:t>
            </a:r>
          </a:p>
        </p:txBody>
      </p:sp>
      <p:sp>
        <p:nvSpPr>
          <p:cNvPr id="51205" name="Rectangle 3">
            <a:extLst>
              <a:ext uri="{FF2B5EF4-FFF2-40B4-BE49-F238E27FC236}">
                <a16:creationId xmlns:a16="http://schemas.microsoft.com/office/drawing/2014/main" id="{CA0977E0-25F1-4A86-BB85-101DAC577E0D}"/>
              </a:ext>
            </a:extLst>
          </p:cNvPr>
          <p:cNvSpPr>
            <a:spLocks noGrp="1" noChangeArrowheads="1"/>
          </p:cNvSpPr>
          <p:nvPr>
            <p:ph type="body" idx="1"/>
          </p:nvPr>
        </p:nvSpPr>
        <p:spPr>
          <a:xfrm>
            <a:off x="685800" y="1143000"/>
            <a:ext cx="7620000" cy="2286000"/>
          </a:xfrm>
        </p:spPr>
        <p:txBody>
          <a:bodyPr/>
          <a:lstStyle/>
          <a:p>
            <a:pPr eaLnBrk="1" hangingPunct="1">
              <a:lnSpc>
                <a:spcPct val="90000"/>
              </a:lnSpc>
              <a:tabLst>
                <a:tab pos="3768725" algn="l"/>
              </a:tabLst>
            </a:pPr>
            <a:r>
              <a:rPr lang="en-US" altLang="en-US"/>
              <a:t>Signed integers must be sign-extended before division takes place</a:t>
            </a:r>
          </a:p>
          <a:p>
            <a:pPr lvl="1" eaLnBrk="1" hangingPunct="1">
              <a:lnSpc>
                <a:spcPct val="90000"/>
              </a:lnSpc>
              <a:tabLst>
                <a:tab pos="3768725" algn="l"/>
              </a:tabLst>
            </a:pPr>
            <a:r>
              <a:rPr lang="en-US" altLang="en-US"/>
              <a:t>fill high byte/word/doubleword with a copy of the low byte/word/doubleword's sign bit</a:t>
            </a:r>
          </a:p>
          <a:p>
            <a:pPr eaLnBrk="1" hangingPunct="1">
              <a:lnSpc>
                <a:spcPct val="90000"/>
              </a:lnSpc>
              <a:tabLst>
                <a:tab pos="3768725" algn="l"/>
              </a:tabLst>
            </a:pPr>
            <a:r>
              <a:rPr lang="en-US" altLang="en-US"/>
              <a:t>For example, the high byte contains a copy of the sign bit from the low byte:</a:t>
            </a:r>
          </a:p>
        </p:txBody>
      </p:sp>
      <p:graphicFrame>
        <p:nvGraphicFramePr>
          <p:cNvPr id="51206" name="Object 5">
            <a:extLst>
              <a:ext uri="{FF2B5EF4-FFF2-40B4-BE49-F238E27FC236}">
                <a16:creationId xmlns:a16="http://schemas.microsoft.com/office/drawing/2014/main" id="{A51B20EB-C192-4274-A442-454270A93067}"/>
              </a:ext>
            </a:extLst>
          </p:cNvPr>
          <p:cNvGraphicFramePr>
            <a:graphicFrameLocks noChangeAspect="1"/>
          </p:cNvGraphicFramePr>
          <p:nvPr/>
        </p:nvGraphicFramePr>
        <p:xfrm>
          <a:off x="2667000" y="3505200"/>
          <a:ext cx="3962400" cy="2286000"/>
        </p:xfrm>
        <a:graphic>
          <a:graphicData uri="http://schemas.openxmlformats.org/presentationml/2006/ole">
            <mc:AlternateContent xmlns:mc="http://schemas.openxmlformats.org/markup-compatibility/2006">
              <mc:Choice xmlns:v="urn:schemas-microsoft-com:vml" Requires="v">
                <p:oleObj spid="_x0000_s45057" name="VISIO" r:id="rId3" imgW="2093976" imgH="1176528" progId="Visio.Drawing.6">
                  <p:embed/>
                </p:oleObj>
              </mc:Choice>
              <mc:Fallback>
                <p:oleObj name="VISIO" r:id="rId3" imgW="2093976" imgH="1176528"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4167" t="-3700" r="-4167" b="-7324"/>
                      <a:stretch>
                        <a:fillRect/>
                      </a:stretch>
                    </p:blipFill>
                    <p:spPr bwMode="auto">
                      <a:xfrm>
                        <a:off x="2667000" y="3505200"/>
                        <a:ext cx="39624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DE640C4B-71FC-4810-8A5E-53C78035006C}"/>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2227" name="Slide Number Placeholder 4">
            <a:extLst>
              <a:ext uri="{FF2B5EF4-FFF2-40B4-BE49-F238E27FC236}">
                <a16:creationId xmlns:a16="http://schemas.microsoft.com/office/drawing/2014/main" id="{DCF0616B-BC05-42C9-B892-85CAA7034E14}"/>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86307B8-F397-47E9-94C2-20DD0DE2B576}" type="slidenum">
              <a:rPr lang="en-US" altLang="en-US" sz="1600">
                <a:latin typeface="Times New Roman" panose="02020603050405020304" pitchFamily="18" charset="0"/>
              </a:rPr>
              <a:pPr eaLnBrk="1" hangingPunct="1">
                <a:spcBef>
                  <a:spcPct val="0"/>
                </a:spcBef>
                <a:buClrTx/>
                <a:buFontTx/>
                <a:buNone/>
              </a:pPr>
              <a:t>31</a:t>
            </a:fld>
            <a:endParaRPr lang="en-US" altLang="en-US" sz="1600">
              <a:latin typeface="Times New Roman" panose="02020603050405020304" pitchFamily="18" charset="0"/>
            </a:endParaRPr>
          </a:p>
        </p:txBody>
      </p:sp>
      <p:sp>
        <p:nvSpPr>
          <p:cNvPr id="123906" name="Rectangle 2">
            <a:extLst>
              <a:ext uri="{FF2B5EF4-FFF2-40B4-BE49-F238E27FC236}">
                <a16:creationId xmlns:a16="http://schemas.microsoft.com/office/drawing/2014/main" id="{E9CB4236-6EC7-4A73-AADC-24A88D0087A6}"/>
              </a:ext>
            </a:extLst>
          </p:cNvPr>
          <p:cNvSpPr>
            <a:spLocks noGrp="1" noChangeArrowheads="1"/>
          </p:cNvSpPr>
          <p:nvPr>
            <p:ph type="title"/>
          </p:nvPr>
        </p:nvSpPr>
        <p:spPr/>
        <p:txBody>
          <a:bodyPr/>
          <a:lstStyle/>
          <a:p>
            <a:pPr eaLnBrk="1" hangingPunct="1">
              <a:defRPr/>
            </a:pPr>
            <a:r>
              <a:rPr lang="en-US" altLang="en-US"/>
              <a:t>CBW, CWD, CDQ Instructions</a:t>
            </a:r>
          </a:p>
        </p:txBody>
      </p:sp>
      <p:sp>
        <p:nvSpPr>
          <p:cNvPr id="52229" name="Rectangle 3">
            <a:extLst>
              <a:ext uri="{FF2B5EF4-FFF2-40B4-BE49-F238E27FC236}">
                <a16:creationId xmlns:a16="http://schemas.microsoft.com/office/drawing/2014/main" id="{B9227A90-9727-4143-899F-56ED831E8DBC}"/>
              </a:ext>
            </a:extLst>
          </p:cNvPr>
          <p:cNvSpPr>
            <a:spLocks noGrp="1" noChangeArrowheads="1"/>
          </p:cNvSpPr>
          <p:nvPr>
            <p:ph type="body" idx="1"/>
          </p:nvPr>
        </p:nvSpPr>
        <p:spPr>
          <a:xfrm>
            <a:off x="533400" y="1371600"/>
            <a:ext cx="8382000" cy="4724400"/>
          </a:xfrm>
        </p:spPr>
        <p:txBody>
          <a:bodyPr/>
          <a:lstStyle/>
          <a:p>
            <a:pPr eaLnBrk="1" hangingPunct="1">
              <a:tabLst>
                <a:tab pos="2743200" algn="l"/>
              </a:tabLst>
            </a:pPr>
            <a:r>
              <a:rPr lang="en-US" altLang="en-US" sz="2800"/>
              <a:t>The CBW, CWD, and CDQ instructions provide important sign-extension operations:</a:t>
            </a:r>
          </a:p>
          <a:p>
            <a:pPr lvl="1" eaLnBrk="1" hangingPunct="1">
              <a:tabLst>
                <a:tab pos="2743200" algn="l"/>
              </a:tabLst>
            </a:pPr>
            <a:r>
              <a:rPr lang="en-US" altLang="en-US" sz="2000"/>
              <a:t>CBW (convert byte to word) extends AL into AH</a:t>
            </a:r>
          </a:p>
          <a:p>
            <a:pPr lvl="1" eaLnBrk="1" hangingPunct="1">
              <a:tabLst>
                <a:tab pos="2743200" algn="l"/>
              </a:tabLst>
            </a:pPr>
            <a:r>
              <a:rPr lang="en-US" altLang="en-US" sz="2000"/>
              <a:t>CWD (convert word to doubleword) extends AX into DX</a:t>
            </a:r>
          </a:p>
          <a:p>
            <a:pPr lvl="1" eaLnBrk="1" hangingPunct="1">
              <a:tabLst>
                <a:tab pos="2743200" algn="l"/>
              </a:tabLst>
            </a:pPr>
            <a:r>
              <a:rPr lang="en-US" altLang="en-US" sz="2000"/>
              <a:t>CDQ (convert doubleword to quadword) extends EAX into EDX</a:t>
            </a:r>
          </a:p>
          <a:p>
            <a:pPr eaLnBrk="1" hangingPunct="1">
              <a:tabLst>
                <a:tab pos="2743200" algn="l"/>
              </a:tabLst>
            </a:pPr>
            <a:r>
              <a:rPr lang="en-US" altLang="en-US"/>
              <a:t>Example: </a:t>
            </a:r>
          </a:p>
          <a:p>
            <a:pPr lvl="2" eaLnBrk="1" hangingPunct="1">
              <a:buFontTx/>
              <a:buNone/>
              <a:tabLst>
                <a:tab pos="2743200" algn="l"/>
              </a:tabLst>
            </a:pPr>
            <a:r>
              <a:rPr lang="en-US" altLang="en-US" b="1">
                <a:latin typeface="Courier New" panose="02070309020205020404" pitchFamily="49" charset="0"/>
              </a:rPr>
              <a:t>.data</a:t>
            </a:r>
          </a:p>
          <a:p>
            <a:pPr lvl="2" eaLnBrk="1" hangingPunct="1">
              <a:buFontTx/>
              <a:buNone/>
              <a:tabLst>
                <a:tab pos="2743200" algn="l"/>
              </a:tabLst>
            </a:pPr>
            <a:r>
              <a:rPr lang="en-US" altLang="en-US" b="1">
                <a:latin typeface="Courier New" panose="02070309020205020404" pitchFamily="49" charset="0"/>
              </a:rPr>
              <a:t>dwordVal SDWORD -101 	; FFFFFF9Bh</a:t>
            </a:r>
          </a:p>
          <a:p>
            <a:pPr lvl="2" eaLnBrk="1" hangingPunct="1">
              <a:buFontTx/>
              <a:buNone/>
              <a:tabLst>
                <a:tab pos="2743200" algn="l"/>
              </a:tabLst>
            </a:pPr>
            <a:r>
              <a:rPr lang="en-US" altLang="en-US" b="1">
                <a:latin typeface="Courier New" panose="02070309020205020404" pitchFamily="49" charset="0"/>
              </a:rPr>
              <a:t>.code</a:t>
            </a:r>
          </a:p>
          <a:p>
            <a:pPr lvl="2" eaLnBrk="1" hangingPunct="1">
              <a:buFontTx/>
              <a:buNone/>
              <a:tabLst>
                <a:tab pos="2743200" algn="l"/>
              </a:tabLst>
            </a:pPr>
            <a:r>
              <a:rPr lang="en-US" altLang="en-US" b="1">
                <a:latin typeface="Courier New" panose="02070309020205020404" pitchFamily="49" charset="0"/>
              </a:rPr>
              <a:t>mov eax,dwordVal</a:t>
            </a:r>
          </a:p>
          <a:p>
            <a:pPr lvl="2" eaLnBrk="1" hangingPunct="1">
              <a:buFontTx/>
              <a:buNone/>
              <a:tabLst>
                <a:tab pos="2743200" algn="l"/>
              </a:tabLst>
            </a:pPr>
            <a:r>
              <a:rPr lang="en-US" altLang="en-US" b="1">
                <a:latin typeface="Courier New" panose="02070309020205020404" pitchFamily="49" charset="0"/>
              </a:rPr>
              <a:t>cdq 		; EDX:EAX = FFFFFFFFFFFFFF9Bh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a:extLst>
              <a:ext uri="{FF2B5EF4-FFF2-40B4-BE49-F238E27FC236}">
                <a16:creationId xmlns:a16="http://schemas.microsoft.com/office/drawing/2014/main" id="{67319E14-16BE-4A41-989D-846CEF78EB3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3251" name="Slide Number Placeholder 4">
            <a:extLst>
              <a:ext uri="{FF2B5EF4-FFF2-40B4-BE49-F238E27FC236}">
                <a16:creationId xmlns:a16="http://schemas.microsoft.com/office/drawing/2014/main" id="{20B2B94C-4002-4FB0-8989-34623FA6F7FA}"/>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6365089A-B6EE-4D21-984B-3D79EE7142B4}" type="slidenum">
              <a:rPr lang="en-US" altLang="en-US" sz="1600">
                <a:latin typeface="Times New Roman" panose="02020603050405020304" pitchFamily="18" charset="0"/>
              </a:rPr>
              <a:pPr eaLnBrk="1" hangingPunct="1">
                <a:spcBef>
                  <a:spcPct val="0"/>
                </a:spcBef>
                <a:buClrTx/>
                <a:buFontTx/>
                <a:buNone/>
              </a:pPr>
              <a:t>32</a:t>
            </a:fld>
            <a:endParaRPr lang="en-US" altLang="en-US" sz="1600">
              <a:latin typeface="Times New Roman" panose="02020603050405020304" pitchFamily="18" charset="0"/>
            </a:endParaRPr>
          </a:p>
        </p:txBody>
      </p:sp>
      <p:sp>
        <p:nvSpPr>
          <p:cNvPr id="122882" name="Rectangle 2">
            <a:extLst>
              <a:ext uri="{FF2B5EF4-FFF2-40B4-BE49-F238E27FC236}">
                <a16:creationId xmlns:a16="http://schemas.microsoft.com/office/drawing/2014/main" id="{969EE3BC-1921-4929-96A0-0FDBCDE9211F}"/>
              </a:ext>
            </a:extLst>
          </p:cNvPr>
          <p:cNvSpPr>
            <a:spLocks noGrp="1" noChangeArrowheads="1"/>
          </p:cNvSpPr>
          <p:nvPr>
            <p:ph type="title"/>
          </p:nvPr>
        </p:nvSpPr>
        <p:spPr/>
        <p:txBody>
          <a:bodyPr/>
          <a:lstStyle/>
          <a:p>
            <a:pPr eaLnBrk="1" hangingPunct="1">
              <a:defRPr/>
            </a:pPr>
            <a:r>
              <a:rPr lang="en-US" altLang="en-US"/>
              <a:t>IDIV Instruction</a:t>
            </a:r>
          </a:p>
        </p:txBody>
      </p:sp>
      <p:sp>
        <p:nvSpPr>
          <p:cNvPr id="53253" name="Rectangle 3">
            <a:extLst>
              <a:ext uri="{FF2B5EF4-FFF2-40B4-BE49-F238E27FC236}">
                <a16:creationId xmlns:a16="http://schemas.microsoft.com/office/drawing/2014/main" id="{96D12248-2D2E-4599-8A55-CFBFEBB4F5F4}"/>
              </a:ext>
            </a:extLst>
          </p:cNvPr>
          <p:cNvSpPr>
            <a:spLocks noGrp="1" noChangeArrowheads="1"/>
          </p:cNvSpPr>
          <p:nvPr>
            <p:ph type="body" idx="1"/>
          </p:nvPr>
        </p:nvSpPr>
        <p:spPr>
          <a:xfrm>
            <a:off x="457200" y="1295400"/>
            <a:ext cx="7772400" cy="1143000"/>
          </a:xfrm>
        </p:spPr>
        <p:txBody>
          <a:bodyPr/>
          <a:lstStyle/>
          <a:p>
            <a:pPr eaLnBrk="1" hangingPunct="1"/>
            <a:r>
              <a:rPr lang="en-US" altLang="en-US"/>
              <a:t>IDIV (signed divide) performs signed integer division</a:t>
            </a:r>
          </a:p>
          <a:p>
            <a:pPr eaLnBrk="1" hangingPunct="1"/>
            <a:r>
              <a:rPr lang="en-US" altLang="en-US"/>
              <a:t>Same syntax and operands as DIV instruction</a:t>
            </a:r>
          </a:p>
        </p:txBody>
      </p:sp>
      <p:sp>
        <p:nvSpPr>
          <p:cNvPr id="53254" name="Rectangle 4">
            <a:extLst>
              <a:ext uri="{FF2B5EF4-FFF2-40B4-BE49-F238E27FC236}">
                <a16:creationId xmlns:a16="http://schemas.microsoft.com/office/drawing/2014/main" id="{DDE0BC8D-01D4-4DDF-913A-49F436139EC1}"/>
              </a:ext>
            </a:extLst>
          </p:cNvPr>
          <p:cNvSpPr>
            <a:spLocks noChangeArrowheads="1"/>
          </p:cNvSpPr>
          <p:nvPr/>
        </p:nvSpPr>
        <p:spPr bwMode="auto">
          <a:xfrm>
            <a:off x="762000" y="2590800"/>
            <a:ext cx="731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8-bit division of –48 by 5</a:t>
            </a:r>
          </a:p>
        </p:txBody>
      </p:sp>
      <p:sp>
        <p:nvSpPr>
          <p:cNvPr id="53255" name="Text Box 5">
            <a:extLst>
              <a:ext uri="{FF2B5EF4-FFF2-40B4-BE49-F238E27FC236}">
                <a16:creationId xmlns:a16="http://schemas.microsoft.com/office/drawing/2014/main" id="{A314F0D9-DAE2-44E2-B76F-2E912728E31E}"/>
              </a:ext>
            </a:extLst>
          </p:cNvPr>
          <p:cNvSpPr txBox="1">
            <a:spLocks noChangeArrowheads="1"/>
          </p:cNvSpPr>
          <p:nvPr/>
        </p:nvSpPr>
        <p:spPr bwMode="auto">
          <a:xfrm>
            <a:off x="1524000" y="3200400"/>
            <a:ext cx="6096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al,-48</a:t>
            </a:r>
          </a:p>
          <a:p>
            <a:pPr eaLnBrk="1" hangingPunct="1">
              <a:lnSpc>
                <a:spcPct val="50000"/>
              </a:lnSpc>
              <a:spcBef>
                <a:spcPct val="50000"/>
              </a:spcBef>
              <a:buClrTx/>
              <a:buFontTx/>
              <a:buNone/>
            </a:pPr>
            <a:r>
              <a:rPr lang="en-US" altLang="en-US" sz="1800" b="1">
                <a:latin typeface="Courier New" panose="02070309020205020404" pitchFamily="49" charset="0"/>
              </a:rPr>
              <a:t>cbw		; extend AL into AH</a:t>
            </a:r>
          </a:p>
          <a:p>
            <a:pPr eaLnBrk="1" hangingPunct="1">
              <a:lnSpc>
                <a:spcPct val="50000"/>
              </a:lnSpc>
              <a:spcBef>
                <a:spcPct val="50000"/>
              </a:spcBef>
              <a:buClrTx/>
              <a:buFontTx/>
              <a:buNone/>
            </a:pPr>
            <a:r>
              <a:rPr lang="en-US" altLang="en-US" sz="1800" b="1">
                <a:latin typeface="Courier New" panose="02070309020205020404" pitchFamily="49" charset="0"/>
              </a:rPr>
              <a:t>mov  bl,5</a:t>
            </a:r>
          </a:p>
          <a:p>
            <a:pPr eaLnBrk="1" hangingPunct="1">
              <a:lnSpc>
                <a:spcPct val="50000"/>
              </a:lnSpc>
              <a:spcBef>
                <a:spcPct val="50000"/>
              </a:spcBef>
              <a:buClrTx/>
              <a:buFontTx/>
              <a:buNone/>
            </a:pPr>
            <a:r>
              <a:rPr lang="en-US" altLang="en-US" sz="1800" b="1">
                <a:latin typeface="Courier New" panose="02070309020205020404" pitchFamily="49" charset="0"/>
              </a:rPr>
              <a:t>idiv bl	; AL = -9,  AH = -3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a:extLst>
              <a:ext uri="{FF2B5EF4-FFF2-40B4-BE49-F238E27FC236}">
                <a16:creationId xmlns:a16="http://schemas.microsoft.com/office/drawing/2014/main" id="{1CBE5303-A100-4FB3-A8A9-44E902E87217}"/>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4275" name="Slide Number Placeholder 4">
            <a:extLst>
              <a:ext uri="{FF2B5EF4-FFF2-40B4-BE49-F238E27FC236}">
                <a16:creationId xmlns:a16="http://schemas.microsoft.com/office/drawing/2014/main" id="{B033F938-AABB-4EE6-A656-A920F62968C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01CBB79-D12C-41CB-A64B-629081202312}" type="slidenum">
              <a:rPr lang="en-US" altLang="en-US" sz="1600">
                <a:latin typeface="Times New Roman" panose="02020603050405020304" pitchFamily="18" charset="0"/>
              </a:rPr>
              <a:pPr eaLnBrk="1" hangingPunct="1">
                <a:spcBef>
                  <a:spcPct val="0"/>
                </a:spcBef>
                <a:buClrTx/>
                <a:buFontTx/>
                <a:buNone/>
              </a:pPr>
              <a:t>33</a:t>
            </a:fld>
            <a:endParaRPr lang="en-US" altLang="en-US" sz="1600">
              <a:latin typeface="Times New Roman" panose="02020603050405020304" pitchFamily="18" charset="0"/>
            </a:endParaRPr>
          </a:p>
        </p:txBody>
      </p:sp>
      <p:sp>
        <p:nvSpPr>
          <p:cNvPr id="124930" name="Rectangle 2">
            <a:extLst>
              <a:ext uri="{FF2B5EF4-FFF2-40B4-BE49-F238E27FC236}">
                <a16:creationId xmlns:a16="http://schemas.microsoft.com/office/drawing/2014/main" id="{9922DBCA-4947-43A3-A37B-4B6929500EC0}"/>
              </a:ext>
            </a:extLst>
          </p:cNvPr>
          <p:cNvSpPr>
            <a:spLocks noGrp="1" noChangeArrowheads="1"/>
          </p:cNvSpPr>
          <p:nvPr>
            <p:ph type="title"/>
          </p:nvPr>
        </p:nvSpPr>
        <p:spPr/>
        <p:txBody>
          <a:bodyPr/>
          <a:lstStyle/>
          <a:p>
            <a:pPr eaLnBrk="1" hangingPunct="1">
              <a:defRPr/>
            </a:pPr>
            <a:r>
              <a:rPr lang="en-US" altLang="en-US"/>
              <a:t>IDIV Examples</a:t>
            </a:r>
          </a:p>
        </p:txBody>
      </p:sp>
      <p:grpSp>
        <p:nvGrpSpPr>
          <p:cNvPr id="124937" name="Group 9">
            <a:extLst>
              <a:ext uri="{FF2B5EF4-FFF2-40B4-BE49-F238E27FC236}">
                <a16:creationId xmlns:a16="http://schemas.microsoft.com/office/drawing/2014/main" id="{D714BCBD-5EE4-47C8-A97A-3C282B52CB30}"/>
              </a:ext>
            </a:extLst>
          </p:cNvPr>
          <p:cNvGrpSpPr>
            <a:grpSpLocks/>
          </p:cNvGrpSpPr>
          <p:nvPr/>
        </p:nvGrpSpPr>
        <p:grpSpPr bwMode="auto">
          <a:xfrm>
            <a:off x="762000" y="3657600"/>
            <a:ext cx="7315200" cy="2057400"/>
            <a:chOff x="480" y="2304"/>
            <a:chExt cx="4608" cy="1296"/>
          </a:xfrm>
        </p:grpSpPr>
        <p:sp>
          <p:nvSpPr>
            <p:cNvPr id="54280" name="Rectangle 4">
              <a:extLst>
                <a:ext uri="{FF2B5EF4-FFF2-40B4-BE49-F238E27FC236}">
                  <a16:creationId xmlns:a16="http://schemas.microsoft.com/office/drawing/2014/main" id="{F4530A16-5DF9-4E5B-B7D7-29DCEFF46872}"/>
                </a:ext>
              </a:extLst>
            </p:cNvPr>
            <p:cNvSpPr>
              <a:spLocks noChangeArrowheads="1"/>
            </p:cNvSpPr>
            <p:nvPr/>
          </p:nvSpPr>
          <p:spPr bwMode="auto">
            <a:xfrm>
              <a:off x="480" y="2304"/>
              <a:ext cx="460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32-bit division of –48 by 5</a:t>
              </a:r>
            </a:p>
          </p:txBody>
        </p:sp>
        <p:sp>
          <p:nvSpPr>
            <p:cNvPr id="54281" name="Text Box 5">
              <a:extLst>
                <a:ext uri="{FF2B5EF4-FFF2-40B4-BE49-F238E27FC236}">
                  <a16:creationId xmlns:a16="http://schemas.microsoft.com/office/drawing/2014/main" id="{85B3A9C1-B182-46F8-BC2D-4C125C2AA682}"/>
                </a:ext>
              </a:extLst>
            </p:cNvPr>
            <p:cNvSpPr txBox="1">
              <a:spLocks noChangeArrowheads="1"/>
            </p:cNvSpPr>
            <p:nvPr/>
          </p:nvSpPr>
          <p:spPr bwMode="auto">
            <a:xfrm>
              <a:off x="960" y="2688"/>
              <a:ext cx="3840"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eax,-48</a:t>
              </a:r>
            </a:p>
            <a:p>
              <a:pPr eaLnBrk="1" hangingPunct="1">
                <a:lnSpc>
                  <a:spcPct val="50000"/>
                </a:lnSpc>
                <a:spcBef>
                  <a:spcPct val="50000"/>
                </a:spcBef>
                <a:buClrTx/>
                <a:buFontTx/>
                <a:buNone/>
              </a:pPr>
              <a:r>
                <a:rPr lang="en-US" altLang="en-US" sz="1800" b="1">
                  <a:latin typeface="Courier New" panose="02070309020205020404" pitchFamily="49" charset="0"/>
                </a:rPr>
                <a:t>cdq		; extend EAX into EDX</a:t>
              </a:r>
            </a:p>
            <a:p>
              <a:pPr eaLnBrk="1" hangingPunct="1">
                <a:lnSpc>
                  <a:spcPct val="50000"/>
                </a:lnSpc>
                <a:spcBef>
                  <a:spcPct val="50000"/>
                </a:spcBef>
                <a:buClrTx/>
                <a:buFontTx/>
                <a:buNone/>
              </a:pPr>
              <a:r>
                <a:rPr lang="en-US" altLang="en-US" sz="1800" b="1">
                  <a:latin typeface="Courier New" panose="02070309020205020404" pitchFamily="49" charset="0"/>
                </a:rPr>
                <a:t>mov  ebx,5</a:t>
              </a:r>
            </a:p>
            <a:p>
              <a:pPr eaLnBrk="1" hangingPunct="1">
                <a:lnSpc>
                  <a:spcPct val="50000"/>
                </a:lnSpc>
                <a:spcBef>
                  <a:spcPct val="50000"/>
                </a:spcBef>
                <a:buClrTx/>
                <a:buFontTx/>
                <a:buNone/>
              </a:pPr>
              <a:r>
                <a:rPr lang="en-US" altLang="en-US" sz="1800" b="1">
                  <a:latin typeface="Courier New" panose="02070309020205020404" pitchFamily="49" charset="0"/>
                </a:rPr>
                <a:t>idiv ebx	; EAX = -9,  EDX = -3</a:t>
              </a:r>
            </a:p>
          </p:txBody>
        </p:sp>
      </p:grpSp>
      <p:sp>
        <p:nvSpPr>
          <p:cNvPr id="54278" name="Rectangle 7">
            <a:extLst>
              <a:ext uri="{FF2B5EF4-FFF2-40B4-BE49-F238E27FC236}">
                <a16:creationId xmlns:a16="http://schemas.microsoft.com/office/drawing/2014/main" id="{4AD3FFA1-0D1D-4BF6-9834-6E9BBAB55D4E}"/>
              </a:ext>
            </a:extLst>
          </p:cNvPr>
          <p:cNvSpPr>
            <a:spLocks noChangeArrowheads="1"/>
          </p:cNvSpPr>
          <p:nvPr/>
        </p:nvSpPr>
        <p:spPr bwMode="auto">
          <a:xfrm>
            <a:off x="762000" y="1219200"/>
            <a:ext cx="731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16-bit division of –48 by 5</a:t>
            </a:r>
          </a:p>
        </p:txBody>
      </p:sp>
      <p:sp>
        <p:nvSpPr>
          <p:cNvPr id="54279" name="Text Box 8">
            <a:extLst>
              <a:ext uri="{FF2B5EF4-FFF2-40B4-BE49-F238E27FC236}">
                <a16:creationId xmlns:a16="http://schemas.microsoft.com/office/drawing/2014/main" id="{74D08987-15DF-4171-AD78-621E7D03F4E8}"/>
              </a:ext>
            </a:extLst>
          </p:cNvPr>
          <p:cNvSpPr txBox="1">
            <a:spLocks noChangeArrowheads="1"/>
          </p:cNvSpPr>
          <p:nvPr/>
        </p:nvSpPr>
        <p:spPr bwMode="auto">
          <a:xfrm>
            <a:off x="1524000" y="1828800"/>
            <a:ext cx="6096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ax,-48</a:t>
            </a:r>
          </a:p>
          <a:p>
            <a:pPr eaLnBrk="1" hangingPunct="1">
              <a:lnSpc>
                <a:spcPct val="50000"/>
              </a:lnSpc>
              <a:spcBef>
                <a:spcPct val="50000"/>
              </a:spcBef>
              <a:buClrTx/>
              <a:buFontTx/>
              <a:buNone/>
            </a:pPr>
            <a:r>
              <a:rPr lang="en-US" altLang="en-US" sz="1800" b="1">
                <a:latin typeface="Courier New" panose="02070309020205020404" pitchFamily="49" charset="0"/>
              </a:rPr>
              <a:t>cwd		; extend AX into DX</a:t>
            </a:r>
          </a:p>
          <a:p>
            <a:pPr eaLnBrk="1" hangingPunct="1">
              <a:lnSpc>
                <a:spcPct val="50000"/>
              </a:lnSpc>
              <a:spcBef>
                <a:spcPct val="50000"/>
              </a:spcBef>
              <a:buClrTx/>
              <a:buFontTx/>
              <a:buNone/>
            </a:pPr>
            <a:r>
              <a:rPr lang="en-US" altLang="en-US" sz="1800" b="1">
                <a:latin typeface="Courier New" panose="02070309020205020404" pitchFamily="49" charset="0"/>
              </a:rPr>
              <a:t>mov  bx,5	</a:t>
            </a:r>
          </a:p>
          <a:p>
            <a:pPr eaLnBrk="1" hangingPunct="1">
              <a:lnSpc>
                <a:spcPct val="50000"/>
              </a:lnSpc>
              <a:spcBef>
                <a:spcPct val="50000"/>
              </a:spcBef>
              <a:buClrTx/>
              <a:buFontTx/>
              <a:buNone/>
            </a:pPr>
            <a:r>
              <a:rPr lang="en-US" altLang="en-US" sz="1800" b="1">
                <a:latin typeface="Courier New" panose="02070309020205020404" pitchFamily="49" charset="0"/>
              </a:rPr>
              <a:t>idiv bx	; AX = -9,  DX =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24937"/>
                                        </p:tgtEl>
                                        <p:attrNameLst>
                                          <p:attrName>style.visibility</p:attrName>
                                        </p:attrNameLst>
                                      </p:cBhvr>
                                      <p:to>
                                        <p:strVal val="visible"/>
                                      </p:to>
                                    </p:set>
                                    <p:animEffect transition="in" filter="box(in)">
                                      <p:cBhvr>
                                        <p:cTn id="7" dur="500"/>
                                        <p:tgtEl>
                                          <p:spTgt spid="124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F5CBBF09-8DA6-47C5-A366-3D21D1B141D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6323" name="Slide Number Placeholder 4">
            <a:extLst>
              <a:ext uri="{FF2B5EF4-FFF2-40B4-BE49-F238E27FC236}">
                <a16:creationId xmlns:a16="http://schemas.microsoft.com/office/drawing/2014/main" id="{4CFE50F1-62BA-4B54-B172-00830F1F79D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DB75480-111D-4BF7-BF80-E7A984505AC3}" type="slidenum">
              <a:rPr lang="en-US" altLang="en-US" sz="1600">
                <a:latin typeface="Times New Roman" panose="02020603050405020304" pitchFamily="18" charset="0"/>
              </a:rPr>
              <a:pPr eaLnBrk="1" hangingPunct="1">
                <a:spcBef>
                  <a:spcPct val="0"/>
                </a:spcBef>
                <a:buClrTx/>
                <a:buFontTx/>
                <a:buNone/>
              </a:pPr>
              <a:t>34</a:t>
            </a:fld>
            <a:endParaRPr lang="en-US" altLang="en-US" sz="1600">
              <a:latin typeface="Times New Roman" panose="02020603050405020304" pitchFamily="18" charset="0"/>
            </a:endParaRPr>
          </a:p>
        </p:txBody>
      </p:sp>
      <p:sp>
        <p:nvSpPr>
          <p:cNvPr id="102402" name="Rectangle 2">
            <a:extLst>
              <a:ext uri="{FF2B5EF4-FFF2-40B4-BE49-F238E27FC236}">
                <a16:creationId xmlns:a16="http://schemas.microsoft.com/office/drawing/2014/main" id="{06F62CED-0AE9-43F5-A87C-65184D5398D2}"/>
              </a:ext>
            </a:extLst>
          </p:cNvPr>
          <p:cNvSpPr>
            <a:spLocks noGrp="1" noChangeArrowheads="1"/>
          </p:cNvSpPr>
          <p:nvPr>
            <p:ph type="title"/>
          </p:nvPr>
        </p:nvSpPr>
        <p:spPr>
          <a:xfrm>
            <a:off x="533400" y="228600"/>
            <a:ext cx="8001000" cy="609600"/>
          </a:xfrm>
        </p:spPr>
        <p:txBody>
          <a:bodyPr/>
          <a:lstStyle/>
          <a:p>
            <a:pPr eaLnBrk="1" hangingPunct="1">
              <a:defRPr/>
            </a:pPr>
            <a:r>
              <a:rPr lang="en-US" altLang="en-US"/>
              <a:t>Unsigned Arithmetic Expressions</a:t>
            </a:r>
          </a:p>
        </p:txBody>
      </p:sp>
      <p:sp>
        <p:nvSpPr>
          <p:cNvPr id="56325" name="Rectangle 3">
            <a:extLst>
              <a:ext uri="{FF2B5EF4-FFF2-40B4-BE49-F238E27FC236}">
                <a16:creationId xmlns:a16="http://schemas.microsoft.com/office/drawing/2014/main" id="{0BC97BA9-A70D-4D9B-BE8B-A0780E418F19}"/>
              </a:ext>
            </a:extLst>
          </p:cNvPr>
          <p:cNvSpPr>
            <a:spLocks noGrp="1" noChangeArrowheads="1"/>
          </p:cNvSpPr>
          <p:nvPr>
            <p:ph type="body" idx="1"/>
          </p:nvPr>
        </p:nvSpPr>
        <p:spPr>
          <a:xfrm>
            <a:off x="609600" y="990600"/>
            <a:ext cx="7772400" cy="2209800"/>
          </a:xfrm>
        </p:spPr>
        <p:txBody>
          <a:bodyPr/>
          <a:lstStyle/>
          <a:p>
            <a:pPr eaLnBrk="1" hangingPunct="1"/>
            <a:r>
              <a:rPr lang="en-US" altLang="en-US"/>
              <a:t>Some good reasons to learn how to implement integer expressions:</a:t>
            </a:r>
          </a:p>
          <a:p>
            <a:pPr lvl="1" eaLnBrk="1" hangingPunct="1"/>
            <a:r>
              <a:rPr lang="en-US" altLang="en-US"/>
              <a:t>Learn how do compilers do it</a:t>
            </a:r>
          </a:p>
          <a:p>
            <a:pPr lvl="1" eaLnBrk="1" hangingPunct="1"/>
            <a:r>
              <a:rPr lang="en-US" altLang="en-US"/>
              <a:t>Test your understanding of MUL, IMUL, DIV, IDIV</a:t>
            </a:r>
          </a:p>
          <a:p>
            <a:pPr lvl="1" eaLnBrk="1" hangingPunct="1"/>
            <a:r>
              <a:rPr lang="en-US" altLang="en-US"/>
              <a:t>Check for overflow (Carry and Overflow flags)</a:t>
            </a:r>
          </a:p>
        </p:txBody>
      </p:sp>
      <p:grpSp>
        <p:nvGrpSpPr>
          <p:cNvPr id="102410" name="Group 10">
            <a:extLst>
              <a:ext uri="{FF2B5EF4-FFF2-40B4-BE49-F238E27FC236}">
                <a16:creationId xmlns:a16="http://schemas.microsoft.com/office/drawing/2014/main" id="{3A35010D-760A-400D-9B4E-5FE74A1BFAA1}"/>
              </a:ext>
            </a:extLst>
          </p:cNvPr>
          <p:cNvGrpSpPr>
            <a:grpSpLocks/>
          </p:cNvGrpSpPr>
          <p:nvPr/>
        </p:nvGrpSpPr>
        <p:grpSpPr bwMode="auto">
          <a:xfrm>
            <a:off x="609600" y="3200400"/>
            <a:ext cx="7391400" cy="2628900"/>
            <a:chOff x="384" y="1968"/>
            <a:chExt cx="4656" cy="1656"/>
          </a:xfrm>
        </p:grpSpPr>
        <p:sp>
          <p:nvSpPr>
            <p:cNvPr id="56327" name="Rectangle 4">
              <a:extLst>
                <a:ext uri="{FF2B5EF4-FFF2-40B4-BE49-F238E27FC236}">
                  <a16:creationId xmlns:a16="http://schemas.microsoft.com/office/drawing/2014/main" id="{77F68ED3-A66C-4FF3-A98A-1D7188B9077B}"/>
                </a:ext>
              </a:extLst>
            </p:cNvPr>
            <p:cNvSpPr>
              <a:spLocks noChangeArrowheads="1"/>
            </p:cNvSpPr>
            <p:nvPr/>
          </p:nvSpPr>
          <p:spPr bwMode="auto">
            <a:xfrm>
              <a:off x="384" y="1968"/>
              <a:ext cx="465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a:t>
              </a:r>
              <a:r>
                <a:rPr lang="en-US" altLang="en-US" sz="2000" b="1">
                  <a:solidFill>
                    <a:schemeClr val="tx2"/>
                  </a:solidFill>
                  <a:latin typeface="Courier New" panose="02070309020205020404" pitchFamily="49" charset="0"/>
                </a:rPr>
                <a:t>var4 = (var1 + var2) * var3</a:t>
              </a:r>
            </a:p>
          </p:txBody>
        </p:sp>
        <p:sp>
          <p:nvSpPr>
            <p:cNvPr id="56328" name="Text Box 5">
              <a:extLst>
                <a:ext uri="{FF2B5EF4-FFF2-40B4-BE49-F238E27FC236}">
                  <a16:creationId xmlns:a16="http://schemas.microsoft.com/office/drawing/2014/main" id="{7C207805-E202-4CF6-86DE-4224AE86EA3D}"/>
                </a:ext>
              </a:extLst>
            </p:cNvPr>
            <p:cNvSpPr txBox="1">
              <a:spLocks noChangeArrowheads="1"/>
            </p:cNvSpPr>
            <p:nvPr/>
          </p:nvSpPr>
          <p:spPr bwMode="auto">
            <a:xfrm>
              <a:off x="912" y="2400"/>
              <a:ext cx="3840"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47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478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47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47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47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 Assume unsigned operands</a:t>
              </a:r>
            </a:p>
            <a:p>
              <a:pPr eaLnBrk="1" hangingPunct="1">
                <a:lnSpc>
                  <a:spcPct val="50000"/>
                </a:lnSpc>
                <a:spcBef>
                  <a:spcPct val="50000"/>
                </a:spcBef>
                <a:buClrTx/>
                <a:buFontTx/>
                <a:buNone/>
              </a:pPr>
              <a:r>
                <a:rPr lang="en-US" altLang="en-US" sz="1800" b="1">
                  <a:latin typeface="Courier New" panose="02070309020205020404" pitchFamily="49" charset="0"/>
                </a:rPr>
                <a:t>mov  eax,var1</a:t>
              </a:r>
            </a:p>
            <a:p>
              <a:pPr eaLnBrk="1" hangingPunct="1">
                <a:lnSpc>
                  <a:spcPct val="50000"/>
                </a:lnSpc>
                <a:spcBef>
                  <a:spcPct val="50000"/>
                </a:spcBef>
                <a:buClrTx/>
                <a:buFontTx/>
                <a:buNone/>
              </a:pPr>
              <a:r>
                <a:rPr lang="en-US" altLang="en-US" sz="1800" b="1">
                  <a:latin typeface="Courier New" panose="02070309020205020404" pitchFamily="49" charset="0"/>
                </a:rPr>
                <a:t>add  eax,var2	; EAX = var1 + var2</a:t>
              </a:r>
            </a:p>
            <a:p>
              <a:pPr eaLnBrk="1" hangingPunct="1">
                <a:lnSpc>
                  <a:spcPct val="50000"/>
                </a:lnSpc>
                <a:spcBef>
                  <a:spcPct val="50000"/>
                </a:spcBef>
                <a:buClrTx/>
                <a:buFontTx/>
                <a:buNone/>
              </a:pPr>
              <a:r>
                <a:rPr lang="en-US" altLang="en-US" sz="1800" b="1">
                  <a:latin typeface="Courier New" panose="02070309020205020404" pitchFamily="49" charset="0"/>
                </a:rPr>
                <a:t>mul  var3	; EAX = EAX * var3</a:t>
              </a:r>
            </a:p>
            <a:p>
              <a:pPr eaLnBrk="1" hangingPunct="1">
                <a:lnSpc>
                  <a:spcPct val="50000"/>
                </a:lnSpc>
                <a:spcBef>
                  <a:spcPct val="50000"/>
                </a:spcBef>
                <a:buClrTx/>
                <a:buFontTx/>
                <a:buNone/>
              </a:pPr>
              <a:r>
                <a:rPr lang="en-US" altLang="en-US" sz="1800" b="1">
                  <a:latin typeface="Courier New" panose="02070309020205020404" pitchFamily="49" charset="0"/>
                </a:rPr>
                <a:t>jc   TooBig	; check for carry</a:t>
              </a:r>
            </a:p>
            <a:p>
              <a:pPr eaLnBrk="1" hangingPunct="1">
                <a:lnSpc>
                  <a:spcPct val="50000"/>
                </a:lnSpc>
                <a:spcBef>
                  <a:spcPct val="50000"/>
                </a:spcBef>
                <a:buClrTx/>
                <a:buFontTx/>
                <a:buNone/>
              </a:pPr>
              <a:r>
                <a:rPr lang="en-US" altLang="en-US" sz="1800" b="1">
                  <a:latin typeface="Courier New" panose="02070309020205020404" pitchFamily="49" charset="0"/>
                </a:rPr>
                <a:t>mov  var4,eax	; save product</a:t>
              </a:r>
              <a:endParaRPr lang="en-US" altLang="en-US" sz="1800" b="1" baseline="30000">
                <a:latin typeface="Courier New" panose="02070309020205020404"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a:extLst>
              <a:ext uri="{FF2B5EF4-FFF2-40B4-BE49-F238E27FC236}">
                <a16:creationId xmlns:a16="http://schemas.microsoft.com/office/drawing/2014/main" id="{F3B543E5-7CDC-4FBA-9E74-3D29BC9A0FB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7347" name="Slide Number Placeholder 4">
            <a:extLst>
              <a:ext uri="{FF2B5EF4-FFF2-40B4-BE49-F238E27FC236}">
                <a16:creationId xmlns:a16="http://schemas.microsoft.com/office/drawing/2014/main" id="{176BC09D-9FA0-4F57-823C-FFFC9A344E73}"/>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3E546D0-9AC9-40F6-92ED-943C78C36F54}" type="slidenum">
              <a:rPr lang="en-US" altLang="en-US" sz="1600">
                <a:latin typeface="Times New Roman" panose="02020603050405020304" pitchFamily="18" charset="0"/>
              </a:rPr>
              <a:pPr eaLnBrk="1" hangingPunct="1">
                <a:spcBef>
                  <a:spcPct val="0"/>
                </a:spcBef>
                <a:buClrTx/>
                <a:buFontTx/>
                <a:buNone/>
              </a:pPr>
              <a:t>35</a:t>
            </a:fld>
            <a:endParaRPr lang="en-US" altLang="en-US" sz="1600">
              <a:latin typeface="Times New Roman" panose="02020603050405020304" pitchFamily="18" charset="0"/>
            </a:endParaRPr>
          </a:p>
        </p:txBody>
      </p:sp>
      <p:sp>
        <p:nvSpPr>
          <p:cNvPr id="125954" name="Rectangle 2">
            <a:extLst>
              <a:ext uri="{FF2B5EF4-FFF2-40B4-BE49-F238E27FC236}">
                <a16:creationId xmlns:a16="http://schemas.microsoft.com/office/drawing/2014/main" id="{3E3FE6C6-93B7-4233-9D98-14A14A2BE7AB}"/>
              </a:ext>
            </a:extLst>
          </p:cNvPr>
          <p:cNvSpPr>
            <a:spLocks noGrp="1" noChangeArrowheads="1"/>
          </p:cNvSpPr>
          <p:nvPr>
            <p:ph type="title"/>
          </p:nvPr>
        </p:nvSpPr>
        <p:spPr>
          <a:xfrm>
            <a:off x="533400" y="228600"/>
            <a:ext cx="8229600" cy="609600"/>
          </a:xfrm>
        </p:spPr>
        <p:txBody>
          <a:bodyPr/>
          <a:lstStyle/>
          <a:p>
            <a:pPr eaLnBrk="1" hangingPunct="1">
              <a:defRPr/>
            </a:pPr>
            <a:r>
              <a:rPr lang="en-US" altLang="en-US"/>
              <a:t>Signed Arithmetic Expressions</a:t>
            </a:r>
            <a:r>
              <a:rPr lang="en-US" altLang="en-US" sz="2400"/>
              <a:t>  (1 of 2)</a:t>
            </a:r>
          </a:p>
        </p:txBody>
      </p:sp>
      <p:sp>
        <p:nvSpPr>
          <p:cNvPr id="57349" name="Rectangle 4">
            <a:extLst>
              <a:ext uri="{FF2B5EF4-FFF2-40B4-BE49-F238E27FC236}">
                <a16:creationId xmlns:a16="http://schemas.microsoft.com/office/drawing/2014/main" id="{B972EAE9-2DF0-4505-8A7A-E003D36573E3}"/>
              </a:ext>
            </a:extLst>
          </p:cNvPr>
          <p:cNvSpPr>
            <a:spLocks noChangeArrowheads="1"/>
          </p:cNvSpPr>
          <p:nvPr/>
        </p:nvSpPr>
        <p:spPr bwMode="auto">
          <a:xfrm>
            <a:off x="609600" y="990600"/>
            <a:ext cx="731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a:t>
            </a:r>
            <a:r>
              <a:rPr lang="en-US" altLang="en-US" sz="2000" b="1">
                <a:solidFill>
                  <a:schemeClr val="tx2"/>
                </a:solidFill>
                <a:latin typeface="Courier New" panose="02070309020205020404" pitchFamily="49" charset="0"/>
              </a:rPr>
              <a:t>eax = (-var1 * var2) + var3</a:t>
            </a:r>
          </a:p>
        </p:txBody>
      </p:sp>
      <p:sp>
        <p:nvSpPr>
          <p:cNvPr id="57350" name="Text Box 5">
            <a:extLst>
              <a:ext uri="{FF2B5EF4-FFF2-40B4-BE49-F238E27FC236}">
                <a16:creationId xmlns:a16="http://schemas.microsoft.com/office/drawing/2014/main" id="{493BB91D-87AA-4C56-997D-DCEDEBFEDECE}"/>
              </a:ext>
            </a:extLst>
          </p:cNvPr>
          <p:cNvSpPr txBox="1">
            <a:spLocks noChangeArrowheads="1"/>
          </p:cNvSpPr>
          <p:nvPr/>
        </p:nvSpPr>
        <p:spPr bwMode="auto">
          <a:xfrm>
            <a:off x="1447800" y="1524000"/>
            <a:ext cx="61722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47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478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47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47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47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47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eax,var1</a:t>
            </a:r>
          </a:p>
          <a:p>
            <a:pPr eaLnBrk="1" hangingPunct="1">
              <a:lnSpc>
                <a:spcPct val="50000"/>
              </a:lnSpc>
              <a:spcBef>
                <a:spcPct val="50000"/>
              </a:spcBef>
              <a:buClrTx/>
              <a:buFontTx/>
              <a:buNone/>
            </a:pPr>
            <a:r>
              <a:rPr lang="en-US" altLang="en-US" sz="1800" b="1">
                <a:latin typeface="Courier New" panose="02070309020205020404" pitchFamily="49" charset="0"/>
              </a:rPr>
              <a:t>neg  eax</a:t>
            </a:r>
          </a:p>
          <a:p>
            <a:pPr eaLnBrk="1" hangingPunct="1">
              <a:lnSpc>
                <a:spcPct val="50000"/>
              </a:lnSpc>
              <a:spcBef>
                <a:spcPct val="50000"/>
              </a:spcBef>
              <a:buClrTx/>
              <a:buFontTx/>
              <a:buNone/>
            </a:pPr>
            <a:r>
              <a:rPr lang="en-US" altLang="en-US" sz="1800" b="1">
                <a:latin typeface="Courier New" panose="02070309020205020404" pitchFamily="49" charset="0"/>
              </a:rPr>
              <a:t>imul var2</a:t>
            </a:r>
          </a:p>
          <a:p>
            <a:pPr eaLnBrk="1" hangingPunct="1">
              <a:lnSpc>
                <a:spcPct val="50000"/>
              </a:lnSpc>
              <a:spcBef>
                <a:spcPct val="50000"/>
              </a:spcBef>
              <a:buClrTx/>
              <a:buFontTx/>
              <a:buNone/>
            </a:pPr>
            <a:r>
              <a:rPr lang="en-US" altLang="en-US" sz="1800" b="1">
                <a:latin typeface="Courier New" panose="02070309020205020404" pitchFamily="49" charset="0"/>
              </a:rPr>
              <a:t>jo   TooBig	; check for overflow</a:t>
            </a:r>
          </a:p>
          <a:p>
            <a:pPr eaLnBrk="1" hangingPunct="1">
              <a:lnSpc>
                <a:spcPct val="50000"/>
              </a:lnSpc>
              <a:spcBef>
                <a:spcPct val="50000"/>
              </a:spcBef>
              <a:buClrTx/>
              <a:buFontTx/>
              <a:buNone/>
            </a:pPr>
            <a:r>
              <a:rPr lang="en-US" altLang="en-US" sz="1800" b="1">
                <a:latin typeface="Courier New" panose="02070309020205020404" pitchFamily="49" charset="0"/>
              </a:rPr>
              <a:t>add  eax,var3</a:t>
            </a:r>
          </a:p>
          <a:p>
            <a:pPr eaLnBrk="1" hangingPunct="1">
              <a:lnSpc>
                <a:spcPct val="50000"/>
              </a:lnSpc>
              <a:spcBef>
                <a:spcPct val="50000"/>
              </a:spcBef>
              <a:buClrTx/>
              <a:buFontTx/>
              <a:buNone/>
            </a:pPr>
            <a:r>
              <a:rPr lang="en-US" altLang="en-US" sz="1800" b="1">
                <a:latin typeface="Courier New" panose="02070309020205020404" pitchFamily="49" charset="0"/>
              </a:rPr>
              <a:t>jo   TooBig	; check for overflow</a:t>
            </a:r>
          </a:p>
        </p:txBody>
      </p:sp>
      <p:grpSp>
        <p:nvGrpSpPr>
          <p:cNvPr id="125961" name="Group 9">
            <a:extLst>
              <a:ext uri="{FF2B5EF4-FFF2-40B4-BE49-F238E27FC236}">
                <a16:creationId xmlns:a16="http://schemas.microsoft.com/office/drawing/2014/main" id="{B78FDA2B-90D7-4A1C-AE4C-4A050E8C620D}"/>
              </a:ext>
            </a:extLst>
          </p:cNvPr>
          <p:cNvGrpSpPr>
            <a:grpSpLocks/>
          </p:cNvGrpSpPr>
          <p:nvPr/>
        </p:nvGrpSpPr>
        <p:grpSpPr bwMode="auto">
          <a:xfrm>
            <a:off x="685800" y="3505200"/>
            <a:ext cx="7315200" cy="2667000"/>
            <a:chOff x="432" y="2208"/>
            <a:chExt cx="4608" cy="1680"/>
          </a:xfrm>
        </p:grpSpPr>
        <p:sp>
          <p:nvSpPr>
            <p:cNvPr id="57352" name="Rectangle 7">
              <a:extLst>
                <a:ext uri="{FF2B5EF4-FFF2-40B4-BE49-F238E27FC236}">
                  <a16:creationId xmlns:a16="http://schemas.microsoft.com/office/drawing/2014/main" id="{C2B9BB0D-8D5C-4114-957F-5D5F273F30BD}"/>
                </a:ext>
              </a:extLst>
            </p:cNvPr>
            <p:cNvSpPr>
              <a:spLocks noChangeArrowheads="1"/>
            </p:cNvSpPr>
            <p:nvPr/>
          </p:nvSpPr>
          <p:spPr bwMode="auto">
            <a:xfrm>
              <a:off x="432" y="2208"/>
              <a:ext cx="460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a:t>
              </a:r>
              <a:r>
                <a:rPr lang="en-US" altLang="en-US" sz="2000" b="1">
                  <a:solidFill>
                    <a:schemeClr val="tx2"/>
                  </a:solidFill>
                  <a:latin typeface="Courier New" panose="02070309020205020404" pitchFamily="49" charset="0"/>
                </a:rPr>
                <a:t>var4 = (var1 * 5) / (var2 – 3)</a:t>
              </a:r>
            </a:p>
          </p:txBody>
        </p:sp>
        <p:sp>
          <p:nvSpPr>
            <p:cNvPr id="57353" name="Text Box 8">
              <a:extLst>
                <a:ext uri="{FF2B5EF4-FFF2-40B4-BE49-F238E27FC236}">
                  <a16:creationId xmlns:a16="http://schemas.microsoft.com/office/drawing/2014/main" id="{9B0C7EBD-0DF4-49B7-8913-35452CED7B58}"/>
                </a:ext>
              </a:extLst>
            </p:cNvPr>
            <p:cNvSpPr txBox="1">
              <a:spLocks noChangeArrowheads="1"/>
            </p:cNvSpPr>
            <p:nvPr/>
          </p:nvSpPr>
          <p:spPr bwMode="auto">
            <a:xfrm>
              <a:off x="912" y="2592"/>
              <a:ext cx="3936"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eax,var1 	; left side</a:t>
              </a:r>
            </a:p>
            <a:p>
              <a:pPr eaLnBrk="1" hangingPunct="1">
                <a:lnSpc>
                  <a:spcPct val="50000"/>
                </a:lnSpc>
                <a:spcBef>
                  <a:spcPct val="50000"/>
                </a:spcBef>
                <a:buClrTx/>
                <a:buFontTx/>
                <a:buNone/>
              </a:pPr>
              <a:r>
                <a:rPr lang="en-US" altLang="en-US" sz="1800" b="1">
                  <a:latin typeface="Courier New" panose="02070309020205020404" pitchFamily="49" charset="0"/>
                </a:rPr>
                <a:t>mov  ebx,5</a:t>
              </a:r>
            </a:p>
            <a:p>
              <a:pPr eaLnBrk="1" hangingPunct="1">
                <a:lnSpc>
                  <a:spcPct val="50000"/>
                </a:lnSpc>
                <a:spcBef>
                  <a:spcPct val="50000"/>
                </a:spcBef>
                <a:buClrTx/>
                <a:buFontTx/>
                <a:buNone/>
              </a:pPr>
              <a:r>
                <a:rPr lang="en-US" altLang="en-US" sz="1800" b="1">
                  <a:latin typeface="Courier New" panose="02070309020205020404" pitchFamily="49" charset="0"/>
                </a:rPr>
                <a:t>imul ebx 	; EDX:EAX = product</a:t>
              </a:r>
            </a:p>
            <a:p>
              <a:pPr eaLnBrk="1" hangingPunct="1">
                <a:lnSpc>
                  <a:spcPct val="50000"/>
                </a:lnSpc>
                <a:spcBef>
                  <a:spcPct val="50000"/>
                </a:spcBef>
                <a:buClrTx/>
                <a:buFontTx/>
                <a:buNone/>
              </a:pPr>
              <a:r>
                <a:rPr lang="en-US" altLang="en-US" sz="1800" b="1">
                  <a:latin typeface="Courier New" panose="02070309020205020404" pitchFamily="49" charset="0"/>
                </a:rPr>
                <a:t>mov  ebx,var2 	; right side</a:t>
              </a:r>
            </a:p>
            <a:p>
              <a:pPr eaLnBrk="1" hangingPunct="1">
                <a:lnSpc>
                  <a:spcPct val="50000"/>
                </a:lnSpc>
                <a:spcBef>
                  <a:spcPct val="50000"/>
                </a:spcBef>
                <a:buClrTx/>
                <a:buFontTx/>
                <a:buNone/>
              </a:pPr>
              <a:r>
                <a:rPr lang="en-US" altLang="en-US" sz="1800" b="1">
                  <a:latin typeface="Courier New" panose="02070309020205020404" pitchFamily="49" charset="0"/>
                </a:rPr>
                <a:t>sub  ebx,3</a:t>
              </a:r>
            </a:p>
            <a:p>
              <a:pPr eaLnBrk="1" hangingPunct="1">
                <a:lnSpc>
                  <a:spcPct val="50000"/>
                </a:lnSpc>
                <a:spcBef>
                  <a:spcPct val="50000"/>
                </a:spcBef>
                <a:buClrTx/>
                <a:buFontTx/>
                <a:buNone/>
              </a:pPr>
              <a:r>
                <a:rPr lang="en-US" altLang="en-US" sz="1800" b="1">
                  <a:latin typeface="Courier New" panose="02070309020205020404" pitchFamily="49" charset="0"/>
                </a:rPr>
                <a:t>idiv ebx 	; EAX = quotient</a:t>
              </a:r>
            </a:p>
            <a:p>
              <a:pPr eaLnBrk="1" hangingPunct="1">
                <a:lnSpc>
                  <a:spcPct val="50000"/>
                </a:lnSpc>
                <a:spcBef>
                  <a:spcPct val="50000"/>
                </a:spcBef>
                <a:buClrTx/>
                <a:buFontTx/>
                <a:buNone/>
              </a:pPr>
              <a:r>
                <a:rPr lang="en-US" altLang="en-US" sz="1800" b="1">
                  <a:latin typeface="Courier New" panose="02070309020205020404" pitchFamily="49" charset="0"/>
                </a:rPr>
                <a:t>mov  var4,eax</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25961"/>
                                        </p:tgtEl>
                                        <p:attrNameLst>
                                          <p:attrName>style.visibility</p:attrName>
                                        </p:attrNameLst>
                                      </p:cBhvr>
                                      <p:to>
                                        <p:strVal val="visible"/>
                                      </p:to>
                                    </p:set>
                                    <p:animEffect transition="in" filter="box(in)">
                                      <p:cBhvr>
                                        <p:cTn id="7" dur="500"/>
                                        <p:tgtEl>
                                          <p:spTgt spid="125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520992AF-5DCA-4B02-8E36-A6B02DB1C4CD}"/>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58371" name="Slide Number Placeholder 4">
            <a:extLst>
              <a:ext uri="{FF2B5EF4-FFF2-40B4-BE49-F238E27FC236}">
                <a16:creationId xmlns:a16="http://schemas.microsoft.com/office/drawing/2014/main" id="{AF66C886-EE47-4CBF-9A28-DA8C566285D4}"/>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721C57A8-560B-4FFE-8535-2AADFEB21442}" type="slidenum">
              <a:rPr lang="en-US" altLang="en-US" sz="1600">
                <a:latin typeface="Times New Roman" panose="02020603050405020304" pitchFamily="18" charset="0"/>
              </a:rPr>
              <a:pPr eaLnBrk="1" hangingPunct="1">
                <a:spcBef>
                  <a:spcPct val="0"/>
                </a:spcBef>
                <a:buClrTx/>
                <a:buFontTx/>
                <a:buNone/>
              </a:pPr>
              <a:t>36</a:t>
            </a:fld>
            <a:endParaRPr lang="en-US" altLang="en-US" sz="1600">
              <a:latin typeface="Times New Roman" panose="02020603050405020304" pitchFamily="18" charset="0"/>
            </a:endParaRPr>
          </a:p>
        </p:txBody>
      </p:sp>
      <p:sp>
        <p:nvSpPr>
          <p:cNvPr id="126978" name="Rectangle 1026">
            <a:extLst>
              <a:ext uri="{FF2B5EF4-FFF2-40B4-BE49-F238E27FC236}">
                <a16:creationId xmlns:a16="http://schemas.microsoft.com/office/drawing/2014/main" id="{7D7F2FE4-753C-4A4F-A9A2-5919DCE5621C}"/>
              </a:ext>
            </a:extLst>
          </p:cNvPr>
          <p:cNvSpPr>
            <a:spLocks noGrp="1" noChangeArrowheads="1"/>
          </p:cNvSpPr>
          <p:nvPr>
            <p:ph type="title"/>
          </p:nvPr>
        </p:nvSpPr>
        <p:spPr>
          <a:xfrm>
            <a:off x="533400" y="228600"/>
            <a:ext cx="8077200" cy="609600"/>
          </a:xfrm>
        </p:spPr>
        <p:txBody>
          <a:bodyPr/>
          <a:lstStyle/>
          <a:p>
            <a:pPr eaLnBrk="1" hangingPunct="1">
              <a:defRPr/>
            </a:pPr>
            <a:r>
              <a:rPr lang="en-US" altLang="en-US"/>
              <a:t>Signed Arithmetic Expressions</a:t>
            </a:r>
            <a:r>
              <a:rPr lang="en-US" altLang="en-US" sz="2400"/>
              <a:t>  (2 of 2)</a:t>
            </a:r>
          </a:p>
        </p:txBody>
      </p:sp>
      <p:sp>
        <p:nvSpPr>
          <p:cNvPr id="58373" name="Rectangle 1027">
            <a:extLst>
              <a:ext uri="{FF2B5EF4-FFF2-40B4-BE49-F238E27FC236}">
                <a16:creationId xmlns:a16="http://schemas.microsoft.com/office/drawing/2014/main" id="{EEA00A38-E649-4E77-9EF5-9FB7A0A183B0}"/>
              </a:ext>
            </a:extLst>
          </p:cNvPr>
          <p:cNvSpPr>
            <a:spLocks noChangeArrowheads="1"/>
          </p:cNvSpPr>
          <p:nvPr/>
        </p:nvSpPr>
        <p:spPr bwMode="auto">
          <a:xfrm>
            <a:off x="609600" y="1143000"/>
            <a:ext cx="7543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a:t>Example:   </a:t>
            </a:r>
            <a:r>
              <a:rPr lang="en-US" altLang="en-US" sz="2000" b="1">
                <a:solidFill>
                  <a:schemeClr val="tx2"/>
                </a:solidFill>
                <a:latin typeface="Courier New" panose="02070309020205020404" pitchFamily="49" charset="0"/>
              </a:rPr>
              <a:t>var4 = (var1 * -5) / (-var2 % var3);</a:t>
            </a:r>
          </a:p>
        </p:txBody>
      </p:sp>
      <p:sp>
        <p:nvSpPr>
          <p:cNvPr id="58374" name="Text Box 1028">
            <a:extLst>
              <a:ext uri="{FF2B5EF4-FFF2-40B4-BE49-F238E27FC236}">
                <a16:creationId xmlns:a16="http://schemas.microsoft.com/office/drawing/2014/main" id="{CEE87092-4C57-4F7F-9BA5-E2313CDECABD}"/>
              </a:ext>
            </a:extLst>
          </p:cNvPr>
          <p:cNvSpPr txBox="1">
            <a:spLocks noChangeArrowheads="1"/>
          </p:cNvSpPr>
          <p:nvPr/>
        </p:nvSpPr>
        <p:spPr bwMode="auto">
          <a:xfrm>
            <a:off x="1066800" y="1828800"/>
            <a:ext cx="6858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516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516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20516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20516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51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516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eax,var2	; begin right side</a:t>
            </a:r>
          </a:p>
          <a:p>
            <a:pPr eaLnBrk="1" hangingPunct="1">
              <a:lnSpc>
                <a:spcPct val="50000"/>
              </a:lnSpc>
              <a:spcBef>
                <a:spcPct val="50000"/>
              </a:spcBef>
              <a:buClrTx/>
              <a:buFontTx/>
              <a:buNone/>
            </a:pPr>
            <a:r>
              <a:rPr lang="en-US" altLang="en-US" sz="1800" b="1">
                <a:latin typeface="Courier New" panose="02070309020205020404" pitchFamily="49" charset="0"/>
              </a:rPr>
              <a:t>neg  eax</a:t>
            </a:r>
          </a:p>
          <a:p>
            <a:pPr eaLnBrk="1" hangingPunct="1">
              <a:lnSpc>
                <a:spcPct val="50000"/>
              </a:lnSpc>
              <a:spcBef>
                <a:spcPct val="50000"/>
              </a:spcBef>
              <a:buClrTx/>
              <a:buFontTx/>
              <a:buNone/>
            </a:pPr>
            <a:r>
              <a:rPr lang="en-US" altLang="en-US" sz="1800" b="1">
                <a:latin typeface="Courier New" panose="02070309020205020404" pitchFamily="49" charset="0"/>
              </a:rPr>
              <a:t>cdq 	; sign-extend dividend</a:t>
            </a:r>
          </a:p>
          <a:p>
            <a:pPr eaLnBrk="1" hangingPunct="1">
              <a:lnSpc>
                <a:spcPct val="50000"/>
              </a:lnSpc>
              <a:spcBef>
                <a:spcPct val="50000"/>
              </a:spcBef>
              <a:buClrTx/>
              <a:buFontTx/>
              <a:buNone/>
            </a:pPr>
            <a:r>
              <a:rPr lang="en-US" altLang="en-US" sz="1800" b="1">
                <a:latin typeface="Courier New" panose="02070309020205020404" pitchFamily="49" charset="0"/>
              </a:rPr>
              <a:t>idiv var3 	; EDX = remainder</a:t>
            </a:r>
          </a:p>
          <a:p>
            <a:pPr eaLnBrk="1" hangingPunct="1">
              <a:lnSpc>
                <a:spcPct val="50000"/>
              </a:lnSpc>
              <a:spcBef>
                <a:spcPct val="50000"/>
              </a:spcBef>
              <a:buClrTx/>
              <a:buFontTx/>
              <a:buNone/>
            </a:pPr>
            <a:r>
              <a:rPr lang="en-US" altLang="en-US" sz="1800" b="1">
                <a:latin typeface="Courier New" panose="02070309020205020404" pitchFamily="49" charset="0"/>
              </a:rPr>
              <a:t>mov  ebx,edx 	; EBX = right side</a:t>
            </a:r>
          </a:p>
          <a:p>
            <a:pPr eaLnBrk="1" hangingPunct="1">
              <a:lnSpc>
                <a:spcPct val="50000"/>
              </a:lnSpc>
              <a:spcBef>
                <a:spcPct val="50000"/>
              </a:spcBef>
              <a:buClrTx/>
              <a:buFontTx/>
              <a:buNone/>
            </a:pPr>
            <a:r>
              <a:rPr lang="en-US" altLang="en-US" sz="1800" b="1">
                <a:latin typeface="Courier New" panose="02070309020205020404" pitchFamily="49" charset="0"/>
              </a:rPr>
              <a:t>mov  eax,-5 	; begin left side</a:t>
            </a:r>
          </a:p>
          <a:p>
            <a:pPr eaLnBrk="1" hangingPunct="1">
              <a:lnSpc>
                <a:spcPct val="50000"/>
              </a:lnSpc>
              <a:spcBef>
                <a:spcPct val="50000"/>
              </a:spcBef>
              <a:buClrTx/>
              <a:buFontTx/>
              <a:buNone/>
            </a:pPr>
            <a:r>
              <a:rPr lang="en-US" altLang="en-US" sz="1800" b="1">
                <a:latin typeface="Courier New" panose="02070309020205020404" pitchFamily="49" charset="0"/>
              </a:rPr>
              <a:t>imul var1 	; EDX:EAX = left side</a:t>
            </a:r>
          </a:p>
          <a:p>
            <a:pPr eaLnBrk="1" hangingPunct="1">
              <a:lnSpc>
                <a:spcPct val="50000"/>
              </a:lnSpc>
              <a:spcBef>
                <a:spcPct val="50000"/>
              </a:spcBef>
              <a:buClrTx/>
              <a:buFontTx/>
              <a:buNone/>
            </a:pPr>
            <a:r>
              <a:rPr lang="en-US" altLang="en-US" sz="1800" b="1">
                <a:latin typeface="Courier New" panose="02070309020205020404" pitchFamily="49" charset="0"/>
              </a:rPr>
              <a:t>idiv ebx 	; final division</a:t>
            </a:r>
          </a:p>
          <a:p>
            <a:pPr eaLnBrk="1" hangingPunct="1">
              <a:lnSpc>
                <a:spcPct val="50000"/>
              </a:lnSpc>
              <a:spcBef>
                <a:spcPct val="50000"/>
              </a:spcBef>
              <a:buClrTx/>
              <a:buFontTx/>
              <a:buNone/>
            </a:pPr>
            <a:r>
              <a:rPr lang="en-US" altLang="en-US" sz="1800" b="1">
                <a:latin typeface="Courier New" panose="02070309020205020404" pitchFamily="49" charset="0"/>
              </a:rPr>
              <a:t>mov  var4,eax 	; quotient</a:t>
            </a:r>
          </a:p>
        </p:txBody>
      </p:sp>
      <p:sp>
        <p:nvSpPr>
          <p:cNvPr id="126984" name="Text Box 1032">
            <a:extLst>
              <a:ext uri="{FF2B5EF4-FFF2-40B4-BE49-F238E27FC236}">
                <a16:creationId xmlns:a16="http://schemas.microsoft.com/office/drawing/2014/main" id="{E3C41A9F-03FE-404F-B2FF-3F8E97CE4A51}"/>
              </a:ext>
            </a:extLst>
          </p:cNvPr>
          <p:cNvSpPr txBox="1">
            <a:spLocks noChangeArrowheads="1"/>
          </p:cNvSpPr>
          <p:nvPr/>
        </p:nvSpPr>
        <p:spPr bwMode="auto">
          <a:xfrm>
            <a:off x="609600" y="4876800"/>
            <a:ext cx="7620000" cy="923925"/>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solidFill>
                  <a:schemeClr val="tx2"/>
                </a:solidFill>
              </a:rPr>
              <a:t>Sometimes it's easiest to calculate the right-hand term of an expression first.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6984"/>
                                        </p:tgtEl>
                                        <p:attrNameLst>
                                          <p:attrName>style.visibility</p:attrName>
                                        </p:attrNameLst>
                                      </p:cBhvr>
                                      <p:to>
                                        <p:strVal val="visible"/>
                                      </p:to>
                                    </p:set>
                                    <p:animEffect transition="in" filter="box(in)">
                                      <p:cBhvr>
                                        <p:cTn id="7" dur="500"/>
                                        <p:tgtEl>
                                          <p:spTgt spid="126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4"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10E7C458-4D10-454B-9714-B8EB6A25391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2467" name="Slide Number Placeholder 4">
            <a:extLst>
              <a:ext uri="{FF2B5EF4-FFF2-40B4-BE49-F238E27FC236}">
                <a16:creationId xmlns:a16="http://schemas.microsoft.com/office/drawing/2014/main" id="{86B3C9CF-0D3B-46F0-91C5-917619460CA1}"/>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0C976463-4578-4603-B95B-60077BDB114E}" type="slidenum">
              <a:rPr lang="en-US" altLang="en-US" sz="1600">
                <a:latin typeface="Times New Roman" panose="02020603050405020304" pitchFamily="18" charset="0"/>
              </a:rPr>
              <a:pPr eaLnBrk="1" hangingPunct="1">
                <a:spcBef>
                  <a:spcPct val="0"/>
                </a:spcBef>
                <a:buClrTx/>
                <a:buFontTx/>
                <a:buNone/>
              </a:pPr>
              <a:t>37</a:t>
            </a:fld>
            <a:endParaRPr lang="en-US" altLang="en-US" sz="1600">
              <a:latin typeface="Times New Roman" panose="02020603050405020304" pitchFamily="18" charset="0"/>
            </a:endParaRPr>
          </a:p>
        </p:txBody>
      </p:sp>
      <p:sp>
        <p:nvSpPr>
          <p:cNvPr id="164866" name="Rectangle 2">
            <a:extLst>
              <a:ext uri="{FF2B5EF4-FFF2-40B4-BE49-F238E27FC236}">
                <a16:creationId xmlns:a16="http://schemas.microsoft.com/office/drawing/2014/main" id="{D81F4EA4-17CF-4222-B588-35FFAA4AD379}"/>
              </a:ext>
            </a:extLst>
          </p:cNvPr>
          <p:cNvSpPr>
            <a:spLocks noGrp="1" noChangeArrowheads="1"/>
          </p:cNvSpPr>
          <p:nvPr>
            <p:ph type="title"/>
          </p:nvPr>
        </p:nvSpPr>
        <p:spPr/>
        <p:txBody>
          <a:bodyPr/>
          <a:lstStyle/>
          <a:p>
            <a:pPr eaLnBrk="1" hangingPunct="1">
              <a:defRPr/>
            </a:pPr>
            <a:r>
              <a:rPr lang="en-US" altLang="en-US"/>
              <a:t>What's Next</a:t>
            </a:r>
          </a:p>
        </p:txBody>
      </p:sp>
      <p:sp>
        <p:nvSpPr>
          <p:cNvPr id="62469" name="Rectangle 3">
            <a:extLst>
              <a:ext uri="{FF2B5EF4-FFF2-40B4-BE49-F238E27FC236}">
                <a16:creationId xmlns:a16="http://schemas.microsoft.com/office/drawing/2014/main" id="{57CF5F56-0902-4096-AE48-2BAF86095F95}"/>
              </a:ext>
            </a:extLst>
          </p:cNvPr>
          <p:cNvSpPr>
            <a:spLocks noGrp="1" noChangeArrowheads="1"/>
          </p:cNvSpPr>
          <p:nvPr>
            <p:ph type="body" idx="1"/>
          </p:nvPr>
        </p:nvSpPr>
        <p:spPr>
          <a:xfrm>
            <a:off x="1295400" y="1600200"/>
            <a:ext cx="6934200" cy="2819400"/>
          </a:xfrm>
        </p:spPr>
        <p:txBody>
          <a:bodyPr/>
          <a:lstStyle/>
          <a:p>
            <a:pPr eaLnBrk="1" hangingPunct="1"/>
            <a:r>
              <a:rPr lang="en-US" altLang="en-US"/>
              <a:t>Shift and Rotate Instructions</a:t>
            </a:r>
          </a:p>
          <a:p>
            <a:pPr eaLnBrk="1" hangingPunct="1"/>
            <a:r>
              <a:rPr lang="en-US" altLang="en-US"/>
              <a:t>Shift and Rotate Applications</a:t>
            </a:r>
          </a:p>
          <a:p>
            <a:pPr eaLnBrk="1" hangingPunct="1"/>
            <a:r>
              <a:rPr lang="en-US" altLang="en-US"/>
              <a:t>Multiplication and Division Instructions</a:t>
            </a:r>
          </a:p>
          <a:p>
            <a:pPr eaLnBrk="1" hangingPunct="1"/>
            <a:r>
              <a:rPr lang="en-US" altLang="en-US" b="1">
                <a:solidFill>
                  <a:schemeClr val="tx2"/>
                </a:solidFill>
              </a:rPr>
              <a:t>Extended Addition and Subtraction</a:t>
            </a:r>
          </a:p>
          <a:p>
            <a:pPr eaLnBrk="1" hangingPunct="1"/>
            <a:r>
              <a:rPr lang="en-US" altLang="en-US"/>
              <a:t>ASCII and UnPacked Decimal Arithmetic</a:t>
            </a:r>
          </a:p>
          <a:p>
            <a:pPr eaLnBrk="1" hangingPunct="1"/>
            <a:r>
              <a:rPr lang="en-US" altLang="en-US"/>
              <a:t>Packed Decimal Arithmetic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a:extLst>
              <a:ext uri="{FF2B5EF4-FFF2-40B4-BE49-F238E27FC236}">
                <a16:creationId xmlns:a16="http://schemas.microsoft.com/office/drawing/2014/main" id="{DE0C0384-7ECE-46E8-A467-46DB2D37900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3491" name="Slide Number Placeholder 4">
            <a:extLst>
              <a:ext uri="{FF2B5EF4-FFF2-40B4-BE49-F238E27FC236}">
                <a16:creationId xmlns:a16="http://schemas.microsoft.com/office/drawing/2014/main" id="{86A04198-7A45-4AEC-A99C-A90D22C732EB}"/>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52F57879-7D46-4135-AA88-B035FDC604D6}" type="slidenum">
              <a:rPr lang="en-US" altLang="en-US" sz="1600">
                <a:latin typeface="Times New Roman" panose="02020603050405020304" pitchFamily="18" charset="0"/>
              </a:rPr>
              <a:pPr eaLnBrk="1" hangingPunct="1">
                <a:spcBef>
                  <a:spcPct val="0"/>
                </a:spcBef>
                <a:buClrTx/>
                <a:buFontTx/>
                <a:buNone/>
              </a:pPr>
              <a:t>38</a:t>
            </a:fld>
            <a:endParaRPr lang="en-US" altLang="en-US" sz="1600">
              <a:latin typeface="Times New Roman" panose="02020603050405020304" pitchFamily="18" charset="0"/>
            </a:endParaRPr>
          </a:p>
        </p:txBody>
      </p:sp>
      <p:sp>
        <p:nvSpPr>
          <p:cNvPr id="81922" name="Rectangle 2">
            <a:extLst>
              <a:ext uri="{FF2B5EF4-FFF2-40B4-BE49-F238E27FC236}">
                <a16:creationId xmlns:a16="http://schemas.microsoft.com/office/drawing/2014/main" id="{17B5C0C6-21A7-432E-A884-F1295D5948E8}"/>
              </a:ext>
            </a:extLst>
          </p:cNvPr>
          <p:cNvSpPr>
            <a:spLocks noGrp="1" noChangeArrowheads="1"/>
          </p:cNvSpPr>
          <p:nvPr>
            <p:ph type="title"/>
          </p:nvPr>
        </p:nvSpPr>
        <p:spPr/>
        <p:txBody>
          <a:bodyPr/>
          <a:lstStyle/>
          <a:p>
            <a:pPr eaLnBrk="1" hangingPunct="1">
              <a:defRPr/>
            </a:pPr>
            <a:r>
              <a:rPr lang="en-US" altLang="en-US"/>
              <a:t>Extended Addition and Subtraction</a:t>
            </a:r>
          </a:p>
        </p:txBody>
      </p:sp>
      <p:sp>
        <p:nvSpPr>
          <p:cNvPr id="63493" name="Rectangle 3">
            <a:extLst>
              <a:ext uri="{FF2B5EF4-FFF2-40B4-BE49-F238E27FC236}">
                <a16:creationId xmlns:a16="http://schemas.microsoft.com/office/drawing/2014/main" id="{1D5CC62A-8403-4DA0-9DD1-65A477DE792E}"/>
              </a:ext>
            </a:extLst>
          </p:cNvPr>
          <p:cNvSpPr>
            <a:spLocks noGrp="1" noChangeArrowheads="1"/>
          </p:cNvSpPr>
          <p:nvPr>
            <p:ph type="body" idx="1"/>
          </p:nvPr>
        </p:nvSpPr>
        <p:spPr>
          <a:xfrm>
            <a:off x="1828800" y="1600200"/>
            <a:ext cx="6629400" cy="2362200"/>
          </a:xfrm>
        </p:spPr>
        <p:txBody>
          <a:bodyPr/>
          <a:lstStyle/>
          <a:p>
            <a:pPr eaLnBrk="1" hangingPunct="1"/>
            <a:r>
              <a:rPr lang="en-US" altLang="en-US"/>
              <a:t>ADC Instruction </a:t>
            </a:r>
          </a:p>
          <a:p>
            <a:pPr eaLnBrk="1" hangingPunct="1"/>
            <a:r>
              <a:rPr lang="en-US" altLang="en-US"/>
              <a:t>Extended Precision Addition</a:t>
            </a:r>
          </a:p>
          <a:p>
            <a:pPr eaLnBrk="1" hangingPunct="1"/>
            <a:r>
              <a:rPr lang="en-US" altLang="en-US"/>
              <a:t>SBB Instruction</a:t>
            </a:r>
          </a:p>
          <a:p>
            <a:pPr eaLnBrk="1" hangingPunct="1"/>
            <a:r>
              <a:rPr lang="en-US" altLang="en-US"/>
              <a:t>Extended Precision Subtraction</a:t>
            </a:r>
          </a:p>
        </p:txBody>
      </p:sp>
      <p:sp>
        <p:nvSpPr>
          <p:cNvPr id="63494" name="TextBox 1">
            <a:extLst>
              <a:ext uri="{FF2B5EF4-FFF2-40B4-BE49-F238E27FC236}">
                <a16:creationId xmlns:a16="http://schemas.microsoft.com/office/drawing/2014/main" id="{449E9B21-A0FB-4310-B482-2E7E69BE07A1}"/>
              </a:ext>
            </a:extLst>
          </p:cNvPr>
          <p:cNvSpPr txBox="1">
            <a:spLocks noChangeArrowheads="1"/>
          </p:cNvSpPr>
          <p:nvPr/>
        </p:nvSpPr>
        <p:spPr bwMode="auto">
          <a:xfrm>
            <a:off x="1676400" y="4191000"/>
            <a:ext cx="5257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2100">
                <a:solidFill>
                  <a:schemeClr val="tx2"/>
                </a:solidFill>
              </a:rPr>
              <a:t>The instructions in this section do not apply to 64-bit mode programming.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255E5F4C-B616-4B09-B7A1-E68BAD6D3F3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4515" name="Slide Number Placeholder 4">
            <a:extLst>
              <a:ext uri="{FF2B5EF4-FFF2-40B4-BE49-F238E27FC236}">
                <a16:creationId xmlns:a16="http://schemas.microsoft.com/office/drawing/2014/main" id="{0DEEC626-92D9-4564-8E9D-CDD1CC25F406}"/>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8A3C2C99-90D4-4EEA-AC05-9277B8159EB9}" type="slidenum">
              <a:rPr lang="en-US" altLang="en-US" sz="1600">
                <a:latin typeface="Times New Roman" panose="02020603050405020304" pitchFamily="18" charset="0"/>
              </a:rPr>
              <a:pPr eaLnBrk="1" hangingPunct="1">
                <a:spcBef>
                  <a:spcPct val="0"/>
                </a:spcBef>
                <a:buClrTx/>
                <a:buFontTx/>
                <a:buNone/>
              </a:pPr>
              <a:t>39</a:t>
            </a:fld>
            <a:endParaRPr lang="en-US" altLang="en-US" sz="1600">
              <a:latin typeface="Times New Roman" panose="02020603050405020304" pitchFamily="18" charset="0"/>
            </a:endParaRPr>
          </a:p>
        </p:txBody>
      </p:sp>
      <p:sp>
        <p:nvSpPr>
          <p:cNvPr id="149506" name="Rectangle 2">
            <a:extLst>
              <a:ext uri="{FF2B5EF4-FFF2-40B4-BE49-F238E27FC236}">
                <a16:creationId xmlns:a16="http://schemas.microsoft.com/office/drawing/2014/main" id="{648BE95A-2E5E-46D7-93AD-3F25E56EE04A}"/>
              </a:ext>
            </a:extLst>
          </p:cNvPr>
          <p:cNvSpPr>
            <a:spLocks noGrp="1" noChangeArrowheads="1"/>
          </p:cNvSpPr>
          <p:nvPr>
            <p:ph type="title"/>
          </p:nvPr>
        </p:nvSpPr>
        <p:spPr/>
        <p:txBody>
          <a:bodyPr/>
          <a:lstStyle/>
          <a:p>
            <a:pPr eaLnBrk="1" hangingPunct="1">
              <a:defRPr/>
            </a:pPr>
            <a:r>
              <a:rPr lang="en-US" altLang="en-US"/>
              <a:t>Extended Precision Addition</a:t>
            </a:r>
          </a:p>
        </p:txBody>
      </p:sp>
      <p:sp>
        <p:nvSpPr>
          <p:cNvPr id="64517" name="Rectangle 3">
            <a:extLst>
              <a:ext uri="{FF2B5EF4-FFF2-40B4-BE49-F238E27FC236}">
                <a16:creationId xmlns:a16="http://schemas.microsoft.com/office/drawing/2014/main" id="{65486629-C84A-483E-B6EE-926C9844645E}"/>
              </a:ext>
            </a:extLst>
          </p:cNvPr>
          <p:cNvSpPr>
            <a:spLocks noGrp="1" noChangeArrowheads="1"/>
          </p:cNvSpPr>
          <p:nvPr>
            <p:ph type="body" idx="1"/>
          </p:nvPr>
        </p:nvSpPr>
        <p:spPr/>
        <p:txBody>
          <a:bodyPr/>
          <a:lstStyle/>
          <a:p>
            <a:pPr eaLnBrk="1" hangingPunct="1"/>
            <a:r>
              <a:rPr lang="en-US" altLang="en-US"/>
              <a:t>Adding two operands that are longer than the computer's word size (32 bits).</a:t>
            </a:r>
          </a:p>
          <a:p>
            <a:pPr lvl="1" eaLnBrk="1" hangingPunct="1"/>
            <a:r>
              <a:rPr lang="en-US" altLang="en-US"/>
              <a:t>Virtually no limit to the size of the operands</a:t>
            </a:r>
          </a:p>
          <a:p>
            <a:pPr eaLnBrk="1" hangingPunct="1"/>
            <a:r>
              <a:rPr lang="en-US" altLang="en-US"/>
              <a:t>The arithmetic must be performed in steps</a:t>
            </a:r>
          </a:p>
          <a:p>
            <a:pPr lvl="1" eaLnBrk="1" hangingPunct="1"/>
            <a:r>
              <a:rPr lang="en-US" altLang="en-US"/>
              <a:t>The Carry value from each step is passed on to the next step.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a:extLst>
              <a:ext uri="{FF2B5EF4-FFF2-40B4-BE49-F238E27FC236}">
                <a16:creationId xmlns:a16="http://schemas.microsoft.com/office/drawing/2014/main" id="{BDB7F197-4505-49F1-973A-D097FA4C9625}"/>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5539" name="Slide Number Placeholder 4">
            <a:extLst>
              <a:ext uri="{FF2B5EF4-FFF2-40B4-BE49-F238E27FC236}">
                <a16:creationId xmlns:a16="http://schemas.microsoft.com/office/drawing/2014/main" id="{8B518DC2-9D82-4AEA-8267-74F84E15003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09B78F0-754C-44AA-9512-A7060DAA0CA4}" type="slidenum">
              <a:rPr lang="en-US" altLang="en-US" sz="1600">
                <a:latin typeface="Times New Roman" panose="02020603050405020304" pitchFamily="18" charset="0"/>
              </a:rPr>
              <a:pPr eaLnBrk="1" hangingPunct="1">
                <a:spcBef>
                  <a:spcPct val="0"/>
                </a:spcBef>
                <a:buClrTx/>
                <a:buFontTx/>
                <a:buNone/>
              </a:pPr>
              <a:t>40</a:t>
            </a:fld>
            <a:endParaRPr lang="en-US" altLang="en-US" sz="1600">
              <a:latin typeface="Times New Roman" panose="02020603050405020304" pitchFamily="18" charset="0"/>
            </a:endParaRPr>
          </a:p>
        </p:txBody>
      </p:sp>
      <p:sp>
        <p:nvSpPr>
          <p:cNvPr id="103426" name="Rectangle 2">
            <a:extLst>
              <a:ext uri="{FF2B5EF4-FFF2-40B4-BE49-F238E27FC236}">
                <a16:creationId xmlns:a16="http://schemas.microsoft.com/office/drawing/2014/main" id="{CC64AE09-235F-4457-A172-772699B2280C}"/>
              </a:ext>
            </a:extLst>
          </p:cNvPr>
          <p:cNvSpPr>
            <a:spLocks noGrp="1" noChangeArrowheads="1"/>
          </p:cNvSpPr>
          <p:nvPr>
            <p:ph type="title"/>
          </p:nvPr>
        </p:nvSpPr>
        <p:spPr/>
        <p:txBody>
          <a:bodyPr/>
          <a:lstStyle/>
          <a:p>
            <a:pPr eaLnBrk="1" hangingPunct="1">
              <a:defRPr/>
            </a:pPr>
            <a:r>
              <a:rPr lang="en-US" altLang="en-US"/>
              <a:t>ADC Instruction</a:t>
            </a:r>
          </a:p>
        </p:txBody>
      </p:sp>
      <p:sp>
        <p:nvSpPr>
          <p:cNvPr id="65541" name="Rectangle 3">
            <a:extLst>
              <a:ext uri="{FF2B5EF4-FFF2-40B4-BE49-F238E27FC236}">
                <a16:creationId xmlns:a16="http://schemas.microsoft.com/office/drawing/2014/main" id="{36F9076D-4321-4293-9242-530B3675FB23}"/>
              </a:ext>
            </a:extLst>
          </p:cNvPr>
          <p:cNvSpPr>
            <a:spLocks noGrp="1" noChangeArrowheads="1"/>
          </p:cNvSpPr>
          <p:nvPr>
            <p:ph type="body" idx="1"/>
          </p:nvPr>
        </p:nvSpPr>
        <p:spPr>
          <a:xfrm>
            <a:off x="609600" y="1143000"/>
            <a:ext cx="7848600" cy="4495800"/>
          </a:xfrm>
        </p:spPr>
        <p:txBody>
          <a:bodyPr/>
          <a:lstStyle/>
          <a:p>
            <a:pPr eaLnBrk="1" hangingPunct="1">
              <a:lnSpc>
                <a:spcPct val="90000"/>
              </a:lnSpc>
              <a:tabLst>
                <a:tab pos="3659188" algn="l"/>
              </a:tabLst>
            </a:pPr>
            <a:r>
              <a:rPr lang="en-US" altLang="en-US"/>
              <a:t>ADC (add with carry) instruction adds both a source operand and the contents of the Carry flag to a destination operand.</a:t>
            </a:r>
          </a:p>
          <a:p>
            <a:pPr eaLnBrk="1" hangingPunct="1">
              <a:lnSpc>
                <a:spcPct val="90000"/>
              </a:lnSpc>
              <a:tabLst>
                <a:tab pos="3659188" algn="l"/>
              </a:tabLst>
            </a:pPr>
            <a:r>
              <a:rPr lang="en-US" altLang="en-US"/>
              <a:t>Operands are binary values</a:t>
            </a:r>
          </a:p>
          <a:p>
            <a:pPr lvl="1" eaLnBrk="1" hangingPunct="1">
              <a:lnSpc>
                <a:spcPct val="90000"/>
              </a:lnSpc>
              <a:tabLst>
                <a:tab pos="3659188" algn="l"/>
              </a:tabLst>
            </a:pPr>
            <a:r>
              <a:rPr lang="en-US" altLang="en-US"/>
              <a:t>Same syntax as ADD, SUB, etc.</a:t>
            </a:r>
          </a:p>
          <a:p>
            <a:pPr eaLnBrk="1" hangingPunct="1">
              <a:lnSpc>
                <a:spcPct val="90000"/>
              </a:lnSpc>
              <a:tabLst>
                <a:tab pos="3659188" algn="l"/>
              </a:tabLst>
            </a:pPr>
            <a:r>
              <a:rPr lang="en-US" altLang="en-US"/>
              <a:t>Example</a:t>
            </a:r>
          </a:p>
          <a:p>
            <a:pPr lvl="1" eaLnBrk="1" hangingPunct="1">
              <a:lnSpc>
                <a:spcPct val="90000"/>
              </a:lnSpc>
              <a:tabLst>
                <a:tab pos="3659188" algn="l"/>
              </a:tabLst>
            </a:pPr>
            <a:r>
              <a:rPr lang="en-US" altLang="en-US"/>
              <a:t>Add two 32-bit integers (FFFFFFFFh + FFFFFFFFh), producing a 64-bit sum in EDX:EAX:</a:t>
            </a:r>
          </a:p>
          <a:p>
            <a:pPr lvl="2" eaLnBrk="1" hangingPunct="1">
              <a:lnSpc>
                <a:spcPct val="90000"/>
              </a:lnSpc>
              <a:buFontTx/>
              <a:buNone/>
              <a:tabLst>
                <a:tab pos="3659188" algn="l"/>
              </a:tabLst>
            </a:pPr>
            <a:endParaRPr lang="en-US" altLang="en-US" sz="1000" b="1">
              <a:latin typeface="Courier New" panose="02070309020205020404" pitchFamily="49" charset="0"/>
            </a:endParaRPr>
          </a:p>
          <a:p>
            <a:pPr lvl="2" eaLnBrk="1" hangingPunct="1">
              <a:lnSpc>
                <a:spcPct val="90000"/>
              </a:lnSpc>
              <a:buFontTx/>
              <a:buNone/>
              <a:tabLst>
                <a:tab pos="3659188" algn="l"/>
              </a:tabLst>
            </a:pPr>
            <a:r>
              <a:rPr lang="en-US" altLang="en-US" sz="1800" b="1">
                <a:latin typeface="Courier New" panose="02070309020205020404" pitchFamily="49" charset="0"/>
              </a:rPr>
              <a:t>mov edx,0</a:t>
            </a:r>
          </a:p>
          <a:p>
            <a:pPr lvl="2" eaLnBrk="1" hangingPunct="1">
              <a:lnSpc>
                <a:spcPct val="90000"/>
              </a:lnSpc>
              <a:buFontTx/>
              <a:buNone/>
              <a:tabLst>
                <a:tab pos="3659188" algn="l"/>
              </a:tabLst>
            </a:pPr>
            <a:r>
              <a:rPr lang="en-US" altLang="en-US" sz="1800" b="1">
                <a:latin typeface="Courier New" panose="02070309020205020404" pitchFamily="49" charset="0"/>
              </a:rPr>
              <a:t>mov eax,0FFFFFFFFh</a:t>
            </a:r>
          </a:p>
          <a:p>
            <a:pPr lvl="2" eaLnBrk="1" hangingPunct="1">
              <a:lnSpc>
                <a:spcPct val="90000"/>
              </a:lnSpc>
              <a:buFontTx/>
              <a:buNone/>
              <a:tabLst>
                <a:tab pos="3659188" algn="l"/>
              </a:tabLst>
            </a:pPr>
            <a:r>
              <a:rPr lang="en-US" altLang="en-US" sz="1800" b="1">
                <a:latin typeface="Courier New" panose="02070309020205020404" pitchFamily="49" charset="0"/>
              </a:rPr>
              <a:t>add eax,0FFFFFFFFh</a:t>
            </a:r>
          </a:p>
          <a:p>
            <a:pPr lvl="2" eaLnBrk="1" hangingPunct="1">
              <a:lnSpc>
                <a:spcPct val="90000"/>
              </a:lnSpc>
              <a:buFontTx/>
              <a:buNone/>
              <a:tabLst>
                <a:tab pos="3659188" algn="l"/>
              </a:tabLst>
            </a:pPr>
            <a:r>
              <a:rPr lang="en-US" altLang="en-US" sz="1800" b="1">
                <a:latin typeface="Courier New" panose="02070309020205020404" pitchFamily="49" charset="0"/>
              </a:rPr>
              <a:t>adc edx,0	;EDX:EAX = 00000001FFFFFFFEh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34F63CC5-1373-40FF-89F7-18741AF6408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6563" name="Slide Number Placeholder 4">
            <a:extLst>
              <a:ext uri="{FF2B5EF4-FFF2-40B4-BE49-F238E27FC236}">
                <a16:creationId xmlns:a16="http://schemas.microsoft.com/office/drawing/2014/main" id="{B6904105-D91B-4640-8628-D16314D344B9}"/>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8598C57-3096-45A5-9C02-D143DABAE824}" type="slidenum">
              <a:rPr lang="en-US" altLang="en-US" sz="1600">
                <a:latin typeface="Times New Roman" panose="02020603050405020304" pitchFamily="18" charset="0"/>
              </a:rPr>
              <a:pPr eaLnBrk="1" hangingPunct="1">
                <a:spcBef>
                  <a:spcPct val="0"/>
                </a:spcBef>
                <a:buClrTx/>
                <a:buFontTx/>
                <a:buNone/>
              </a:pPr>
              <a:t>41</a:t>
            </a:fld>
            <a:endParaRPr lang="en-US" altLang="en-US" sz="1600">
              <a:latin typeface="Times New Roman" panose="02020603050405020304" pitchFamily="18" charset="0"/>
            </a:endParaRPr>
          </a:p>
        </p:txBody>
      </p:sp>
      <p:sp>
        <p:nvSpPr>
          <p:cNvPr id="161794" name="Rectangle 2">
            <a:extLst>
              <a:ext uri="{FF2B5EF4-FFF2-40B4-BE49-F238E27FC236}">
                <a16:creationId xmlns:a16="http://schemas.microsoft.com/office/drawing/2014/main" id="{1DF6A4E2-0E0A-47C6-AEA4-309D3EB6F6EB}"/>
              </a:ext>
            </a:extLst>
          </p:cNvPr>
          <p:cNvSpPr>
            <a:spLocks noGrp="1" noChangeArrowheads="1"/>
          </p:cNvSpPr>
          <p:nvPr>
            <p:ph type="title"/>
          </p:nvPr>
        </p:nvSpPr>
        <p:spPr/>
        <p:txBody>
          <a:bodyPr/>
          <a:lstStyle/>
          <a:p>
            <a:pPr eaLnBrk="1" hangingPunct="1">
              <a:defRPr/>
            </a:pPr>
            <a:r>
              <a:rPr lang="en-US" altLang="en-US"/>
              <a:t>Extended Addition Example</a:t>
            </a:r>
          </a:p>
        </p:txBody>
      </p:sp>
      <p:sp>
        <p:nvSpPr>
          <p:cNvPr id="66565" name="Rectangle 3">
            <a:extLst>
              <a:ext uri="{FF2B5EF4-FFF2-40B4-BE49-F238E27FC236}">
                <a16:creationId xmlns:a16="http://schemas.microsoft.com/office/drawing/2014/main" id="{924D98E0-67F3-4C5D-8625-564DC0D8D803}"/>
              </a:ext>
            </a:extLst>
          </p:cNvPr>
          <p:cNvSpPr>
            <a:spLocks noGrp="1" noChangeArrowheads="1"/>
          </p:cNvSpPr>
          <p:nvPr>
            <p:ph type="body" idx="1"/>
          </p:nvPr>
        </p:nvSpPr>
        <p:spPr>
          <a:xfrm>
            <a:off x="533400" y="1447800"/>
            <a:ext cx="8153400" cy="1676400"/>
          </a:xfrm>
        </p:spPr>
        <p:txBody>
          <a:bodyPr/>
          <a:lstStyle/>
          <a:p>
            <a:pPr eaLnBrk="1" hangingPunct="1">
              <a:tabLst>
                <a:tab pos="4117975" algn="l"/>
              </a:tabLst>
            </a:pPr>
            <a:r>
              <a:rPr lang="en-US" altLang="en-US" sz="2000"/>
              <a:t>Task: Add 1 to EDX:EAX</a:t>
            </a:r>
          </a:p>
          <a:p>
            <a:pPr lvl="1" eaLnBrk="1" hangingPunct="1">
              <a:tabLst>
                <a:tab pos="4117975" algn="l"/>
              </a:tabLst>
            </a:pPr>
            <a:r>
              <a:rPr lang="en-US" altLang="en-US" sz="2000"/>
              <a:t>Starting value of EDX:EAX: 00000000FFFFFFFFh</a:t>
            </a:r>
          </a:p>
          <a:p>
            <a:pPr lvl="1" eaLnBrk="1" hangingPunct="1">
              <a:tabLst>
                <a:tab pos="4117975" algn="l"/>
              </a:tabLst>
            </a:pPr>
            <a:r>
              <a:rPr lang="en-US" altLang="en-US" sz="2000"/>
              <a:t>Add the lower 32 bits first, setting the Carry flag. </a:t>
            </a:r>
          </a:p>
          <a:p>
            <a:pPr lvl="1" eaLnBrk="1" hangingPunct="1">
              <a:tabLst>
                <a:tab pos="4117975" algn="l"/>
              </a:tabLst>
            </a:pPr>
            <a:r>
              <a:rPr lang="en-US" altLang="en-US" sz="2000"/>
              <a:t>Add the upper 32 bits, and include the Carry flag.</a:t>
            </a:r>
            <a:endParaRPr lang="en-US" altLang="en-US" sz="2000" b="1">
              <a:latin typeface="Courier New" panose="02070309020205020404" pitchFamily="49" charset="0"/>
            </a:endParaRPr>
          </a:p>
        </p:txBody>
      </p:sp>
      <p:sp>
        <p:nvSpPr>
          <p:cNvPr id="66566" name="Text Box 4">
            <a:extLst>
              <a:ext uri="{FF2B5EF4-FFF2-40B4-BE49-F238E27FC236}">
                <a16:creationId xmlns:a16="http://schemas.microsoft.com/office/drawing/2014/main" id="{0E84966F-B79F-4799-9BAB-8C486289468A}"/>
              </a:ext>
            </a:extLst>
          </p:cNvPr>
          <p:cNvSpPr txBox="1">
            <a:spLocks noChangeArrowheads="1"/>
          </p:cNvSpPr>
          <p:nvPr/>
        </p:nvSpPr>
        <p:spPr bwMode="auto">
          <a:xfrm>
            <a:off x="1600200" y="3276600"/>
            <a:ext cx="55626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27447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2744788" algn="l"/>
              </a:tabLst>
              <a:defRPr sz="2200">
                <a:solidFill>
                  <a:schemeClr val="tx1"/>
                </a:solidFill>
                <a:latin typeface="Arial" panose="020B0604020202020204" pitchFamily="34" charset="0"/>
              </a:defRPr>
            </a:lvl2pPr>
            <a:lvl3pPr marL="228600" eaLnBrk="0" hangingPunct="0">
              <a:spcBef>
                <a:spcPct val="20000"/>
              </a:spcBef>
              <a:buClr>
                <a:schemeClr val="tx1"/>
              </a:buClr>
              <a:buChar char="•"/>
              <a:tabLst>
                <a:tab pos="27447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27447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27447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edx,0	; set upper half</a:t>
            </a:r>
          </a:p>
          <a:p>
            <a:pPr eaLnBrk="1" hangingPunct="1">
              <a:lnSpc>
                <a:spcPct val="50000"/>
              </a:lnSpc>
              <a:spcBef>
                <a:spcPct val="50000"/>
              </a:spcBef>
              <a:buClrTx/>
              <a:buFontTx/>
              <a:buNone/>
            </a:pPr>
            <a:r>
              <a:rPr lang="en-US" altLang="en-US" sz="1800" b="1">
                <a:latin typeface="Courier New" panose="02070309020205020404" pitchFamily="49" charset="0"/>
              </a:rPr>
              <a:t>mov eax,0FFFFFFFFh	; set lower half</a:t>
            </a:r>
          </a:p>
          <a:p>
            <a:pPr eaLnBrk="1" hangingPunct="1">
              <a:lnSpc>
                <a:spcPct val="50000"/>
              </a:lnSpc>
              <a:spcBef>
                <a:spcPct val="50000"/>
              </a:spcBef>
              <a:buClrTx/>
              <a:buFontTx/>
              <a:buNone/>
            </a:pPr>
            <a:r>
              <a:rPr lang="en-US" altLang="en-US" sz="1800" b="1">
                <a:latin typeface="Courier New" panose="02070309020205020404" pitchFamily="49" charset="0"/>
              </a:rPr>
              <a:t>add eax,1 	; add lower half</a:t>
            </a:r>
          </a:p>
          <a:p>
            <a:pPr eaLnBrk="1" hangingPunct="1">
              <a:lnSpc>
                <a:spcPct val="50000"/>
              </a:lnSpc>
              <a:spcBef>
                <a:spcPct val="50000"/>
              </a:spcBef>
              <a:buClrTx/>
              <a:buFontTx/>
              <a:buNone/>
            </a:pPr>
            <a:r>
              <a:rPr lang="en-US" altLang="en-US" sz="1800" b="1">
                <a:latin typeface="Courier New" panose="02070309020205020404" pitchFamily="49" charset="0"/>
              </a:rPr>
              <a:t>adc edx,0 	; add upper half</a:t>
            </a:r>
          </a:p>
          <a:p>
            <a:pPr eaLnBrk="1" hangingPunct="1">
              <a:lnSpc>
                <a:spcPct val="50000"/>
              </a:lnSpc>
              <a:spcBef>
                <a:spcPct val="50000"/>
              </a:spcBef>
              <a:buClrTx/>
              <a:buFontTx/>
              <a:buNone/>
            </a:pPr>
            <a:endParaRPr lang="en-US" altLang="en-US" sz="1800" b="1">
              <a:latin typeface="Courier New" panose="02070309020205020404" pitchFamily="49" charset="0"/>
            </a:endParaRPr>
          </a:p>
          <a:p>
            <a:pPr lvl="2" eaLnBrk="1" hangingPunct="1">
              <a:lnSpc>
                <a:spcPct val="90000"/>
              </a:lnSpc>
              <a:buFontTx/>
              <a:buNone/>
            </a:pPr>
            <a:r>
              <a:rPr lang="en-US" altLang="en-US" sz="1800" b="1">
                <a:solidFill>
                  <a:schemeClr val="tx2"/>
                </a:solidFill>
                <a:latin typeface="Courier New" panose="02070309020205020404" pitchFamily="49" charset="0"/>
              </a:rPr>
              <a:t>EDX:EAX = 00000001 00000000</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endParaRPr lang="en-US" altLang="en-US" sz="1800" b="1">
              <a:latin typeface="Courier New" panose="020703090202050204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a:extLst>
              <a:ext uri="{FF2B5EF4-FFF2-40B4-BE49-F238E27FC236}">
                <a16:creationId xmlns:a16="http://schemas.microsoft.com/office/drawing/2014/main" id="{8E927436-F808-4BBA-AE16-176B0A755D90}"/>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7587" name="Slide Number Placeholder 4">
            <a:extLst>
              <a:ext uri="{FF2B5EF4-FFF2-40B4-BE49-F238E27FC236}">
                <a16:creationId xmlns:a16="http://schemas.microsoft.com/office/drawing/2014/main" id="{E86DA49D-B4D0-4C16-BC56-791211084E3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7496646-521C-46B6-A746-3BBCB98E248F}" type="slidenum">
              <a:rPr lang="en-US" altLang="en-US" sz="1600">
                <a:latin typeface="Times New Roman" panose="02020603050405020304" pitchFamily="18" charset="0"/>
              </a:rPr>
              <a:pPr eaLnBrk="1" hangingPunct="1">
                <a:spcBef>
                  <a:spcPct val="0"/>
                </a:spcBef>
                <a:buClrTx/>
                <a:buFontTx/>
                <a:buNone/>
              </a:pPr>
              <a:t>42</a:t>
            </a:fld>
            <a:endParaRPr lang="en-US" altLang="en-US" sz="1600">
              <a:latin typeface="Times New Roman" panose="02020603050405020304" pitchFamily="18" charset="0"/>
            </a:endParaRPr>
          </a:p>
        </p:txBody>
      </p:sp>
      <p:sp>
        <p:nvSpPr>
          <p:cNvPr id="105474" name="Rectangle 2">
            <a:extLst>
              <a:ext uri="{FF2B5EF4-FFF2-40B4-BE49-F238E27FC236}">
                <a16:creationId xmlns:a16="http://schemas.microsoft.com/office/drawing/2014/main" id="{A2F48F2D-7ED6-4BF5-A01C-2036EE109AF8}"/>
              </a:ext>
            </a:extLst>
          </p:cNvPr>
          <p:cNvSpPr>
            <a:spLocks noGrp="1" noChangeArrowheads="1"/>
          </p:cNvSpPr>
          <p:nvPr>
            <p:ph type="title"/>
          </p:nvPr>
        </p:nvSpPr>
        <p:spPr/>
        <p:txBody>
          <a:bodyPr/>
          <a:lstStyle/>
          <a:p>
            <a:pPr eaLnBrk="1" hangingPunct="1">
              <a:defRPr/>
            </a:pPr>
            <a:r>
              <a:rPr lang="en-US" altLang="en-US"/>
              <a:t>SBB Instruction</a:t>
            </a:r>
          </a:p>
        </p:txBody>
      </p:sp>
      <p:sp>
        <p:nvSpPr>
          <p:cNvPr id="67589" name="Rectangle 3">
            <a:extLst>
              <a:ext uri="{FF2B5EF4-FFF2-40B4-BE49-F238E27FC236}">
                <a16:creationId xmlns:a16="http://schemas.microsoft.com/office/drawing/2014/main" id="{00047A23-8FE3-4764-99E0-9F29F82FCC2D}"/>
              </a:ext>
            </a:extLst>
          </p:cNvPr>
          <p:cNvSpPr>
            <a:spLocks noGrp="1" noChangeArrowheads="1"/>
          </p:cNvSpPr>
          <p:nvPr>
            <p:ph type="body" idx="1"/>
          </p:nvPr>
        </p:nvSpPr>
        <p:spPr>
          <a:xfrm>
            <a:off x="685800" y="1143000"/>
            <a:ext cx="7315200" cy="2590800"/>
          </a:xfrm>
        </p:spPr>
        <p:txBody>
          <a:bodyPr/>
          <a:lstStyle/>
          <a:p>
            <a:pPr eaLnBrk="1" hangingPunct="1">
              <a:tabLst>
                <a:tab pos="4117975" algn="l"/>
              </a:tabLst>
            </a:pPr>
            <a:r>
              <a:rPr lang="en-US" altLang="en-US"/>
              <a:t>The SBB (subtract</a:t>
            </a:r>
            <a:r>
              <a:rPr lang="en-US" altLang="en-US" sz="2800"/>
              <a:t> </a:t>
            </a:r>
            <a:r>
              <a:rPr lang="en-US" altLang="en-US"/>
              <a:t>with borrow) instruction subtracts both a source operand and the value of the Carry flag from a destination operand.</a:t>
            </a:r>
          </a:p>
          <a:p>
            <a:pPr eaLnBrk="1" hangingPunct="1">
              <a:tabLst>
                <a:tab pos="4117975" algn="l"/>
              </a:tabLst>
            </a:pPr>
            <a:r>
              <a:rPr lang="en-US" altLang="en-US"/>
              <a:t>Operand syntax:</a:t>
            </a:r>
          </a:p>
          <a:p>
            <a:pPr lvl="1" eaLnBrk="1" hangingPunct="1">
              <a:tabLst>
                <a:tab pos="4117975" algn="l"/>
              </a:tabLst>
            </a:pPr>
            <a:r>
              <a:rPr lang="en-US" altLang="en-US"/>
              <a:t>Same as for the ADC instruction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54A6DAD5-7CB5-4D41-9B0F-822FD006CD1D}"/>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8611" name="Slide Number Placeholder 4">
            <a:extLst>
              <a:ext uri="{FF2B5EF4-FFF2-40B4-BE49-F238E27FC236}">
                <a16:creationId xmlns:a16="http://schemas.microsoft.com/office/drawing/2014/main" id="{4D1D4B27-8029-4336-BF28-2DF6760A98A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143514F9-2DF7-459D-B42C-EA80F96E8DAD}" type="slidenum">
              <a:rPr lang="en-US" altLang="en-US" sz="1600">
                <a:latin typeface="Times New Roman" panose="02020603050405020304" pitchFamily="18" charset="0"/>
              </a:rPr>
              <a:pPr eaLnBrk="1" hangingPunct="1">
                <a:spcBef>
                  <a:spcPct val="0"/>
                </a:spcBef>
                <a:buClrTx/>
                <a:buFontTx/>
                <a:buNone/>
              </a:pPr>
              <a:t>43</a:t>
            </a:fld>
            <a:endParaRPr lang="en-US" altLang="en-US" sz="1600">
              <a:latin typeface="Times New Roman" panose="02020603050405020304" pitchFamily="18" charset="0"/>
            </a:endParaRPr>
          </a:p>
        </p:txBody>
      </p:sp>
      <p:sp>
        <p:nvSpPr>
          <p:cNvPr id="152578" name="Rectangle 2">
            <a:extLst>
              <a:ext uri="{FF2B5EF4-FFF2-40B4-BE49-F238E27FC236}">
                <a16:creationId xmlns:a16="http://schemas.microsoft.com/office/drawing/2014/main" id="{580633D3-F620-422E-BB95-0474BC712CDA}"/>
              </a:ext>
            </a:extLst>
          </p:cNvPr>
          <p:cNvSpPr>
            <a:spLocks noGrp="1" noChangeArrowheads="1"/>
          </p:cNvSpPr>
          <p:nvPr>
            <p:ph type="title"/>
          </p:nvPr>
        </p:nvSpPr>
        <p:spPr/>
        <p:txBody>
          <a:bodyPr/>
          <a:lstStyle/>
          <a:p>
            <a:pPr eaLnBrk="1" hangingPunct="1">
              <a:defRPr/>
            </a:pPr>
            <a:r>
              <a:rPr lang="en-US" altLang="en-US"/>
              <a:t>Extended Subtraction Example</a:t>
            </a:r>
          </a:p>
        </p:txBody>
      </p:sp>
      <p:sp>
        <p:nvSpPr>
          <p:cNvPr id="68613" name="Rectangle 3">
            <a:extLst>
              <a:ext uri="{FF2B5EF4-FFF2-40B4-BE49-F238E27FC236}">
                <a16:creationId xmlns:a16="http://schemas.microsoft.com/office/drawing/2014/main" id="{5CF5E7A8-947A-46E8-AB22-98A8E3135C35}"/>
              </a:ext>
            </a:extLst>
          </p:cNvPr>
          <p:cNvSpPr>
            <a:spLocks noGrp="1" noChangeArrowheads="1"/>
          </p:cNvSpPr>
          <p:nvPr>
            <p:ph type="body" idx="1"/>
          </p:nvPr>
        </p:nvSpPr>
        <p:spPr>
          <a:xfrm>
            <a:off x="533400" y="1143000"/>
            <a:ext cx="8153400" cy="1828800"/>
          </a:xfrm>
        </p:spPr>
        <p:txBody>
          <a:bodyPr/>
          <a:lstStyle/>
          <a:p>
            <a:pPr eaLnBrk="1" hangingPunct="1">
              <a:tabLst>
                <a:tab pos="4117975" algn="l"/>
              </a:tabLst>
            </a:pPr>
            <a:r>
              <a:rPr lang="en-US" altLang="en-US" sz="2000"/>
              <a:t>Task: Subtract 1 from EDX:EAX</a:t>
            </a:r>
          </a:p>
          <a:p>
            <a:pPr lvl="1" eaLnBrk="1" hangingPunct="1">
              <a:tabLst>
                <a:tab pos="4117975" algn="l"/>
              </a:tabLst>
            </a:pPr>
            <a:r>
              <a:rPr lang="en-US" altLang="en-US" sz="2000"/>
              <a:t>Starting value of EDX:EAX: 0000000100000000h </a:t>
            </a:r>
          </a:p>
          <a:p>
            <a:pPr lvl="1" eaLnBrk="1" hangingPunct="1">
              <a:tabLst>
                <a:tab pos="4117975" algn="l"/>
              </a:tabLst>
            </a:pPr>
            <a:r>
              <a:rPr lang="en-US" altLang="en-US" sz="2000"/>
              <a:t>Subtract the lower 32 bits first, setting the Carry flag. </a:t>
            </a:r>
          </a:p>
          <a:p>
            <a:pPr lvl="1" eaLnBrk="1" hangingPunct="1">
              <a:tabLst>
                <a:tab pos="4117975" algn="l"/>
              </a:tabLst>
            </a:pPr>
            <a:r>
              <a:rPr lang="en-US" altLang="en-US" sz="2000"/>
              <a:t>Subtract the upper 32 bits, and include the Carry flag.</a:t>
            </a:r>
          </a:p>
          <a:p>
            <a:pPr lvl="2" eaLnBrk="1" hangingPunct="1">
              <a:lnSpc>
                <a:spcPct val="90000"/>
              </a:lnSpc>
              <a:buFontTx/>
              <a:buNone/>
              <a:tabLst>
                <a:tab pos="4117975" algn="l"/>
              </a:tabLst>
            </a:pPr>
            <a:endParaRPr lang="en-US" altLang="en-US" sz="1800" b="1">
              <a:latin typeface="Courier New" panose="02070309020205020404" pitchFamily="49" charset="0"/>
            </a:endParaRPr>
          </a:p>
        </p:txBody>
      </p:sp>
      <p:sp>
        <p:nvSpPr>
          <p:cNvPr id="68614" name="Text Box 4">
            <a:extLst>
              <a:ext uri="{FF2B5EF4-FFF2-40B4-BE49-F238E27FC236}">
                <a16:creationId xmlns:a16="http://schemas.microsoft.com/office/drawing/2014/main" id="{710A7BB0-C09F-45C5-9ECE-1C517376200A}"/>
              </a:ext>
            </a:extLst>
          </p:cNvPr>
          <p:cNvSpPr txBox="1">
            <a:spLocks noChangeArrowheads="1"/>
          </p:cNvSpPr>
          <p:nvPr/>
        </p:nvSpPr>
        <p:spPr bwMode="auto">
          <a:xfrm>
            <a:off x="1143000" y="3048000"/>
            <a:ext cx="62484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274478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274478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274478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274478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27447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274478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edx,1 	; set upper half</a:t>
            </a:r>
          </a:p>
          <a:p>
            <a:pPr eaLnBrk="1" hangingPunct="1">
              <a:lnSpc>
                <a:spcPct val="50000"/>
              </a:lnSpc>
              <a:spcBef>
                <a:spcPct val="50000"/>
              </a:spcBef>
              <a:buClrTx/>
              <a:buFontTx/>
              <a:buNone/>
            </a:pPr>
            <a:r>
              <a:rPr lang="en-US" altLang="en-US" sz="1800" b="1">
                <a:latin typeface="Courier New" panose="02070309020205020404" pitchFamily="49" charset="0"/>
              </a:rPr>
              <a:t>mov eax,0 	; set lower half</a:t>
            </a:r>
          </a:p>
          <a:p>
            <a:pPr eaLnBrk="1" hangingPunct="1">
              <a:lnSpc>
                <a:spcPct val="50000"/>
              </a:lnSpc>
              <a:spcBef>
                <a:spcPct val="50000"/>
              </a:spcBef>
              <a:buClrTx/>
              <a:buFontTx/>
              <a:buNone/>
            </a:pPr>
            <a:r>
              <a:rPr lang="en-US" altLang="en-US" sz="1800" b="1">
                <a:latin typeface="Courier New" panose="02070309020205020404" pitchFamily="49" charset="0"/>
              </a:rPr>
              <a:t>sub eax,1 	; subtract lower half</a:t>
            </a:r>
          </a:p>
          <a:p>
            <a:pPr eaLnBrk="1" hangingPunct="1">
              <a:lnSpc>
                <a:spcPct val="50000"/>
              </a:lnSpc>
              <a:spcBef>
                <a:spcPct val="50000"/>
              </a:spcBef>
              <a:buClrTx/>
              <a:buFontTx/>
              <a:buNone/>
            </a:pPr>
            <a:r>
              <a:rPr lang="en-US" altLang="en-US" sz="1800" b="1">
                <a:latin typeface="Courier New" panose="02070309020205020404" pitchFamily="49" charset="0"/>
              </a:rPr>
              <a:t>sbb edx,0 	; subtract upper half</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solidFill>
                  <a:schemeClr val="tx2"/>
                </a:solidFill>
                <a:latin typeface="Courier New" panose="02070309020205020404" pitchFamily="49" charset="0"/>
              </a:rPr>
              <a:t>EDX:EAX = 00000000 FFFFFFFF</a:t>
            </a:r>
          </a:p>
          <a:p>
            <a:pPr eaLnBrk="1" hangingPunct="1">
              <a:lnSpc>
                <a:spcPct val="50000"/>
              </a:lnSpc>
              <a:spcBef>
                <a:spcPct val="50000"/>
              </a:spcBef>
              <a:buClrTx/>
              <a:buFontTx/>
              <a:buNone/>
            </a:pPr>
            <a:endParaRPr lang="en-US" altLang="en-US" sz="1800" b="1">
              <a:solidFill>
                <a:schemeClr val="tx2"/>
              </a:solidFill>
              <a:latin typeface="Courier New" panose="020703090202050204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a:extLst>
              <a:ext uri="{FF2B5EF4-FFF2-40B4-BE49-F238E27FC236}">
                <a16:creationId xmlns:a16="http://schemas.microsoft.com/office/drawing/2014/main" id="{B1550DF9-F6EA-4DA1-9FB6-E4B4DCED48A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69635" name="Slide Number Placeholder 4">
            <a:extLst>
              <a:ext uri="{FF2B5EF4-FFF2-40B4-BE49-F238E27FC236}">
                <a16:creationId xmlns:a16="http://schemas.microsoft.com/office/drawing/2014/main" id="{04BBFCFB-FC0F-48BD-AE44-2CFDBF33B826}"/>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6CD5F55-BA8B-4910-A7A7-EA1E534B91C8}" type="slidenum">
              <a:rPr lang="en-US" altLang="en-US" sz="1600">
                <a:latin typeface="Times New Roman" panose="02020603050405020304" pitchFamily="18" charset="0"/>
              </a:rPr>
              <a:pPr eaLnBrk="1" hangingPunct="1">
                <a:spcBef>
                  <a:spcPct val="0"/>
                </a:spcBef>
                <a:buClrTx/>
                <a:buFontTx/>
                <a:buNone/>
              </a:pPr>
              <a:t>44</a:t>
            </a:fld>
            <a:endParaRPr lang="en-US" altLang="en-US" sz="1600">
              <a:latin typeface="Times New Roman" panose="02020603050405020304" pitchFamily="18" charset="0"/>
            </a:endParaRPr>
          </a:p>
        </p:txBody>
      </p:sp>
      <p:sp>
        <p:nvSpPr>
          <p:cNvPr id="165890" name="Rectangle 2">
            <a:extLst>
              <a:ext uri="{FF2B5EF4-FFF2-40B4-BE49-F238E27FC236}">
                <a16:creationId xmlns:a16="http://schemas.microsoft.com/office/drawing/2014/main" id="{78908E31-E8E2-4DA4-B2EF-8194910B6821}"/>
              </a:ext>
            </a:extLst>
          </p:cNvPr>
          <p:cNvSpPr>
            <a:spLocks noGrp="1" noChangeArrowheads="1"/>
          </p:cNvSpPr>
          <p:nvPr>
            <p:ph type="title"/>
          </p:nvPr>
        </p:nvSpPr>
        <p:spPr/>
        <p:txBody>
          <a:bodyPr/>
          <a:lstStyle/>
          <a:p>
            <a:pPr eaLnBrk="1" hangingPunct="1">
              <a:defRPr/>
            </a:pPr>
            <a:r>
              <a:rPr lang="en-US" altLang="en-US"/>
              <a:t>What's Next</a:t>
            </a:r>
          </a:p>
        </p:txBody>
      </p:sp>
      <p:sp>
        <p:nvSpPr>
          <p:cNvPr id="69637" name="Rectangle 3">
            <a:extLst>
              <a:ext uri="{FF2B5EF4-FFF2-40B4-BE49-F238E27FC236}">
                <a16:creationId xmlns:a16="http://schemas.microsoft.com/office/drawing/2014/main" id="{A089D2B9-FD43-472B-B5AC-11309F7E1D00}"/>
              </a:ext>
            </a:extLst>
          </p:cNvPr>
          <p:cNvSpPr>
            <a:spLocks noGrp="1" noChangeArrowheads="1"/>
          </p:cNvSpPr>
          <p:nvPr>
            <p:ph type="body" idx="1"/>
          </p:nvPr>
        </p:nvSpPr>
        <p:spPr>
          <a:xfrm>
            <a:off x="1295400" y="1600200"/>
            <a:ext cx="6934200" cy="2819400"/>
          </a:xfrm>
        </p:spPr>
        <p:txBody>
          <a:bodyPr/>
          <a:lstStyle/>
          <a:p>
            <a:pPr eaLnBrk="1" hangingPunct="1"/>
            <a:r>
              <a:rPr lang="en-US" altLang="en-US"/>
              <a:t>Shift and Rotate Instructions</a:t>
            </a:r>
          </a:p>
          <a:p>
            <a:pPr eaLnBrk="1" hangingPunct="1"/>
            <a:r>
              <a:rPr lang="en-US" altLang="en-US"/>
              <a:t>Shift and Rotate Applications</a:t>
            </a:r>
          </a:p>
          <a:p>
            <a:pPr eaLnBrk="1" hangingPunct="1"/>
            <a:r>
              <a:rPr lang="en-US" altLang="en-US"/>
              <a:t>Multiplication and Division Instructions</a:t>
            </a:r>
          </a:p>
          <a:p>
            <a:pPr eaLnBrk="1" hangingPunct="1"/>
            <a:r>
              <a:rPr lang="en-US" altLang="en-US"/>
              <a:t>Extended Addition and Subtraction</a:t>
            </a:r>
          </a:p>
          <a:p>
            <a:pPr eaLnBrk="1" hangingPunct="1"/>
            <a:r>
              <a:rPr lang="en-US" altLang="en-US" b="1">
                <a:solidFill>
                  <a:schemeClr val="tx2"/>
                </a:solidFill>
              </a:rPr>
              <a:t>ASCII and UnPacked Decimal Arithmetic</a:t>
            </a:r>
          </a:p>
          <a:p>
            <a:pPr eaLnBrk="1" hangingPunct="1"/>
            <a:r>
              <a:rPr lang="en-US" altLang="en-US"/>
              <a:t>Packed Decimal Arithmetic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53EFDF3D-EEF3-46F1-99F7-EFCE0A3E222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0659" name="Slide Number Placeholder 4">
            <a:extLst>
              <a:ext uri="{FF2B5EF4-FFF2-40B4-BE49-F238E27FC236}">
                <a16:creationId xmlns:a16="http://schemas.microsoft.com/office/drawing/2014/main" id="{47E49CD4-13BA-4C43-9A4C-BA2D116BA08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BACF2215-CE96-42AA-A634-41ADD42F1B7C}" type="slidenum">
              <a:rPr lang="en-US" altLang="en-US" sz="1600">
                <a:latin typeface="Times New Roman" panose="02020603050405020304" pitchFamily="18" charset="0"/>
              </a:rPr>
              <a:pPr eaLnBrk="1" hangingPunct="1">
                <a:spcBef>
                  <a:spcPct val="0"/>
                </a:spcBef>
                <a:buClrTx/>
                <a:buFontTx/>
                <a:buNone/>
              </a:pPr>
              <a:t>45</a:t>
            </a:fld>
            <a:endParaRPr lang="en-US" altLang="en-US" sz="1600">
              <a:latin typeface="Times New Roman" panose="02020603050405020304" pitchFamily="18" charset="0"/>
            </a:endParaRPr>
          </a:p>
        </p:txBody>
      </p:sp>
      <p:sp>
        <p:nvSpPr>
          <p:cNvPr id="82946" name="Rectangle 2">
            <a:extLst>
              <a:ext uri="{FF2B5EF4-FFF2-40B4-BE49-F238E27FC236}">
                <a16:creationId xmlns:a16="http://schemas.microsoft.com/office/drawing/2014/main" id="{3948D1B3-EB84-4CE4-9DE9-2B59CB8E902C}"/>
              </a:ext>
            </a:extLst>
          </p:cNvPr>
          <p:cNvSpPr>
            <a:spLocks noGrp="1" noChangeArrowheads="1"/>
          </p:cNvSpPr>
          <p:nvPr>
            <p:ph type="title"/>
          </p:nvPr>
        </p:nvSpPr>
        <p:spPr/>
        <p:txBody>
          <a:bodyPr/>
          <a:lstStyle/>
          <a:p>
            <a:pPr eaLnBrk="1" hangingPunct="1">
              <a:defRPr/>
            </a:pPr>
            <a:r>
              <a:rPr lang="en-US" altLang="en-US"/>
              <a:t>ASCII and Packed Decimal Arithmetic</a:t>
            </a:r>
          </a:p>
        </p:txBody>
      </p:sp>
      <p:sp>
        <p:nvSpPr>
          <p:cNvPr id="70661" name="Rectangle 3">
            <a:extLst>
              <a:ext uri="{FF2B5EF4-FFF2-40B4-BE49-F238E27FC236}">
                <a16:creationId xmlns:a16="http://schemas.microsoft.com/office/drawing/2014/main" id="{99D3560C-CF7D-4BB9-83BE-6DDE69C3758E}"/>
              </a:ext>
            </a:extLst>
          </p:cNvPr>
          <p:cNvSpPr>
            <a:spLocks noGrp="1" noChangeArrowheads="1"/>
          </p:cNvSpPr>
          <p:nvPr>
            <p:ph type="body" idx="1"/>
          </p:nvPr>
        </p:nvSpPr>
        <p:spPr>
          <a:xfrm>
            <a:off x="1828800" y="1219200"/>
            <a:ext cx="5410200" cy="4419600"/>
          </a:xfrm>
        </p:spPr>
        <p:txBody>
          <a:bodyPr/>
          <a:lstStyle/>
          <a:p>
            <a:pPr eaLnBrk="1" hangingPunct="1"/>
            <a:r>
              <a:rPr lang="en-US" altLang="en-US"/>
              <a:t>Binary Coded Decimal</a:t>
            </a:r>
          </a:p>
          <a:p>
            <a:pPr eaLnBrk="1" hangingPunct="1"/>
            <a:r>
              <a:rPr lang="en-US" altLang="en-US"/>
              <a:t>ASCII Decimal</a:t>
            </a:r>
          </a:p>
          <a:p>
            <a:pPr eaLnBrk="1" hangingPunct="1"/>
            <a:r>
              <a:rPr lang="en-US" altLang="en-US"/>
              <a:t>AAA Instruction </a:t>
            </a:r>
          </a:p>
          <a:p>
            <a:pPr eaLnBrk="1" hangingPunct="1"/>
            <a:r>
              <a:rPr lang="en-US" altLang="en-US"/>
              <a:t>AAS Instruction </a:t>
            </a:r>
          </a:p>
          <a:p>
            <a:pPr eaLnBrk="1" hangingPunct="1"/>
            <a:r>
              <a:rPr lang="en-US" altLang="en-US"/>
              <a:t>AAM Instruction </a:t>
            </a:r>
          </a:p>
          <a:p>
            <a:pPr eaLnBrk="1" hangingPunct="1"/>
            <a:r>
              <a:rPr lang="en-US" altLang="en-US"/>
              <a:t>AAD Instruction </a:t>
            </a:r>
          </a:p>
          <a:p>
            <a:pPr eaLnBrk="1" hangingPunct="1"/>
            <a:r>
              <a:rPr lang="en-US" altLang="en-US"/>
              <a:t>Packed Decimal Integers</a:t>
            </a:r>
          </a:p>
          <a:p>
            <a:pPr eaLnBrk="1" hangingPunct="1"/>
            <a:r>
              <a:rPr lang="en-US" altLang="en-US"/>
              <a:t>DAA Instruction</a:t>
            </a:r>
          </a:p>
          <a:p>
            <a:pPr eaLnBrk="1" hangingPunct="1"/>
            <a:r>
              <a:rPr lang="en-US" altLang="en-US"/>
              <a:t>DAS Instruction </a:t>
            </a:r>
          </a:p>
        </p:txBody>
      </p:sp>
      <p:sp>
        <p:nvSpPr>
          <p:cNvPr id="70662" name="TextBox 5">
            <a:extLst>
              <a:ext uri="{FF2B5EF4-FFF2-40B4-BE49-F238E27FC236}">
                <a16:creationId xmlns:a16="http://schemas.microsoft.com/office/drawing/2014/main" id="{67DE904E-BC05-409A-9654-5521CD5EAE29}"/>
              </a:ext>
            </a:extLst>
          </p:cNvPr>
          <p:cNvSpPr txBox="1">
            <a:spLocks noChangeArrowheads="1"/>
          </p:cNvSpPr>
          <p:nvPr/>
        </p:nvSpPr>
        <p:spPr bwMode="auto">
          <a:xfrm>
            <a:off x="5059363" y="2362200"/>
            <a:ext cx="3352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2000">
                <a:solidFill>
                  <a:schemeClr val="tx2"/>
                </a:solidFill>
              </a:rPr>
              <a:t>The instructions in this section do not apply to 64-bit mode programming.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a:extLst>
              <a:ext uri="{FF2B5EF4-FFF2-40B4-BE49-F238E27FC236}">
                <a16:creationId xmlns:a16="http://schemas.microsoft.com/office/drawing/2014/main" id="{ECFFB3B4-71B1-4DA3-B29E-7C5C16C3699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1683" name="Slide Number Placeholder 4">
            <a:extLst>
              <a:ext uri="{FF2B5EF4-FFF2-40B4-BE49-F238E27FC236}">
                <a16:creationId xmlns:a16="http://schemas.microsoft.com/office/drawing/2014/main" id="{7E0A135D-F91B-4042-A1D2-4DC94DDF8A9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5592F80-7FC1-4C9B-BABA-22C34CBC22F6}" type="slidenum">
              <a:rPr lang="en-US" altLang="en-US" sz="1600">
                <a:latin typeface="Times New Roman" panose="02020603050405020304" pitchFamily="18" charset="0"/>
              </a:rPr>
              <a:pPr eaLnBrk="1" hangingPunct="1">
                <a:spcBef>
                  <a:spcPct val="0"/>
                </a:spcBef>
                <a:buClrTx/>
                <a:buFontTx/>
                <a:buNone/>
              </a:pPr>
              <a:t>46</a:t>
            </a:fld>
            <a:endParaRPr lang="en-US" altLang="en-US" sz="1600">
              <a:latin typeface="Times New Roman" panose="02020603050405020304" pitchFamily="18" charset="0"/>
            </a:endParaRPr>
          </a:p>
        </p:txBody>
      </p:sp>
      <p:sp>
        <p:nvSpPr>
          <p:cNvPr id="129026" name="Rectangle 2">
            <a:extLst>
              <a:ext uri="{FF2B5EF4-FFF2-40B4-BE49-F238E27FC236}">
                <a16:creationId xmlns:a16="http://schemas.microsoft.com/office/drawing/2014/main" id="{6BFEFA03-47A7-4CD0-8800-0A7B7DE12E23}"/>
              </a:ext>
            </a:extLst>
          </p:cNvPr>
          <p:cNvSpPr>
            <a:spLocks noGrp="1" noChangeArrowheads="1"/>
          </p:cNvSpPr>
          <p:nvPr>
            <p:ph type="title"/>
          </p:nvPr>
        </p:nvSpPr>
        <p:spPr/>
        <p:txBody>
          <a:bodyPr/>
          <a:lstStyle/>
          <a:p>
            <a:pPr eaLnBrk="1" hangingPunct="1">
              <a:defRPr/>
            </a:pPr>
            <a:r>
              <a:rPr lang="en-US" altLang="en-US"/>
              <a:t>Binary-Coded Decimal</a:t>
            </a:r>
          </a:p>
        </p:txBody>
      </p:sp>
      <p:sp>
        <p:nvSpPr>
          <p:cNvPr id="71685" name="Rectangle 3">
            <a:extLst>
              <a:ext uri="{FF2B5EF4-FFF2-40B4-BE49-F238E27FC236}">
                <a16:creationId xmlns:a16="http://schemas.microsoft.com/office/drawing/2014/main" id="{FB0CF9E4-D903-4802-86DA-1BDBF5583A78}"/>
              </a:ext>
            </a:extLst>
          </p:cNvPr>
          <p:cNvSpPr>
            <a:spLocks noGrp="1" noChangeArrowheads="1"/>
          </p:cNvSpPr>
          <p:nvPr>
            <p:ph type="body" idx="1"/>
          </p:nvPr>
        </p:nvSpPr>
        <p:spPr>
          <a:xfrm>
            <a:off x="609600" y="1219200"/>
            <a:ext cx="7772400" cy="2590800"/>
          </a:xfrm>
        </p:spPr>
        <p:txBody>
          <a:bodyPr/>
          <a:lstStyle/>
          <a:p>
            <a:pPr eaLnBrk="1" hangingPunct="1"/>
            <a:r>
              <a:rPr lang="en-US" altLang="en-US"/>
              <a:t>Binary-coded decimal (BCD) integers use 4 binary bits to represent each decimal digit</a:t>
            </a:r>
          </a:p>
          <a:p>
            <a:pPr eaLnBrk="1" hangingPunct="1"/>
            <a:r>
              <a:rPr lang="en-US" altLang="en-US"/>
              <a:t>A number using </a:t>
            </a:r>
            <a:r>
              <a:rPr lang="en-US" altLang="en-US">
                <a:solidFill>
                  <a:schemeClr val="tx2"/>
                </a:solidFill>
              </a:rPr>
              <a:t>unpacked BCD</a:t>
            </a:r>
            <a:r>
              <a:rPr lang="en-US" altLang="en-US"/>
              <a:t> representation stores a decimal digit in the lower four bits of each byte</a:t>
            </a:r>
          </a:p>
          <a:p>
            <a:pPr lvl="1" eaLnBrk="1" hangingPunct="1"/>
            <a:r>
              <a:rPr lang="en-US" altLang="en-US"/>
              <a:t>For example, 5,678 is stored as the following sequence of hexadecimal bytes:</a:t>
            </a:r>
          </a:p>
        </p:txBody>
      </p:sp>
      <p:sp>
        <p:nvSpPr>
          <p:cNvPr id="71686" name="Text Box 4">
            <a:extLst>
              <a:ext uri="{FF2B5EF4-FFF2-40B4-BE49-F238E27FC236}">
                <a16:creationId xmlns:a16="http://schemas.microsoft.com/office/drawing/2014/main" id="{45FB61AF-9316-4778-9177-125C5B8A0349}"/>
              </a:ext>
            </a:extLst>
          </p:cNvPr>
          <p:cNvSpPr txBox="1">
            <a:spLocks noChangeArrowheads="1"/>
          </p:cNvSpPr>
          <p:nvPr/>
        </p:nvSpPr>
        <p:spPr bwMode="auto">
          <a:xfrm>
            <a:off x="3124200" y="3844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05</a:t>
            </a:r>
          </a:p>
        </p:txBody>
      </p:sp>
      <p:sp>
        <p:nvSpPr>
          <p:cNvPr id="71687" name="Text Box 5">
            <a:extLst>
              <a:ext uri="{FF2B5EF4-FFF2-40B4-BE49-F238E27FC236}">
                <a16:creationId xmlns:a16="http://schemas.microsoft.com/office/drawing/2014/main" id="{090BA276-8644-46A7-A6C5-FDBD52F09976}"/>
              </a:ext>
            </a:extLst>
          </p:cNvPr>
          <p:cNvSpPr txBox="1">
            <a:spLocks noChangeArrowheads="1"/>
          </p:cNvSpPr>
          <p:nvPr/>
        </p:nvSpPr>
        <p:spPr bwMode="auto">
          <a:xfrm>
            <a:off x="3581400" y="3844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06</a:t>
            </a:r>
          </a:p>
        </p:txBody>
      </p:sp>
      <p:sp>
        <p:nvSpPr>
          <p:cNvPr id="71688" name="Text Box 6">
            <a:extLst>
              <a:ext uri="{FF2B5EF4-FFF2-40B4-BE49-F238E27FC236}">
                <a16:creationId xmlns:a16="http://schemas.microsoft.com/office/drawing/2014/main" id="{E03DE61E-90B8-47B7-B5C4-F56C3C480A07}"/>
              </a:ext>
            </a:extLst>
          </p:cNvPr>
          <p:cNvSpPr txBox="1">
            <a:spLocks noChangeArrowheads="1"/>
          </p:cNvSpPr>
          <p:nvPr/>
        </p:nvSpPr>
        <p:spPr bwMode="auto">
          <a:xfrm>
            <a:off x="4038600" y="3844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07</a:t>
            </a:r>
          </a:p>
        </p:txBody>
      </p:sp>
      <p:sp>
        <p:nvSpPr>
          <p:cNvPr id="71689" name="Text Box 7">
            <a:extLst>
              <a:ext uri="{FF2B5EF4-FFF2-40B4-BE49-F238E27FC236}">
                <a16:creationId xmlns:a16="http://schemas.microsoft.com/office/drawing/2014/main" id="{09856F44-7898-41E2-B4D9-5D1A092653CA}"/>
              </a:ext>
            </a:extLst>
          </p:cNvPr>
          <p:cNvSpPr txBox="1">
            <a:spLocks noChangeArrowheads="1"/>
          </p:cNvSpPr>
          <p:nvPr/>
        </p:nvSpPr>
        <p:spPr bwMode="auto">
          <a:xfrm>
            <a:off x="4495800" y="3844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08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FC29548B-A3D4-4572-A4B9-467CBA604D19}"/>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2707" name="Slide Number Placeholder 4">
            <a:extLst>
              <a:ext uri="{FF2B5EF4-FFF2-40B4-BE49-F238E27FC236}">
                <a16:creationId xmlns:a16="http://schemas.microsoft.com/office/drawing/2014/main" id="{F6D4A37F-0A08-47E8-8023-539F607D754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B2FF75DC-6168-4EDC-9442-9EFF7554CFB9}" type="slidenum">
              <a:rPr lang="en-US" altLang="en-US" sz="1600">
                <a:latin typeface="Times New Roman" panose="02020603050405020304" pitchFamily="18" charset="0"/>
              </a:rPr>
              <a:pPr eaLnBrk="1" hangingPunct="1">
                <a:spcBef>
                  <a:spcPct val="0"/>
                </a:spcBef>
                <a:buClrTx/>
                <a:buFontTx/>
                <a:buNone/>
              </a:pPr>
              <a:t>47</a:t>
            </a:fld>
            <a:endParaRPr lang="en-US" altLang="en-US" sz="1600">
              <a:latin typeface="Times New Roman" panose="02020603050405020304" pitchFamily="18" charset="0"/>
            </a:endParaRPr>
          </a:p>
        </p:txBody>
      </p:sp>
      <p:sp>
        <p:nvSpPr>
          <p:cNvPr id="130050" name="Rectangle 2">
            <a:extLst>
              <a:ext uri="{FF2B5EF4-FFF2-40B4-BE49-F238E27FC236}">
                <a16:creationId xmlns:a16="http://schemas.microsoft.com/office/drawing/2014/main" id="{3200A4C3-BA64-4213-8298-23D554F9FE46}"/>
              </a:ext>
            </a:extLst>
          </p:cNvPr>
          <p:cNvSpPr>
            <a:spLocks noGrp="1" noChangeArrowheads="1"/>
          </p:cNvSpPr>
          <p:nvPr>
            <p:ph type="title"/>
          </p:nvPr>
        </p:nvSpPr>
        <p:spPr/>
        <p:txBody>
          <a:bodyPr/>
          <a:lstStyle/>
          <a:p>
            <a:pPr eaLnBrk="1" hangingPunct="1">
              <a:defRPr/>
            </a:pPr>
            <a:r>
              <a:rPr lang="en-US" altLang="en-US"/>
              <a:t>ASCII Decimal</a:t>
            </a:r>
          </a:p>
        </p:txBody>
      </p:sp>
      <p:sp>
        <p:nvSpPr>
          <p:cNvPr id="72709" name="Rectangle 3">
            <a:extLst>
              <a:ext uri="{FF2B5EF4-FFF2-40B4-BE49-F238E27FC236}">
                <a16:creationId xmlns:a16="http://schemas.microsoft.com/office/drawing/2014/main" id="{1330F339-002E-40C3-B061-A682ACFA09D9}"/>
              </a:ext>
            </a:extLst>
          </p:cNvPr>
          <p:cNvSpPr>
            <a:spLocks noGrp="1" noChangeArrowheads="1"/>
          </p:cNvSpPr>
          <p:nvPr>
            <p:ph type="body" idx="1"/>
          </p:nvPr>
        </p:nvSpPr>
        <p:spPr>
          <a:xfrm>
            <a:off x="609600" y="1219200"/>
            <a:ext cx="7772400" cy="2514600"/>
          </a:xfrm>
        </p:spPr>
        <p:txBody>
          <a:bodyPr/>
          <a:lstStyle/>
          <a:p>
            <a:pPr eaLnBrk="1" hangingPunct="1"/>
            <a:r>
              <a:rPr lang="en-US" altLang="en-US"/>
              <a:t>A number using </a:t>
            </a:r>
            <a:r>
              <a:rPr lang="en-US" altLang="en-US">
                <a:solidFill>
                  <a:schemeClr val="tx2"/>
                </a:solidFill>
              </a:rPr>
              <a:t>ASCII Decimal</a:t>
            </a:r>
            <a:r>
              <a:rPr lang="en-US" altLang="en-US"/>
              <a:t> representation stores a single ASCII digit in each byte</a:t>
            </a:r>
          </a:p>
          <a:p>
            <a:pPr lvl="1" eaLnBrk="1" hangingPunct="1"/>
            <a:r>
              <a:rPr lang="en-US" altLang="en-US"/>
              <a:t>For example, 5,678 is stored as the following sequence of hexadecimal bytes:</a:t>
            </a:r>
          </a:p>
        </p:txBody>
      </p:sp>
      <p:sp>
        <p:nvSpPr>
          <p:cNvPr id="72710" name="Text Box 4">
            <a:extLst>
              <a:ext uri="{FF2B5EF4-FFF2-40B4-BE49-F238E27FC236}">
                <a16:creationId xmlns:a16="http://schemas.microsoft.com/office/drawing/2014/main" id="{8C589709-FFAB-4A56-B318-AFDCF54412AB}"/>
              </a:ext>
            </a:extLst>
          </p:cNvPr>
          <p:cNvSpPr txBox="1">
            <a:spLocks noChangeArrowheads="1"/>
          </p:cNvSpPr>
          <p:nvPr/>
        </p:nvSpPr>
        <p:spPr bwMode="auto">
          <a:xfrm>
            <a:off x="3124200" y="3082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35</a:t>
            </a:r>
          </a:p>
        </p:txBody>
      </p:sp>
      <p:sp>
        <p:nvSpPr>
          <p:cNvPr id="72711" name="Text Box 5">
            <a:extLst>
              <a:ext uri="{FF2B5EF4-FFF2-40B4-BE49-F238E27FC236}">
                <a16:creationId xmlns:a16="http://schemas.microsoft.com/office/drawing/2014/main" id="{BB1B072F-16AF-450E-9331-735FEAF070A1}"/>
              </a:ext>
            </a:extLst>
          </p:cNvPr>
          <p:cNvSpPr txBox="1">
            <a:spLocks noChangeArrowheads="1"/>
          </p:cNvSpPr>
          <p:nvPr/>
        </p:nvSpPr>
        <p:spPr bwMode="auto">
          <a:xfrm>
            <a:off x="3581400" y="3082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36</a:t>
            </a:r>
          </a:p>
        </p:txBody>
      </p:sp>
      <p:sp>
        <p:nvSpPr>
          <p:cNvPr id="72712" name="Text Box 6">
            <a:extLst>
              <a:ext uri="{FF2B5EF4-FFF2-40B4-BE49-F238E27FC236}">
                <a16:creationId xmlns:a16="http://schemas.microsoft.com/office/drawing/2014/main" id="{24ACA7AD-604A-492F-B881-D9798E212ABD}"/>
              </a:ext>
            </a:extLst>
          </p:cNvPr>
          <p:cNvSpPr txBox="1">
            <a:spLocks noChangeArrowheads="1"/>
          </p:cNvSpPr>
          <p:nvPr/>
        </p:nvSpPr>
        <p:spPr bwMode="auto">
          <a:xfrm>
            <a:off x="4038600" y="3082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37</a:t>
            </a:r>
          </a:p>
        </p:txBody>
      </p:sp>
      <p:sp>
        <p:nvSpPr>
          <p:cNvPr id="72713" name="Text Box 7">
            <a:extLst>
              <a:ext uri="{FF2B5EF4-FFF2-40B4-BE49-F238E27FC236}">
                <a16:creationId xmlns:a16="http://schemas.microsoft.com/office/drawing/2014/main" id="{10408822-E3B0-44ED-941F-C7D0F2327652}"/>
              </a:ext>
            </a:extLst>
          </p:cNvPr>
          <p:cNvSpPr txBox="1">
            <a:spLocks noChangeArrowheads="1"/>
          </p:cNvSpPr>
          <p:nvPr/>
        </p:nvSpPr>
        <p:spPr bwMode="auto">
          <a:xfrm>
            <a:off x="4495800" y="3082925"/>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38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a:extLst>
              <a:ext uri="{FF2B5EF4-FFF2-40B4-BE49-F238E27FC236}">
                <a16:creationId xmlns:a16="http://schemas.microsoft.com/office/drawing/2014/main" id="{44825A66-EC06-49EA-A024-60408C3896C7}"/>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3731" name="Slide Number Placeholder 4">
            <a:extLst>
              <a:ext uri="{FF2B5EF4-FFF2-40B4-BE49-F238E27FC236}">
                <a16:creationId xmlns:a16="http://schemas.microsoft.com/office/drawing/2014/main" id="{BE5800FF-23C3-43DD-970B-029E116C05D5}"/>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F3504C7D-2C9C-4DA9-A999-D4AA33C09B5C}" type="slidenum">
              <a:rPr lang="en-US" altLang="en-US" sz="1600">
                <a:latin typeface="Times New Roman" panose="02020603050405020304" pitchFamily="18" charset="0"/>
              </a:rPr>
              <a:pPr eaLnBrk="1" hangingPunct="1">
                <a:spcBef>
                  <a:spcPct val="0"/>
                </a:spcBef>
                <a:buClrTx/>
                <a:buFontTx/>
                <a:buNone/>
              </a:pPr>
              <a:t>48</a:t>
            </a:fld>
            <a:endParaRPr lang="en-US" altLang="en-US" sz="1600">
              <a:latin typeface="Times New Roman" panose="02020603050405020304" pitchFamily="18" charset="0"/>
            </a:endParaRPr>
          </a:p>
        </p:txBody>
      </p:sp>
      <p:sp>
        <p:nvSpPr>
          <p:cNvPr id="106498" name="Rectangle 2">
            <a:extLst>
              <a:ext uri="{FF2B5EF4-FFF2-40B4-BE49-F238E27FC236}">
                <a16:creationId xmlns:a16="http://schemas.microsoft.com/office/drawing/2014/main" id="{47E239A4-710A-40A1-9083-F1A2933AC270}"/>
              </a:ext>
            </a:extLst>
          </p:cNvPr>
          <p:cNvSpPr>
            <a:spLocks noGrp="1" noChangeArrowheads="1"/>
          </p:cNvSpPr>
          <p:nvPr>
            <p:ph type="title"/>
          </p:nvPr>
        </p:nvSpPr>
        <p:spPr/>
        <p:txBody>
          <a:bodyPr/>
          <a:lstStyle/>
          <a:p>
            <a:pPr eaLnBrk="1" hangingPunct="1">
              <a:defRPr/>
            </a:pPr>
            <a:r>
              <a:rPr lang="en-US" altLang="en-US"/>
              <a:t>AAA Instruction</a:t>
            </a:r>
          </a:p>
        </p:txBody>
      </p:sp>
      <p:sp>
        <p:nvSpPr>
          <p:cNvPr id="73733" name="Rectangle 3">
            <a:extLst>
              <a:ext uri="{FF2B5EF4-FFF2-40B4-BE49-F238E27FC236}">
                <a16:creationId xmlns:a16="http://schemas.microsoft.com/office/drawing/2014/main" id="{4700EF68-C13A-4407-8D51-1F93F1CD3E32}"/>
              </a:ext>
            </a:extLst>
          </p:cNvPr>
          <p:cNvSpPr>
            <a:spLocks noGrp="1" noChangeArrowheads="1"/>
          </p:cNvSpPr>
          <p:nvPr>
            <p:ph type="body" idx="1"/>
          </p:nvPr>
        </p:nvSpPr>
        <p:spPr>
          <a:xfrm>
            <a:off x="609600" y="1143000"/>
            <a:ext cx="7772400" cy="2667000"/>
          </a:xfrm>
        </p:spPr>
        <p:txBody>
          <a:bodyPr/>
          <a:lstStyle/>
          <a:p>
            <a:pPr eaLnBrk="1" hangingPunct="1"/>
            <a:r>
              <a:rPr lang="en-US" altLang="en-US"/>
              <a:t>The AAA (ASCII adjust after addition) instruction adjusts the binary result of an ADD or ADC instruction. It makes the result in AL consistent with ASCII decimal representation.</a:t>
            </a:r>
          </a:p>
          <a:p>
            <a:pPr lvl="1" eaLnBrk="1" hangingPunct="1"/>
            <a:r>
              <a:rPr lang="en-US" altLang="en-US"/>
              <a:t>The Carry value, if any ends up in AH</a:t>
            </a:r>
          </a:p>
          <a:p>
            <a:pPr eaLnBrk="1" hangingPunct="1"/>
            <a:r>
              <a:rPr lang="en-US" altLang="en-US"/>
              <a:t>Example: Add '8' and '2'</a:t>
            </a:r>
          </a:p>
        </p:txBody>
      </p:sp>
      <p:sp>
        <p:nvSpPr>
          <p:cNvPr id="73734" name="Text Box 4">
            <a:extLst>
              <a:ext uri="{FF2B5EF4-FFF2-40B4-BE49-F238E27FC236}">
                <a16:creationId xmlns:a16="http://schemas.microsoft.com/office/drawing/2014/main" id="{C701B6D8-F03B-4D20-B074-65024159EC94}"/>
              </a:ext>
            </a:extLst>
          </p:cNvPr>
          <p:cNvSpPr txBox="1">
            <a:spLocks noChangeArrowheads="1"/>
          </p:cNvSpPr>
          <p:nvPr/>
        </p:nvSpPr>
        <p:spPr bwMode="auto">
          <a:xfrm>
            <a:off x="1066800" y="3733800"/>
            <a:ext cx="70866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ah,0</a:t>
            </a:r>
          </a:p>
          <a:p>
            <a:pPr eaLnBrk="1" hangingPunct="1">
              <a:lnSpc>
                <a:spcPct val="50000"/>
              </a:lnSpc>
              <a:spcBef>
                <a:spcPct val="50000"/>
              </a:spcBef>
              <a:buClrTx/>
              <a:buFontTx/>
              <a:buNone/>
            </a:pPr>
            <a:r>
              <a:rPr lang="en-US" altLang="en-US" sz="1800" b="1">
                <a:latin typeface="Courier New" panose="02070309020205020404" pitchFamily="49" charset="0"/>
              </a:rPr>
              <a:t>mov al,'8'		; AX = 0038h</a:t>
            </a:r>
          </a:p>
          <a:p>
            <a:pPr eaLnBrk="1" hangingPunct="1">
              <a:lnSpc>
                <a:spcPct val="50000"/>
              </a:lnSpc>
              <a:spcBef>
                <a:spcPct val="50000"/>
              </a:spcBef>
              <a:buClrTx/>
              <a:buFontTx/>
              <a:buNone/>
            </a:pPr>
            <a:r>
              <a:rPr lang="en-US" altLang="en-US" sz="1800" b="1">
                <a:latin typeface="Courier New" panose="02070309020205020404" pitchFamily="49" charset="0"/>
              </a:rPr>
              <a:t>add al,'2'		; AX = 006Ah</a:t>
            </a:r>
          </a:p>
          <a:p>
            <a:pPr eaLnBrk="1" hangingPunct="1">
              <a:lnSpc>
                <a:spcPct val="50000"/>
              </a:lnSpc>
              <a:spcBef>
                <a:spcPct val="50000"/>
              </a:spcBef>
              <a:buClrTx/>
              <a:buFontTx/>
              <a:buNone/>
            </a:pPr>
            <a:r>
              <a:rPr lang="en-US" altLang="en-US" sz="1800" b="1">
                <a:latin typeface="Courier New" panose="02070309020205020404" pitchFamily="49" charset="0"/>
              </a:rPr>
              <a:t>aaa				; AX = 0100h (adjust result)</a:t>
            </a:r>
          </a:p>
          <a:p>
            <a:pPr eaLnBrk="1" hangingPunct="1">
              <a:lnSpc>
                <a:spcPct val="50000"/>
              </a:lnSpc>
              <a:spcBef>
                <a:spcPct val="50000"/>
              </a:spcBef>
              <a:buClrTx/>
              <a:buFontTx/>
              <a:buNone/>
            </a:pPr>
            <a:r>
              <a:rPr lang="en-US" altLang="en-US" sz="1800" b="1">
                <a:latin typeface="Courier New" panose="02070309020205020404" pitchFamily="49" charset="0"/>
              </a:rPr>
              <a:t>or  ax,3030h		; AX = 3130h = '10'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94F47629-F4B0-4CE3-92A1-EE263D5D33A3}"/>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4755" name="Slide Number Placeholder 4">
            <a:extLst>
              <a:ext uri="{FF2B5EF4-FFF2-40B4-BE49-F238E27FC236}">
                <a16:creationId xmlns:a16="http://schemas.microsoft.com/office/drawing/2014/main" id="{E87C2300-615A-42D1-B586-B1574B04EC7B}"/>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2598ABB-5D77-476C-88C8-D5722B173AEE}" type="slidenum">
              <a:rPr lang="en-US" altLang="en-US" sz="1600">
                <a:latin typeface="Times New Roman" panose="02020603050405020304" pitchFamily="18" charset="0"/>
              </a:rPr>
              <a:pPr eaLnBrk="1" hangingPunct="1">
                <a:spcBef>
                  <a:spcPct val="0"/>
                </a:spcBef>
                <a:buClrTx/>
                <a:buFontTx/>
                <a:buNone/>
              </a:pPr>
              <a:t>49</a:t>
            </a:fld>
            <a:endParaRPr lang="en-US" altLang="en-US" sz="1600">
              <a:latin typeface="Times New Roman" panose="02020603050405020304" pitchFamily="18" charset="0"/>
            </a:endParaRPr>
          </a:p>
        </p:txBody>
      </p:sp>
      <p:sp>
        <p:nvSpPr>
          <p:cNvPr id="107522" name="Rectangle 2">
            <a:extLst>
              <a:ext uri="{FF2B5EF4-FFF2-40B4-BE49-F238E27FC236}">
                <a16:creationId xmlns:a16="http://schemas.microsoft.com/office/drawing/2014/main" id="{02338876-72C6-4159-BE16-42E078032558}"/>
              </a:ext>
            </a:extLst>
          </p:cNvPr>
          <p:cNvSpPr>
            <a:spLocks noGrp="1" noChangeArrowheads="1"/>
          </p:cNvSpPr>
          <p:nvPr>
            <p:ph type="title"/>
          </p:nvPr>
        </p:nvSpPr>
        <p:spPr/>
        <p:txBody>
          <a:bodyPr/>
          <a:lstStyle/>
          <a:p>
            <a:pPr eaLnBrk="1" hangingPunct="1">
              <a:defRPr/>
            </a:pPr>
            <a:r>
              <a:rPr lang="en-US" altLang="en-US"/>
              <a:t>AAS Instruction</a:t>
            </a:r>
          </a:p>
        </p:txBody>
      </p:sp>
      <p:sp>
        <p:nvSpPr>
          <p:cNvPr id="74757" name="Rectangle 4">
            <a:extLst>
              <a:ext uri="{FF2B5EF4-FFF2-40B4-BE49-F238E27FC236}">
                <a16:creationId xmlns:a16="http://schemas.microsoft.com/office/drawing/2014/main" id="{00460FD1-1E3C-4BAA-ADCF-AD7FB8631C69}"/>
              </a:ext>
            </a:extLst>
          </p:cNvPr>
          <p:cNvSpPr>
            <a:spLocks noGrp="1" noChangeArrowheads="1"/>
          </p:cNvSpPr>
          <p:nvPr>
            <p:ph type="body" idx="1"/>
          </p:nvPr>
        </p:nvSpPr>
        <p:spPr>
          <a:xfrm>
            <a:off x="609600" y="1143000"/>
            <a:ext cx="8077200" cy="2667000"/>
          </a:xfrm>
          <a:noFill/>
        </p:spPr>
        <p:txBody>
          <a:bodyPr/>
          <a:lstStyle/>
          <a:p>
            <a:pPr eaLnBrk="1" hangingPunct="1"/>
            <a:r>
              <a:rPr lang="en-US" altLang="en-US"/>
              <a:t>The AAS (ASCII adjust after subtraction) instruction adjusts the binary result of an SUB or SBB instruction. It makes the result in AL consistent with ASCII decimal representation.</a:t>
            </a:r>
          </a:p>
          <a:p>
            <a:pPr lvl="1" eaLnBrk="1" hangingPunct="1"/>
            <a:r>
              <a:rPr lang="en-US" altLang="en-US" sz="2000"/>
              <a:t>It places the Carry value, if any, in AH</a:t>
            </a:r>
          </a:p>
          <a:p>
            <a:pPr eaLnBrk="1" hangingPunct="1"/>
            <a:r>
              <a:rPr lang="en-US" altLang="en-US"/>
              <a:t>Example: Subtract '9' from '8'</a:t>
            </a:r>
          </a:p>
        </p:txBody>
      </p:sp>
      <p:sp>
        <p:nvSpPr>
          <p:cNvPr id="74758" name="Text Box 5">
            <a:extLst>
              <a:ext uri="{FF2B5EF4-FFF2-40B4-BE49-F238E27FC236}">
                <a16:creationId xmlns:a16="http://schemas.microsoft.com/office/drawing/2014/main" id="{31B09B6F-5371-471B-988F-58261C65FD9D}"/>
              </a:ext>
            </a:extLst>
          </p:cNvPr>
          <p:cNvSpPr txBox="1">
            <a:spLocks noChangeArrowheads="1"/>
          </p:cNvSpPr>
          <p:nvPr/>
        </p:nvSpPr>
        <p:spPr bwMode="auto">
          <a:xfrm>
            <a:off x="1828800" y="3657600"/>
            <a:ext cx="556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860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86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286000"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286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86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860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ah,0</a:t>
            </a:r>
          </a:p>
          <a:p>
            <a:pPr eaLnBrk="1" hangingPunct="1">
              <a:lnSpc>
                <a:spcPct val="50000"/>
              </a:lnSpc>
              <a:spcBef>
                <a:spcPct val="50000"/>
              </a:spcBef>
              <a:buClrTx/>
              <a:buFontTx/>
              <a:buNone/>
            </a:pPr>
            <a:r>
              <a:rPr lang="en-US" altLang="en-US" sz="1800" b="1">
                <a:latin typeface="Courier New" panose="02070309020205020404" pitchFamily="49" charset="0"/>
              </a:rPr>
              <a:t>mov al,'8'	; AX = 0038h</a:t>
            </a:r>
          </a:p>
          <a:p>
            <a:pPr eaLnBrk="1" hangingPunct="1">
              <a:lnSpc>
                <a:spcPct val="50000"/>
              </a:lnSpc>
              <a:spcBef>
                <a:spcPct val="50000"/>
              </a:spcBef>
              <a:buClrTx/>
              <a:buFontTx/>
              <a:buNone/>
            </a:pPr>
            <a:r>
              <a:rPr lang="en-US" altLang="en-US" sz="1800" b="1">
                <a:latin typeface="Courier New" panose="02070309020205020404" pitchFamily="49" charset="0"/>
              </a:rPr>
              <a:t>sub al,'9'	; AX = 00FFh</a:t>
            </a:r>
          </a:p>
          <a:p>
            <a:pPr eaLnBrk="1" hangingPunct="1">
              <a:lnSpc>
                <a:spcPct val="50000"/>
              </a:lnSpc>
              <a:spcBef>
                <a:spcPct val="50000"/>
              </a:spcBef>
              <a:buClrTx/>
              <a:buFontTx/>
              <a:buNone/>
            </a:pPr>
            <a:r>
              <a:rPr lang="en-US" altLang="en-US" sz="1800" b="1">
                <a:latin typeface="Courier New" panose="02070309020205020404" pitchFamily="49" charset="0"/>
              </a:rPr>
              <a:t>aas		; AX = FF09h, CF=1</a:t>
            </a:r>
          </a:p>
          <a:p>
            <a:pPr eaLnBrk="1" hangingPunct="1">
              <a:lnSpc>
                <a:spcPct val="50000"/>
              </a:lnSpc>
              <a:spcBef>
                <a:spcPct val="50000"/>
              </a:spcBef>
              <a:buClrTx/>
              <a:buFontTx/>
              <a:buNone/>
            </a:pPr>
            <a:r>
              <a:rPr lang="en-US" altLang="en-US" sz="1800" b="1">
                <a:latin typeface="Courier New" panose="02070309020205020404" pitchFamily="49" charset="0"/>
              </a:rPr>
              <a:t>or al,30h	; AL = '9'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a:extLst>
              <a:ext uri="{FF2B5EF4-FFF2-40B4-BE49-F238E27FC236}">
                <a16:creationId xmlns:a16="http://schemas.microsoft.com/office/drawing/2014/main" id="{807DFBD6-A18D-46FA-99EE-76ECEE5C8E9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5779" name="Slide Number Placeholder 4">
            <a:extLst>
              <a:ext uri="{FF2B5EF4-FFF2-40B4-BE49-F238E27FC236}">
                <a16:creationId xmlns:a16="http://schemas.microsoft.com/office/drawing/2014/main" id="{D1AAE847-093F-4D0C-8811-AFB8AC1201F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40442CA4-1309-4D2D-82F7-E11680B1F5AC}" type="slidenum">
              <a:rPr lang="en-US" altLang="en-US" sz="1600">
                <a:latin typeface="Times New Roman" panose="02020603050405020304" pitchFamily="18" charset="0"/>
              </a:rPr>
              <a:pPr eaLnBrk="1" hangingPunct="1">
                <a:spcBef>
                  <a:spcPct val="0"/>
                </a:spcBef>
                <a:buClrTx/>
                <a:buFontTx/>
                <a:buNone/>
              </a:pPr>
              <a:t>50</a:t>
            </a:fld>
            <a:endParaRPr lang="en-US" altLang="en-US" sz="1600">
              <a:latin typeface="Times New Roman" panose="02020603050405020304" pitchFamily="18" charset="0"/>
            </a:endParaRPr>
          </a:p>
        </p:txBody>
      </p:sp>
      <p:sp>
        <p:nvSpPr>
          <p:cNvPr id="108546" name="Rectangle 2">
            <a:extLst>
              <a:ext uri="{FF2B5EF4-FFF2-40B4-BE49-F238E27FC236}">
                <a16:creationId xmlns:a16="http://schemas.microsoft.com/office/drawing/2014/main" id="{DE4CC63D-F3C4-4F06-B586-B7BCA6EAD781}"/>
              </a:ext>
            </a:extLst>
          </p:cNvPr>
          <p:cNvSpPr>
            <a:spLocks noGrp="1" noChangeArrowheads="1"/>
          </p:cNvSpPr>
          <p:nvPr>
            <p:ph type="title"/>
          </p:nvPr>
        </p:nvSpPr>
        <p:spPr/>
        <p:txBody>
          <a:bodyPr/>
          <a:lstStyle/>
          <a:p>
            <a:pPr eaLnBrk="1" hangingPunct="1">
              <a:defRPr/>
            </a:pPr>
            <a:r>
              <a:rPr lang="en-US" altLang="en-US"/>
              <a:t>AAM Instruction</a:t>
            </a:r>
          </a:p>
        </p:txBody>
      </p:sp>
      <p:sp>
        <p:nvSpPr>
          <p:cNvPr id="75781" name="Rectangle 3">
            <a:extLst>
              <a:ext uri="{FF2B5EF4-FFF2-40B4-BE49-F238E27FC236}">
                <a16:creationId xmlns:a16="http://schemas.microsoft.com/office/drawing/2014/main" id="{0D3DE965-38BB-437E-BECB-7C396045212E}"/>
              </a:ext>
            </a:extLst>
          </p:cNvPr>
          <p:cNvSpPr>
            <a:spLocks noGrp="1" noChangeArrowheads="1"/>
          </p:cNvSpPr>
          <p:nvPr>
            <p:ph type="body" idx="1"/>
          </p:nvPr>
        </p:nvSpPr>
        <p:spPr>
          <a:xfrm>
            <a:off x="685800" y="1143000"/>
            <a:ext cx="7848600" cy="1981200"/>
          </a:xfrm>
        </p:spPr>
        <p:txBody>
          <a:bodyPr/>
          <a:lstStyle/>
          <a:p>
            <a:pPr eaLnBrk="1" hangingPunct="1"/>
            <a:r>
              <a:rPr lang="en-US" altLang="en-US"/>
              <a:t>The AAM (ASCII adjust after multiplication) instruction adjusts the binary result of a MUL instruction. The multiplication must have been performed on unpacked BCD numbers.</a:t>
            </a:r>
          </a:p>
        </p:txBody>
      </p:sp>
      <p:sp>
        <p:nvSpPr>
          <p:cNvPr id="75782" name="Text Box 4">
            <a:extLst>
              <a:ext uri="{FF2B5EF4-FFF2-40B4-BE49-F238E27FC236}">
                <a16:creationId xmlns:a16="http://schemas.microsoft.com/office/drawing/2014/main" id="{9A0BD1F9-4D70-4D98-B146-B3211718D9E1}"/>
              </a:ext>
            </a:extLst>
          </p:cNvPr>
          <p:cNvSpPr txBox="1">
            <a:spLocks noChangeArrowheads="1"/>
          </p:cNvSpPr>
          <p:nvPr/>
        </p:nvSpPr>
        <p:spPr bwMode="auto">
          <a:xfrm>
            <a:off x="1752600" y="3048000"/>
            <a:ext cx="5486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bl,05h	; first operand</a:t>
            </a:r>
          </a:p>
          <a:p>
            <a:pPr eaLnBrk="1" hangingPunct="1">
              <a:lnSpc>
                <a:spcPct val="50000"/>
              </a:lnSpc>
              <a:spcBef>
                <a:spcPct val="50000"/>
              </a:spcBef>
              <a:buClrTx/>
              <a:buFontTx/>
              <a:buNone/>
            </a:pPr>
            <a:r>
              <a:rPr lang="en-US" altLang="en-US" sz="1800" b="1">
                <a:latin typeface="Courier New" panose="02070309020205020404" pitchFamily="49" charset="0"/>
              </a:rPr>
              <a:t>mov al,06h	; second operand</a:t>
            </a:r>
          </a:p>
          <a:p>
            <a:pPr eaLnBrk="1" hangingPunct="1">
              <a:lnSpc>
                <a:spcPct val="50000"/>
              </a:lnSpc>
              <a:spcBef>
                <a:spcPct val="50000"/>
              </a:spcBef>
              <a:buClrTx/>
              <a:buFontTx/>
              <a:buNone/>
            </a:pPr>
            <a:r>
              <a:rPr lang="en-US" altLang="en-US" sz="1800" b="1">
                <a:latin typeface="Courier New" panose="02070309020205020404" pitchFamily="49" charset="0"/>
              </a:rPr>
              <a:t>mul bl 	; AX = 001Eh</a:t>
            </a:r>
          </a:p>
          <a:p>
            <a:pPr eaLnBrk="1" hangingPunct="1">
              <a:lnSpc>
                <a:spcPct val="50000"/>
              </a:lnSpc>
              <a:spcBef>
                <a:spcPct val="50000"/>
              </a:spcBef>
              <a:buClrTx/>
              <a:buFontTx/>
              <a:buNone/>
            </a:pPr>
            <a:r>
              <a:rPr lang="en-US" altLang="en-US" sz="1800" b="1">
                <a:latin typeface="Courier New" panose="02070309020205020404" pitchFamily="49" charset="0"/>
              </a:rPr>
              <a:t>aam		; AX = 0300h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725504F0-E3C1-4350-8309-B3589A0CE2D4}"/>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6803" name="Slide Number Placeholder 4">
            <a:extLst>
              <a:ext uri="{FF2B5EF4-FFF2-40B4-BE49-F238E27FC236}">
                <a16:creationId xmlns:a16="http://schemas.microsoft.com/office/drawing/2014/main" id="{4E43B2CF-27EF-466A-BF47-E135C9C4B84E}"/>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CD63205-2B16-49F3-B3F8-EFDF7CDCB887}" type="slidenum">
              <a:rPr lang="en-US" altLang="en-US" sz="1600">
                <a:latin typeface="Times New Roman" panose="02020603050405020304" pitchFamily="18" charset="0"/>
              </a:rPr>
              <a:pPr eaLnBrk="1" hangingPunct="1">
                <a:spcBef>
                  <a:spcPct val="0"/>
                </a:spcBef>
                <a:buClrTx/>
                <a:buFontTx/>
                <a:buNone/>
              </a:pPr>
              <a:t>51</a:t>
            </a:fld>
            <a:endParaRPr lang="en-US" altLang="en-US" sz="1600">
              <a:latin typeface="Times New Roman" panose="02020603050405020304" pitchFamily="18" charset="0"/>
            </a:endParaRPr>
          </a:p>
        </p:txBody>
      </p:sp>
      <p:sp>
        <p:nvSpPr>
          <p:cNvPr id="109570" name="Rectangle 2">
            <a:extLst>
              <a:ext uri="{FF2B5EF4-FFF2-40B4-BE49-F238E27FC236}">
                <a16:creationId xmlns:a16="http://schemas.microsoft.com/office/drawing/2014/main" id="{FE2A1ECC-E19D-494E-848B-59C454A55FA7}"/>
              </a:ext>
            </a:extLst>
          </p:cNvPr>
          <p:cNvSpPr>
            <a:spLocks noGrp="1" noChangeArrowheads="1"/>
          </p:cNvSpPr>
          <p:nvPr>
            <p:ph type="title"/>
          </p:nvPr>
        </p:nvSpPr>
        <p:spPr/>
        <p:txBody>
          <a:bodyPr/>
          <a:lstStyle/>
          <a:p>
            <a:pPr eaLnBrk="1" hangingPunct="1">
              <a:defRPr/>
            </a:pPr>
            <a:r>
              <a:rPr lang="en-US" altLang="en-US"/>
              <a:t>AAD Instruction</a:t>
            </a:r>
          </a:p>
        </p:txBody>
      </p:sp>
      <p:sp>
        <p:nvSpPr>
          <p:cNvPr id="76805" name="Rectangle 3">
            <a:extLst>
              <a:ext uri="{FF2B5EF4-FFF2-40B4-BE49-F238E27FC236}">
                <a16:creationId xmlns:a16="http://schemas.microsoft.com/office/drawing/2014/main" id="{11F432EC-0505-4B8F-97D6-292A717A0F77}"/>
              </a:ext>
            </a:extLst>
          </p:cNvPr>
          <p:cNvSpPr>
            <a:spLocks noGrp="1" noChangeArrowheads="1"/>
          </p:cNvSpPr>
          <p:nvPr>
            <p:ph type="body" idx="1"/>
          </p:nvPr>
        </p:nvSpPr>
        <p:spPr>
          <a:xfrm>
            <a:off x="685800" y="1143000"/>
            <a:ext cx="7696200" cy="1371600"/>
          </a:xfrm>
        </p:spPr>
        <p:txBody>
          <a:bodyPr/>
          <a:lstStyle/>
          <a:p>
            <a:pPr eaLnBrk="1" hangingPunct="1"/>
            <a:r>
              <a:rPr lang="en-US" altLang="en-US"/>
              <a:t>The AAD (ASCII adjust before division) instruction adjusts the unpacked BCD dividend in AX before a division operation</a:t>
            </a:r>
          </a:p>
        </p:txBody>
      </p:sp>
      <p:sp>
        <p:nvSpPr>
          <p:cNvPr id="76806" name="Text Box 4">
            <a:extLst>
              <a:ext uri="{FF2B5EF4-FFF2-40B4-BE49-F238E27FC236}">
                <a16:creationId xmlns:a16="http://schemas.microsoft.com/office/drawing/2014/main" id="{EB27BA68-4AE3-4C6D-B915-D73C22E19DF5}"/>
              </a:ext>
            </a:extLst>
          </p:cNvPr>
          <p:cNvSpPr txBox="1">
            <a:spLocks noChangeArrowheads="1"/>
          </p:cNvSpPr>
          <p:nvPr/>
        </p:nvSpPr>
        <p:spPr bwMode="auto">
          <a:xfrm>
            <a:off x="1524000" y="2590800"/>
            <a:ext cx="6248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60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60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36560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36560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60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quotient  BYTE ?</a:t>
            </a:r>
          </a:p>
          <a:p>
            <a:pPr eaLnBrk="1" hangingPunct="1">
              <a:lnSpc>
                <a:spcPct val="50000"/>
              </a:lnSpc>
              <a:spcBef>
                <a:spcPct val="50000"/>
              </a:spcBef>
              <a:buClrTx/>
              <a:buFontTx/>
              <a:buNone/>
            </a:pPr>
            <a:r>
              <a:rPr lang="en-US" altLang="en-US" sz="1800" b="1">
                <a:latin typeface="Courier New" panose="02070309020205020404" pitchFamily="49" charset="0"/>
              </a:rPr>
              <a:t>remainder BYTE ?</a:t>
            </a:r>
          </a:p>
          <a:p>
            <a:pPr eaLnBrk="1" hangingPunct="1">
              <a:lnSpc>
                <a:spcPct val="50000"/>
              </a:lnSpc>
              <a:spcBef>
                <a:spcPct val="50000"/>
              </a:spcBef>
              <a:buClrTx/>
              <a:buFontTx/>
              <a:buNone/>
            </a:pPr>
            <a:r>
              <a:rPr lang="en-US" altLang="en-US" sz="1800" b="1">
                <a:latin typeface="Courier New" panose="02070309020205020404" pitchFamily="49" charset="0"/>
              </a:rPr>
              <a:t>.code</a:t>
            </a:r>
          </a:p>
          <a:p>
            <a:pPr eaLnBrk="1" hangingPunct="1">
              <a:lnSpc>
                <a:spcPct val="50000"/>
              </a:lnSpc>
              <a:spcBef>
                <a:spcPct val="50000"/>
              </a:spcBef>
              <a:buClrTx/>
              <a:buFontTx/>
              <a:buNone/>
            </a:pPr>
            <a:r>
              <a:rPr lang="en-US" altLang="en-US" sz="1800" b="1">
                <a:latin typeface="Courier New" panose="02070309020205020404" pitchFamily="49" charset="0"/>
              </a:rPr>
              <a:t>mov ax,0307h 	; dividend</a:t>
            </a:r>
          </a:p>
          <a:p>
            <a:pPr eaLnBrk="1" hangingPunct="1">
              <a:lnSpc>
                <a:spcPct val="50000"/>
              </a:lnSpc>
              <a:spcBef>
                <a:spcPct val="50000"/>
              </a:spcBef>
              <a:buClrTx/>
              <a:buFontTx/>
              <a:buNone/>
            </a:pPr>
            <a:r>
              <a:rPr lang="en-US" altLang="en-US" sz="1800" b="1">
                <a:latin typeface="Courier New" panose="02070309020205020404" pitchFamily="49" charset="0"/>
              </a:rPr>
              <a:t>aad 	; AX = 0025h</a:t>
            </a:r>
          </a:p>
          <a:p>
            <a:pPr eaLnBrk="1" hangingPunct="1">
              <a:lnSpc>
                <a:spcPct val="50000"/>
              </a:lnSpc>
              <a:spcBef>
                <a:spcPct val="50000"/>
              </a:spcBef>
              <a:buClrTx/>
              <a:buFontTx/>
              <a:buNone/>
            </a:pPr>
            <a:r>
              <a:rPr lang="en-US" altLang="en-US" sz="1800" b="1">
                <a:latin typeface="Courier New" panose="02070309020205020404" pitchFamily="49" charset="0"/>
              </a:rPr>
              <a:t>mov bl,5 	; divisor</a:t>
            </a:r>
          </a:p>
          <a:p>
            <a:pPr eaLnBrk="1" hangingPunct="1">
              <a:lnSpc>
                <a:spcPct val="50000"/>
              </a:lnSpc>
              <a:spcBef>
                <a:spcPct val="50000"/>
              </a:spcBef>
              <a:buClrTx/>
              <a:buFontTx/>
              <a:buNone/>
            </a:pPr>
            <a:r>
              <a:rPr lang="en-US" altLang="en-US" sz="1800" b="1">
                <a:latin typeface="Courier New" panose="02070309020205020404" pitchFamily="49" charset="0"/>
              </a:rPr>
              <a:t>div bl 	; AX = 0207h</a:t>
            </a:r>
          </a:p>
          <a:p>
            <a:pPr eaLnBrk="1" hangingPunct="1">
              <a:lnSpc>
                <a:spcPct val="50000"/>
              </a:lnSpc>
              <a:spcBef>
                <a:spcPct val="50000"/>
              </a:spcBef>
              <a:buClrTx/>
              <a:buFontTx/>
              <a:buNone/>
            </a:pPr>
            <a:r>
              <a:rPr lang="en-US" altLang="en-US" sz="1800" b="1">
                <a:latin typeface="Courier New" panose="02070309020205020404" pitchFamily="49" charset="0"/>
              </a:rPr>
              <a:t>mov quotient,al</a:t>
            </a:r>
          </a:p>
          <a:p>
            <a:pPr eaLnBrk="1" hangingPunct="1">
              <a:lnSpc>
                <a:spcPct val="50000"/>
              </a:lnSpc>
              <a:spcBef>
                <a:spcPct val="50000"/>
              </a:spcBef>
              <a:buClrTx/>
              <a:buFontTx/>
              <a:buNone/>
            </a:pPr>
            <a:r>
              <a:rPr lang="en-US" altLang="en-US" sz="1800" b="1">
                <a:latin typeface="Courier New" panose="02070309020205020404" pitchFamily="49" charset="0"/>
              </a:rPr>
              <a:t>mov remainder,ah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a:extLst>
              <a:ext uri="{FF2B5EF4-FFF2-40B4-BE49-F238E27FC236}">
                <a16:creationId xmlns:a16="http://schemas.microsoft.com/office/drawing/2014/main" id="{948E7021-05EF-40F1-9EBF-02449A55BA7B}"/>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7827" name="Slide Number Placeholder 4">
            <a:extLst>
              <a:ext uri="{FF2B5EF4-FFF2-40B4-BE49-F238E27FC236}">
                <a16:creationId xmlns:a16="http://schemas.microsoft.com/office/drawing/2014/main" id="{2E49458E-15EA-4BAF-8018-D4DA2B144F2B}"/>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BC22348B-F003-4899-B643-E9C137975186}" type="slidenum">
              <a:rPr lang="en-US" altLang="en-US" sz="1600">
                <a:latin typeface="Times New Roman" panose="02020603050405020304" pitchFamily="18" charset="0"/>
              </a:rPr>
              <a:pPr eaLnBrk="1" hangingPunct="1">
                <a:spcBef>
                  <a:spcPct val="0"/>
                </a:spcBef>
                <a:buClrTx/>
                <a:buFontTx/>
                <a:buNone/>
              </a:pPr>
              <a:t>52</a:t>
            </a:fld>
            <a:endParaRPr lang="en-US" altLang="en-US" sz="1600">
              <a:latin typeface="Times New Roman" panose="02020603050405020304" pitchFamily="18" charset="0"/>
            </a:endParaRPr>
          </a:p>
        </p:txBody>
      </p:sp>
      <p:sp>
        <p:nvSpPr>
          <p:cNvPr id="166914" name="Rectangle 2">
            <a:extLst>
              <a:ext uri="{FF2B5EF4-FFF2-40B4-BE49-F238E27FC236}">
                <a16:creationId xmlns:a16="http://schemas.microsoft.com/office/drawing/2014/main" id="{763BB01C-E75A-4113-8AB4-C262618D3000}"/>
              </a:ext>
            </a:extLst>
          </p:cNvPr>
          <p:cNvSpPr>
            <a:spLocks noGrp="1" noChangeArrowheads="1"/>
          </p:cNvSpPr>
          <p:nvPr>
            <p:ph type="title"/>
          </p:nvPr>
        </p:nvSpPr>
        <p:spPr/>
        <p:txBody>
          <a:bodyPr/>
          <a:lstStyle/>
          <a:p>
            <a:pPr eaLnBrk="1" hangingPunct="1">
              <a:defRPr/>
            </a:pPr>
            <a:r>
              <a:rPr lang="en-US" altLang="en-US"/>
              <a:t>What's Next</a:t>
            </a:r>
          </a:p>
        </p:txBody>
      </p:sp>
      <p:sp>
        <p:nvSpPr>
          <p:cNvPr id="77829" name="Rectangle 3">
            <a:extLst>
              <a:ext uri="{FF2B5EF4-FFF2-40B4-BE49-F238E27FC236}">
                <a16:creationId xmlns:a16="http://schemas.microsoft.com/office/drawing/2014/main" id="{EF1AC1AD-18F9-4FE9-AA1B-F9EC2AB7E7AC}"/>
              </a:ext>
            </a:extLst>
          </p:cNvPr>
          <p:cNvSpPr>
            <a:spLocks noGrp="1" noChangeArrowheads="1"/>
          </p:cNvSpPr>
          <p:nvPr>
            <p:ph type="body" idx="1"/>
          </p:nvPr>
        </p:nvSpPr>
        <p:spPr>
          <a:xfrm>
            <a:off x="1295400" y="1600200"/>
            <a:ext cx="6934200" cy="2819400"/>
          </a:xfrm>
        </p:spPr>
        <p:txBody>
          <a:bodyPr/>
          <a:lstStyle/>
          <a:p>
            <a:pPr eaLnBrk="1" hangingPunct="1"/>
            <a:r>
              <a:rPr lang="en-US" altLang="en-US"/>
              <a:t>Shift and Rotate Instructions</a:t>
            </a:r>
          </a:p>
          <a:p>
            <a:pPr eaLnBrk="1" hangingPunct="1"/>
            <a:r>
              <a:rPr lang="en-US" altLang="en-US"/>
              <a:t>Shift and Rotate Applications</a:t>
            </a:r>
          </a:p>
          <a:p>
            <a:pPr eaLnBrk="1" hangingPunct="1"/>
            <a:r>
              <a:rPr lang="en-US" altLang="en-US"/>
              <a:t>Multiplication and Division Instructions</a:t>
            </a:r>
          </a:p>
          <a:p>
            <a:pPr eaLnBrk="1" hangingPunct="1"/>
            <a:r>
              <a:rPr lang="en-US" altLang="en-US"/>
              <a:t>Extended Addition and Subtraction</a:t>
            </a:r>
          </a:p>
          <a:p>
            <a:pPr eaLnBrk="1" hangingPunct="1"/>
            <a:r>
              <a:rPr lang="en-US" altLang="en-US"/>
              <a:t>ASCII and UnPacked Decimal Arithmetic</a:t>
            </a:r>
          </a:p>
          <a:p>
            <a:pPr eaLnBrk="1" hangingPunct="1"/>
            <a:r>
              <a:rPr lang="en-US" altLang="en-US" b="1">
                <a:solidFill>
                  <a:schemeClr val="tx2"/>
                </a:solidFill>
              </a:rPr>
              <a:t>Packed Decimal Arithmetic</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FC2AFFAA-870D-41B1-8753-2F138CE1CFB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8851" name="Slide Number Placeholder 4">
            <a:extLst>
              <a:ext uri="{FF2B5EF4-FFF2-40B4-BE49-F238E27FC236}">
                <a16:creationId xmlns:a16="http://schemas.microsoft.com/office/drawing/2014/main" id="{6FDFC517-96FA-4692-8795-0DEFC29F44FD}"/>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7F7D2DD5-8E29-4B80-A5FB-FBA48481305E}" type="slidenum">
              <a:rPr lang="en-US" altLang="en-US" sz="1600">
                <a:latin typeface="Times New Roman" panose="02020603050405020304" pitchFamily="18" charset="0"/>
              </a:rPr>
              <a:pPr eaLnBrk="1" hangingPunct="1">
                <a:spcBef>
                  <a:spcPct val="0"/>
                </a:spcBef>
                <a:buClrTx/>
                <a:buFontTx/>
                <a:buNone/>
              </a:pPr>
              <a:t>53</a:t>
            </a:fld>
            <a:endParaRPr lang="en-US" altLang="en-US" sz="1600">
              <a:latin typeface="Times New Roman" panose="02020603050405020304" pitchFamily="18" charset="0"/>
            </a:endParaRPr>
          </a:p>
        </p:txBody>
      </p:sp>
      <p:sp>
        <p:nvSpPr>
          <p:cNvPr id="128002" name="Rectangle 2">
            <a:extLst>
              <a:ext uri="{FF2B5EF4-FFF2-40B4-BE49-F238E27FC236}">
                <a16:creationId xmlns:a16="http://schemas.microsoft.com/office/drawing/2014/main" id="{79E37289-1A8E-4CB7-95C2-B2F449E74251}"/>
              </a:ext>
            </a:extLst>
          </p:cNvPr>
          <p:cNvSpPr>
            <a:spLocks noGrp="1" noChangeArrowheads="1"/>
          </p:cNvSpPr>
          <p:nvPr>
            <p:ph type="title"/>
          </p:nvPr>
        </p:nvSpPr>
        <p:spPr/>
        <p:txBody>
          <a:bodyPr/>
          <a:lstStyle/>
          <a:p>
            <a:pPr eaLnBrk="1" hangingPunct="1">
              <a:defRPr/>
            </a:pPr>
            <a:r>
              <a:rPr lang="en-US" altLang="en-US"/>
              <a:t>Packed Decimal Arithmetic</a:t>
            </a:r>
          </a:p>
        </p:txBody>
      </p:sp>
      <p:sp>
        <p:nvSpPr>
          <p:cNvPr id="78853" name="Rectangle 3">
            <a:extLst>
              <a:ext uri="{FF2B5EF4-FFF2-40B4-BE49-F238E27FC236}">
                <a16:creationId xmlns:a16="http://schemas.microsoft.com/office/drawing/2014/main" id="{D45E0BCA-FFDC-49C2-A6C9-2FBE2B90628E}"/>
              </a:ext>
            </a:extLst>
          </p:cNvPr>
          <p:cNvSpPr>
            <a:spLocks noGrp="1" noChangeArrowheads="1"/>
          </p:cNvSpPr>
          <p:nvPr>
            <p:ph type="body" idx="1"/>
          </p:nvPr>
        </p:nvSpPr>
        <p:spPr>
          <a:xfrm>
            <a:off x="609600" y="1219200"/>
            <a:ext cx="7772400" cy="3200400"/>
          </a:xfrm>
        </p:spPr>
        <p:txBody>
          <a:bodyPr/>
          <a:lstStyle/>
          <a:p>
            <a:pPr eaLnBrk="1" hangingPunct="1"/>
            <a:r>
              <a:rPr lang="en-US" altLang="en-US">
                <a:solidFill>
                  <a:schemeClr val="tx2"/>
                </a:solidFill>
              </a:rPr>
              <a:t>Packed decimal</a:t>
            </a:r>
            <a:r>
              <a:rPr lang="en-US" altLang="en-US"/>
              <a:t> integers store two decimal digits per byte </a:t>
            </a:r>
          </a:p>
          <a:p>
            <a:pPr lvl="1" eaLnBrk="1" hangingPunct="1"/>
            <a:r>
              <a:rPr lang="en-US" altLang="en-US"/>
              <a:t>For example, 12,345,678 can be stored as the following sequence of hexadecimal bytes:</a:t>
            </a:r>
          </a:p>
        </p:txBody>
      </p:sp>
      <p:sp>
        <p:nvSpPr>
          <p:cNvPr id="78854" name="Text Box 4">
            <a:extLst>
              <a:ext uri="{FF2B5EF4-FFF2-40B4-BE49-F238E27FC236}">
                <a16:creationId xmlns:a16="http://schemas.microsoft.com/office/drawing/2014/main" id="{8B2BB87D-EC84-4DBA-8E4D-D870831A1FDC}"/>
              </a:ext>
            </a:extLst>
          </p:cNvPr>
          <p:cNvSpPr txBox="1">
            <a:spLocks noChangeArrowheads="1"/>
          </p:cNvSpPr>
          <p:nvPr/>
        </p:nvSpPr>
        <p:spPr bwMode="auto">
          <a:xfrm>
            <a:off x="3429000" y="2971800"/>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12</a:t>
            </a:r>
          </a:p>
        </p:txBody>
      </p:sp>
      <p:sp>
        <p:nvSpPr>
          <p:cNvPr id="78855" name="Text Box 5">
            <a:extLst>
              <a:ext uri="{FF2B5EF4-FFF2-40B4-BE49-F238E27FC236}">
                <a16:creationId xmlns:a16="http://schemas.microsoft.com/office/drawing/2014/main" id="{880B44DD-EF45-4FAD-8824-3B18A5F0A290}"/>
              </a:ext>
            </a:extLst>
          </p:cNvPr>
          <p:cNvSpPr txBox="1">
            <a:spLocks noChangeArrowheads="1"/>
          </p:cNvSpPr>
          <p:nvPr/>
        </p:nvSpPr>
        <p:spPr bwMode="auto">
          <a:xfrm>
            <a:off x="3886200" y="2971800"/>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34</a:t>
            </a:r>
          </a:p>
        </p:txBody>
      </p:sp>
      <p:sp>
        <p:nvSpPr>
          <p:cNvPr id="78856" name="Text Box 6">
            <a:extLst>
              <a:ext uri="{FF2B5EF4-FFF2-40B4-BE49-F238E27FC236}">
                <a16:creationId xmlns:a16="http://schemas.microsoft.com/office/drawing/2014/main" id="{17204A1B-4BD7-4A4D-B2C7-05BED762F380}"/>
              </a:ext>
            </a:extLst>
          </p:cNvPr>
          <p:cNvSpPr txBox="1">
            <a:spLocks noChangeArrowheads="1"/>
          </p:cNvSpPr>
          <p:nvPr/>
        </p:nvSpPr>
        <p:spPr bwMode="auto">
          <a:xfrm>
            <a:off x="4343400" y="2971800"/>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56</a:t>
            </a:r>
          </a:p>
        </p:txBody>
      </p:sp>
      <p:sp>
        <p:nvSpPr>
          <p:cNvPr id="78857" name="Text Box 7">
            <a:extLst>
              <a:ext uri="{FF2B5EF4-FFF2-40B4-BE49-F238E27FC236}">
                <a16:creationId xmlns:a16="http://schemas.microsoft.com/office/drawing/2014/main" id="{D0BDB56A-C903-406A-801D-AAD35809AAD7}"/>
              </a:ext>
            </a:extLst>
          </p:cNvPr>
          <p:cNvSpPr txBox="1">
            <a:spLocks noChangeArrowheads="1"/>
          </p:cNvSpPr>
          <p:nvPr/>
        </p:nvSpPr>
        <p:spPr bwMode="auto">
          <a:xfrm>
            <a:off x="4800600" y="2971800"/>
            <a:ext cx="457200" cy="422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78</a:t>
            </a:r>
          </a:p>
        </p:txBody>
      </p:sp>
      <p:sp>
        <p:nvSpPr>
          <p:cNvPr id="128009" name="Text Box 9">
            <a:extLst>
              <a:ext uri="{FF2B5EF4-FFF2-40B4-BE49-F238E27FC236}">
                <a16:creationId xmlns:a16="http://schemas.microsoft.com/office/drawing/2014/main" id="{65696E07-4F64-46B6-A7CC-F7A202D8EC02}"/>
              </a:ext>
            </a:extLst>
          </p:cNvPr>
          <p:cNvSpPr txBox="1">
            <a:spLocks noChangeArrowheads="1"/>
          </p:cNvSpPr>
          <p:nvPr/>
        </p:nvSpPr>
        <p:spPr bwMode="auto">
          <a:xfrm>
            <a:off x="762000" y="4114800"/>
            <a:ext cx="7620000" cy="139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Packed decimal is also known as </a:t>
            </a:r>
            <a:r>
              <a:rPr lang="en-US" altLang="en-US" sz="2100">
                <a:solidFill>
                  <a:schemeClr val="tx2"/>
                </a:solidFill>
              </a:rPr>
              <a:t>packed BCD</a:t>
            </a:r>
            <a:r>
              <a:rPr lang="en-US" altLang="en-US" sz="2100"/>
              <a:t>.</a:t>
            </a:r>
          </a:p>
          <a:p>
            <a:pPr eaLnBrk="1" hangingPunct="1">
              <a:spcBef>
                <a:spcPct val="50000"/>
              </a:spcBef>
              <a:buClrTx/>
              <a:buFontTx/>
              <a:buNone/>
            </a:pPr>
            <a:r>
              <a:rPr lang="en-US" altLang="en-US" sz="2100"/>
              <a:t>Good for financial values – extended precision possible, without rounding errors.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8009"/>
                                        </p:tgtEl>
                                        <p:attrNameLst>
                                          <p:attrName>style.visibility</p:attrName>
                                        </p:attrNameLst>
                                      </p:cBhvr>
                                      <p:to>
                                        <p:strVal val="visible"/>
                                      </p:to>
                                    </p:set>
                                    <p:animEffect transition="in" filter="box(in)">
                                      <p:cBhvr>
                                        <p:cTn id="7" dur="500"/>
                                        <p:tgtEl>
                                          <p:spTgt spid="128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9"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a:extLst>
              <a:ext uri="{FF2B5EF4-FFF2-40B4-BE49-F238E27FC236}">
                <a16:creationId xmlns:a16="http://schemas.microsoft.com/office/drawing/2014/main" id="{1D5F4C48-4CD2-433D-8962-2AC0F7953EB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79875" name="Slide Number Placeholder 4">
            <a:extLst>
              <a:ext uri="{FF2B5EF4-FFF2-40B4-BE49-F238E27FC236}">
                <a16:creationId xmlns:a16="http://schemas.microsoft.com/office/drawing/2014/main" id="{4E54BD37-8990-4EC0-9A8D-65C53E9030D9}"/>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951FFCDF-35FC-46C2-A663-77F6F2082CD7}" type="slidenum">
              <a:rPr lang="en-US" altLang="en-US" sz="1600">
                <a:latin typeface="Times New Roman" panose="02020603050405020304" pitchFamily="18" charset="0"/>
              </a:rPr>
              <a:pPr eaLnBrk="1" hangingPunct="1">
                <a:spcBef>
                  <a:spcPct val="0"/>
                </a:spcBef>
                <a:buClrTx/>
                <a:buFontTx/>
                <a:buNone/>
              </a:pPr>
              <a:t>54</a:t>
            </a:fld>
            <a:endParaRPr lang="en-US" altLang="en-US" sz="1600">
              <a:latin typeface="Times New Roman" panose="02020603050405020304" pitchFamily="18" charset="0"/>
            </a:endParaRPr>
          </a:p>
        </p:txBody>
      </p:sp>
      <p:sp>
        <p:nvSpPr>
          <p:cNvPr id="133122" name="Rectangle 2">
            <a:extLst>
              <a:ext uri="{FF2B5EF4-FFF2-40B4-BE49-F238E27FC236}">
                <a16:creationId xmlns:a16="http://schemas.microsoft.com/office/drawing/2014/main" id="{2313972E-4553-483D-B63A-ACA737F82435}"/>
              </a:ext>
            </a:extLst>
          </p:cNvPr>
          <p:cNvSpPr>
            <a:spLocks noGrp="1" noChangeArrowheads="1"/>
          </p:cNvSpPr>
          <p:nvPr>
            <p:ph type="title"/>
          </p:nvPr>
        </p:nvSpPr>
        <p:spPr/>
        <p:txBody>
          <a:bodyPr/>
          <a:lstStyle/>
          <a:p>
            <a:pPr eaLnBrk="1" hangingPunct="1">
              <a:defRPr/>
            </a:pPr>
            <a:r>
              <a:rPr lang="en-US" altLang="en-US"/>
              <a:t>DAA Instruction</a:t>
            </a:r>
          </a:p>
        </p:txBody>
      </p:sp>
      <p:sp>
        <p:nvSpPr>
          <p:cNvPr id="79877" name="Rectangle 3">
            <a:extLst>
              <a:ext uri="{FF2B5EF4-FFF2-40B4-BE49-F238E27FC236}">
                <a16:creationId xmlns:a16="http://schemas.microsoft.com/office/drawing/2014/main" id="{9619E79E-9E88-4766-BC92-2CEF36FAD8B1}"/>
              </a:ext>
            </a:extLst>
          </p:cNvPr>
          <p:cNvSpPr>
            <a:spLocks noGrp="1" noChangeArrowheads="1"/>
          </p:cNvSpPr>
          <p:nvPr>
            <p:ph type="body" idx="1"/>
          </p:nvPr>
        </p:nvSpPr>
        <p:spPr>
          <a:xfrm>
            <a:off x="685800" y="1143000"/>
            <a:ext cx="7772400" cy="3733800"/>
          </a:xfrm>
        </p:spPr>
        <p:txBody>
          <a:bodyPr/>
          <a:lstStyle/>
          <a:p>
            <a:pPr eaLnBrk="1" hangingPunct="1"/>
            <a:r>
              <a:rPr lang="en-US" altLang="en-US"/>
              <a:t>The DAA (decimal adjust after addition) instruction converts the binary result of an ADD or ADC operation to packed decimal format.</a:t>
            </a:r>
          </a:p>
          <a:p>
            <a:pPr lvl="1" eaLnBrk="1" hangingPunct="1"/>
            <a:r>
              <a:rPr lang="en-US" altLang="en-US"/>
              <a:t>The value to be adjusted must be in AL</a:t>
            </a:r>
          </a:p>
          <a:p>
            <a:pPr lvl="1" eaLnBrk="1" hangingPunct="1"/>
            <a:r>
              <a:rPr lang="en-US" altLang="en-US"/>
              <a:t>If the lower digit is adjusted, the Auxiliary Carry flag is set.</a:t>
            </a:r>
          </a:p>
          <a:p>
            <a:pPr lvl="1" eaLnBrk="1" hangingPunct="1"/>
            <a:r>
              <a:rPr lang="en-US" altLang="en-US"/>
              <a:t>If the upper digit is adjusted, the Carry flag is set.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4AC16648-50B3-402D-9781-B9EB46561EC8}"/>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0899" name="Slide Number Placeholder 4">
            <a:extLst>
              <a:ext uri="{FF2B5EF4-FFF2-40B4-BE49-F238E27FC236}">
                <a16:creationId xmlns:a16="http://schemas.microsoft.com/office/drawing/2014/main" id="{8E15A8CD-1313-4CDC-AAC4-6B0022EA56A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7825B5D1-4C88-406C-8FA5-8A6F9731604A}" type="slidenum">
              <a:rPr lang="en-US" altLang="en-US" sz="1600">
                <a:latin typeface="Times New Roman" panose="02020603050405020304" pitchFamily="18" charset="0"/>
              </a:rPr>
              <a:pPr eaLnBrk="1" hangingPunct="1">
                <a:spcBef>
                  <a:spcPct val="0"/>
                </a:spcBef>
                <a:buClrTx/>
                <a:buFontTx/>
                <a:buNone/>
              </a:pPr>
              <a:t>55</a:t>
            </a:fld>
            <a:endParaRPr lang="en-US" altLang="en-US" sz="1600">
              <a:latin typeface="Times New Roman" panose="02020603050405020304" pitchFamily="18" charset="0"/>
            </a:endParaRPr>
          </a:p>
        </p:txBody>
      </p:sp>
      <p:sp>
        <p:nvSpPr>
          <p:cNvPr id="154626" name="Rectangle 2">
            <a:extLst>
              <a:ext uri="{FF2B5EF4-FFF2-40B4-BE49-F238E27FC236}">
                <a16:creationId xmlns:a16="http://schemas.microsoft.com/office/drawing/2014/main" id="{76A5F86D-6695-48F3-8120-7B92BFA92B58}"/>
              </a:ext>
            </a:extLst>
          </p:cNvPr>
          <p:cNvSpPr>
            <a:spLocks noGrp="1" noChangeArrowheads="1"/>
          </p:cNvSpPr>
          <p:nvPr>
            <p:ph type="title"/>
          </p:nvPr>
        </p:nvSpPr>
        <p:spPr/>
        <p:txBody>
          <a:bodyPr/>
          <a:lstStyle/>
          <a:p>
            <a:pPr eaLnBrk="1" hangingPunct="1">
              <a:defRPr/>
            </a:pPr>
            <a:r>
              <a:rPr lang="en-US" altLang="en-US"/>
              <a:t>DAA Logic</a:t>
            </a:r>
          </a:p>
        </p:txBody>
      </p:sp>
      <p:sp>
        <p:nvSpPr>
          <p:cNvPr id="80901" name="Rectangle 3">
            <a:extLst>
              <a:ext uri="{FF2B5EF4-FFF2-40B4-BE49-F238E27FC236}">
                <a16:creationId xmlns:a16="http://schemas.microsoft.com/office/drawing/2014/main" id="{25F08661-4ED6-40BC-B3E9-1F46EA7F1E74}"/>
              </a:ext>
            </a:extLst>
          </p:cNvPr>
          <p:cNvSpPr>
            <a:spLocks noGrp="1" noChangeArrowheads="1"/>
          </p:cNvSpPr>
          <p:nvPr>
            <p:ph type="body" idx="1"/>
          </p:nvPr>
        </p:nvSpPr>
        <p:spPr>
          <a:xfrm>
            <a:off x="1066800" y="1143000"/>
            <a:ext cx="6248400" cy="4648200"/>
          </a:xfrm>
        </p:spPr>
        <p:txBody>
          <a:bodyPr/>
          <a:lstStyle/>
          <a:p>
            <a:pPr eaLnBrk="1" hangingPunct="1">
              <a:buFontTx/>
              <a:buNone/>
            </a:pPr>
            <a:r>
              <a:rPr lang="en-US" altLang="en-US" sz="1800" b="1">
                <a:latin typeface="Courier New" panose="02070309020205020404" pitchFamily="49" charset="0"/>
              </a:rPr>
              <a:t>If (AL(lo) &gt; 9) or (AuxCarry = 1)</a:t>
            </a:r>
          </a:p>
          <a:p>
            <a:pPr eaLnBrk="1" hangingPunct="1">
              <a:buFontTx/>
              <a:buNone/>
            </a:pPr>
            <a:r>
              <a:rPr lang="en-US" altLang="en-US" sz="1800" b="1">
                <a:latin typeface="Courier New" panose="02070309020205020404" pitchFamily="49" charset="0"/>
              </a:rPr>
              <a:t>  AL = AL + 6</a:t>
            </a:r>
          </a:p>
          <a:p>
            <a:pPr eaLnBrk="1" hangingPunct="1">
              <a:buFontTx/>
              <a:buNone/>
            </a:pPr>
            <a:r>
              <a:rPr lang="en-US" altLang="en-US" sz="1800" b="1">
                <a:latin typeface="Courier New" panose="02070309020205020404" pitchFamily="49" charset="0"/>
              </a:rPr>
              <a:t>  AuxCarry = 1</a:t>
            </a:r>
          </a:p>
          <a:p>
            <a:pPr eaLnBrk="1" hangingPunct="1">
              <a:buFontTx/>
              <a:buNone/>
            </a:pPr>
            <a:r>
              <a:rPr lang="en-US" altLang="en-US" sz="1800" b="1">
                <a:latin typeface="Courier New" panose="02070309020205020404" pitchFamily="49" charset="0"/>
              </a:rPr>
              <a:t>Else</a:t>
            </a:r>
          </a:p>
          <a:p>
            <a:pPr eaLnBrk="1" hangingPunct="1">
              <a:buFontTx/>
              <a:buNone/>
            </a:pPr>
            <a:r>
              <a:rPr lang="en-US" altLang="en-US" sz="1800" b="1">
                <a:latin typeface="Courier New" panose="02070309020205020404" pitchFamily="49" charset="0"/>
              </a:rPr>
              <a:t>  AuxCarry = 0</a:t>
            </a:r>
            <a:endParaRPr lang="en-US" altLang="en-US" sz="1800"/>
          </a:p>
          <a:p>
            <a:pPr eaLnBrk="1" hangingPunct="1">
              <a:buFontTx/>
              <a:buNone/>
            </a:pPr>
            <a:r>
              <a:rPr lang="en-US" altLang="en-US" sz="1800" b="1">
                <a:latin typeface="Courier New" panose="02070309020205020404" pitchFamily="49" charset="0"/>
              </a:rPr>
              <a:t>Endif</a:t>
            </a:r>
          </a:p>
          <a:p>
            <a:pPr eaLnBrk="1" hangingPunct="1">
              <a:buFontTx/>
              <a:buNone/>
            </a:pPr>
            <a:endParaRPr lang="en-US" altLang="en-US" sz="1800" b="1">
              <a:latin typeface="Courier New" panose="02070309020205020404" pitchFamily="49" charset="0"/>
            </a:endParaRPr>
          </a:p>
          <a:p>
            <a:pPr eaLnBrk="1" hangingPunct="1">
              <a:buFontTx/>
              <a:buNone/>
            </a:pPr>
            <a:r>
              <a:rPr lang="en-US" altLang="en-US" sz="1800" b="1">
                <a:latin typeface="Courier New" panose="02070309020205020404" pitchFamily="49" charset="0"/>
              </a:rPr>
              <a:t>If (AL(hi) &gt; 9) or Carry = 1</a:t>
            </a:r>
          </a:p>
          <a:p>
            <a:pPr eaLnBrk="1" hangingPunct="1">
              <a:buFontTx/>
              <a:buNone/>
            </a:pPr>
            <a:r>
              <a:rPr lang="en-US" altLang="en-US" sz="1800" b="1">
                <a:latin typeface="Courier New" panose="02070309020205020404" pitchFamily="49" charset="0"/>
              </a:rPr>
              <a:t>  AL = AL + 60h</a:t>
            </a:r>
          </a:p>
          <a:p>
            <a:pPr eaLnBrk="1" hangingPunct="1">
              <a:buFontTx/>
              <a:buNone/>
            </a:pPr>
            <a:r>
              <a:rPr lang="en-US" altLang="en-US" sz="1800" b="1">
                <a:latin typeface="Courier New" panose="02070309020205020404" pitchFamily="49" charset="0"/>
              </a:rPr>
              <a:t>  Carry = 1</a:t>
            </a:r>
          </a:p>
          <a:p>
            <a:pPr eaLnBrk="1" hangingPunct="1">
              <a:buFontTx/>
              <a:buNone/>
            </a:pPr>
            <a:r>
              <a:rPr lang="en-US" altLang="en-US" sz="1800" b="1">
                <a:latin typeface="Courier New" panose="02070309020205020404" pitchFamily="49" charset="0"/>
              </a:rPr>
              <a:t>Else</a:t>
            </a:r>
          </a:p>
          <a:p>
            <a:pPr eaLnBrk="1" hangingPunct="1">
              <a:buFontTx/>
              <a:buNone/>
            </a:pPr>
            <a:r>
              <a:rPr lang="en-US" altLang="en-US" sz="1800" b="1">
                <a:latin typeface="Courier New" panose="02070309020205020404" pitchFamily="49" charset="0"/>
              </a:rPr>
              <a:t>  Carry = 0</a:t>
            </a:r>
          </a:p>
          <a:p>
            <a:pPr eaLnBrk="1" hangingPunct="1">
              <a:buFontTx/>
              <a:buNone/>
            </a:pPr>
            <a:r>
              <a:rPr lang="en-US" altLang="en-US" sz="1800" b="1">
                <a:latin typeface="Courier New" panose="02070309020205020404" pitchFamily="49" charset="0"/>
              </a:rPr>
              <a:t>Endif</a:t>
            </a:r>
          </a:p>
          <a:p>
            <a:pPr lvl="1" eaLnBrk="1" hangingPunct="1">
              <a:buFontTx/>
              <a:buNone/>
            </a:pPr>
            <a:endParaRPr lang="en-US" altLang="en-US" sz="1800"/>
          </a:p>
        </p:txBody>
      </p:sp>
      <p:sp>
        <p:nvSpPr>
          <p:cNvPr id="154629" name="Text Box 5">
            <a:extLst>
              <a:ext uri="{FF2B5EF4-FFF2-40B4-BE49-F238E27FC236}">
                <a16:creationId xmlns:a16="http://schemas.microsoft.com/office/drawing/2014/main" id="{AAD9489B-8A04-433B-8BC9-B9659395FA4C}"/>
              </a:ext>
            </a:extLst>
          </p:cNvPr>
          <p:cNvSpPr txBox="1">
            <a:spLocks noChangeArrowheads="1"/>
          </p:cNvSpPr>
          <p:nvPr/>
        </p:nvSpPr>
        <p:spPr bwMode="auto">
          <a:xfrm>
            <a:off x="5562600" y="2209800"/>
            <a:ext cx="2895600" cy="1438275"/>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If AL = AL + 6 sets the Carry flag, its value is used when evaluating AL(hi).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4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a:extLst>
              <a:ext uri="{FF2B5EF4-FFF2-40B4-BE49-F238E27FC236}">
                <a16:creationId xmlns:a16="http://schemas.microsoft.com/office/drawing/2014/main" id="{72AA4C1A-3FB8-42D8-B47E-4236F1A6D7F6}"/>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1923" name="Slide Number Placeholder 4">
            <a:extLst>
              <a:ext uri="{FF2B5EF4-FFF2-40B4-BE49-F238E27FC236}">
                <a16:creationId xmlns:a16="http://schemas.microsoft.com/office/drawing/2014/main" id="{FD07264F-D774-4C48-9092-1F1A48F49828}"/>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669FED45-9C13-4A8F-8268-07C019CACBFD}" type="slidenum">
              <a:rPr lang="en-US" altLang="en-US" sz="1600">
                <a:latin typeface="Times New Roman" panose="02020603050405020304" pitchFamily="18" charset="0"/>
              </a:rPr>
              <a:pPr eaLnBrk="1" hangingPunct="1">
                <a:spcBef>
                  <a:spcPct val="0"/>
                </a:spcBef>
                <a:buClrTx/>
                <a:buFontTx/>
                <a:buNone/>
              </a:pPr>
              <a:t>56</a:t>
            </a:fld>
            <a:endParaRPr lang="en-US" altLang="en-US" sz="1600">
              <a:latin typeface="Times New Roman" panose="02020603050405020304" pitchFamily="18" charset="0"/>
            </a:endParaRPr>
          </a:p>
        </p:txBody>
      </p:sp>
      <p:sp>
        <p:nvSpPr>
          <p:cNvPr id="153602" name="Rectangle 2">
            <a:extLst>
              <a:ext uri="{FF2B5EF4-FFF2-40B4-BE49-F238E27FC236}">
                <a16:creationId xmlns:a16="http://schemas.microsoft.com/office/drawing/2014/main" id="{4B732CDC-5192-456D-933B-1D5005EFC028}"/>
              </a:ext>
            </a:extLst>
          </p:cNvPr>
          <p:cNvSpPr>
            <a:spLocks noGrp="1" noChangeArrowheads="1"/>
          </p:cNvSpPr>
          <p:nvPr>
            <p:ph type="title"/>
          </p:nvPr>
        </p:nvSpPr>
        <p:spPr/>
        <p:txBody>
          <a:bodyPr/>
          <a:lstStyle/>
          <a:p>
            <a:pPr eaLnBrk="1" hangingPunct="1">
              <a:defRPr/>
            </a:pPr>
            <a:r>
              <a:rPr lang="en-US" altLang="en-US"/>
              <a:t>DAA Examples</a:t>
            </a:r>
          </a:p>
        </p:txBody>
      </p:sp>
      <p:sp>
        <p:nvSpPr>
          <p:cNvPr id="81925" name="Rectangle 3">
            <a:extLst>
              <a:ext uri="{FF2B5EF4-FFF2-40B4-BE49-F238E27FC236}">
                <a16:creationId xmlns:a16="http://schemas.microsoft.com/office/drawing/2014/main" id="{4FD70F0F-7819-4688-9263-90186D2A3A0B}"/>
              </a:ext>
            </a:extLst>
          </p:cNvPr>
          <p:cNvSpPr>
            <a:spLocks noGrp="1" noChangeArrowheads="1"/>
          </p:cNvSpPr>
          <p:nvPr>
            <p:ph type="body" idx="1"/>
          </p:nvPr>
        </p:nvSpPr>
        <p:spPr>
          <a:xfrm>
            <a:off x="609600" y="1143000"/>
            <a:ext cx="7772400" cy="1295400"/>
          </a:xfrm>
        </p:spPr>
        <p:txBody>
          <a:bodyPr/>
          <a:lstStyle/>
          <a:p>
            <a:pPr eaLnBrk="1" hangingPunct="1"/>
            <a:r>
              <a:rPr lang="en-US" altLang="en-US" sz="2100"/>
              <a:t>Example: calculate BCD 35 + 48</a:t>
            </a:r>
          </a:p>
        </p:txBody>
      </p:sp>
      <p:sp>
        <p:nvSpPr>
          <p:cNvPr id="81926" name="Text Box 4">
            <a:extLst>
              <a:ext uri="{FF2B5EF4-FFF2-40B4-BE49-F238E27FC236}">
                <a16:creationId xmlns:a16="http://schemas.microsoft.com/office/drawing/2014/main" id="{0ADAE96E-4A87-4B74-84EA-06D8C6474175}"/>
              </a:ext>
            </a:extLst>
          </p:cNvPr>
          <p:cNvSpPr txBox="1">
            <a:spLocks noChangeArrowheads="1"/>
          </p:cNvSpPr>
          <p:nvPr/>
        </p:nvSpPr>
        <p:spPr bwMode="auto">
          <a:xfrm>
            <a:off x="1066800" y="1676400"/>
            <a:ext cx="5943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al,35h</a:t>
            </a:r>
          </a:p>
          <a:p>
            <a:pPr eaLnBrk="1" hangingPunct="1">
              <a:lnSpc>
                <a:spcPct val="50000"/>
              </a:lnSpc>
              <a:spcBef>
                <a:spcPct val="50000"/>
              </a:spcBef>
              <a:buClrTx/>
              <a:buFontTx/>
              <a:buNone/>
            </a:pPr>
            <a:r>
              <a:rPr lang="en-US" altLang="en-US" sz="1800" b="1">
                <a:latin typeface="Courier New" panose="02070309020205020404" pitchFamily="49" charset="0"/>
              </a:rPr>
              <a:t>add al,48h 	; AL = 7Dh</a:t>
            </a:r>
          </a:p>
          <a:p>
            <a:pPr eaLnBrk="1" hangingPunct="1">
              <a:lnSpc>
                <a:spcPct val="50000"/>
              </a:lnSpc>
              <a:spcBef>
                <a:spcPct val="50000"/>
              </a:spcBef>
              <a:buClrTx/>
              <a:buFontTx/>
              <a:buNone/>
            </a:pPr>
            <a:r>
              <a:rPr lang="en-US" altLang="en-US" sz="1800" b="1">
                <a:latin typeface="Courier New" panose="02070309020205020404" pitchFamily="49" charset="0"/>
              </a:rPr>
              <a:t>daa 	; AL = 83h, CF = 0</a:t>
            </a:r>
          </a:p>
        </p:txBody>
      </p:sp>
      <p:grpSp>
        <p:nvGrpSpPr>
          <p:cNvPr id="153611" name="Group 11">
            <a:extLst>
              <a:ext uri="{FF2B5EF4-FFF2-40B4-BE49-F238E27FC236}">
                <a16:creationId xmlns:a16="http://schemas.microsoft.com/office/drawing/2014/main" id="{DADEBB7A-63B6-4791-8BA9-270A029496A0}"/>
              </a:ext>
            </a:extLst>
          </p:cNvPr>
          <p:cNvGrpSpPr>
            <a:grpSpLocks/>
          </p:cNvGrpSpPr>
          <p:nvPr/>
        </p:nvGrpSpPr>
        <p:grpSpPr bwMode="auto">
          <a:xfrm>
            <a:off x="609600" y="2895600"/>
            <a:ext cx="7772400" cy="1524000"/>
            <a:chOff x="384" y="1824"/>
            <a:chExt cx="4896" cy="960"/>
          </a:xfrm>
        </p:grpSpPr>
        <p:sp>
          <p:nvSpPr>
            <p:cNvPr id="81931" name="Rectangle 6">
              <a:extLst>
                <a:ext uri="{FF2B5EF4-FFF2-40B4-BE49-F238E27FC236}">
                  <a16:creationId xmlns:a16="http://schemas.microsoft.com/office/drawing/2014/main" id="{7A89BA37-535D-481B-9F35-0C2D2323009B}"/>
                </a:ext>
              </a:extLst>
            </p:cNvPr>
            <p:cNvSpPr>
              <a:spLocks noChangeArrowheads="1"/>
            </p:cNvSpPr>
            <p:nvPr/>
          </p:nvSpPr>
          <p:spPr bwMode="auto">
            <a:xfrm>
              <a:off x="384" y="1824"/>
              <a:ext cx="4896"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100"/>
                <a:t>Example: calculate BCD 35 + 65</a:t>
              </a:r>
            </a:p>
          </p:txBody>
        </p:sp>
        <p:sp>
          <p:nvSpPr>
            <p:cNvPr id="81932" name="Text Box 7">
              <a:extLst>
                <a:ext uri="{FF2B5EF4-FFF2-40B4-BE49-F238E27FC236}">
                  <a16:creationId xmlns:a16="http://schemas.microsoft.com/office/drawing/2014/main" id="{D3FE9EAB-A372-4EB4-A74E-BA8F34F5E195}"/>
                </a:ext>
              </a:extLst>
            </p:cNvPr>
            <p:cNvSpPr txBox="1">
              <a:spLocks noChangeArrowheads="1"/>
            </p:cNvSpPr>
            <p:nvPr/>
          </p:nvSpPr>
          <p:spPr bwMode="auto">
            <a:xfrm>
              <a:off x="672" y="2160"/>
              <a:ext cx="3744"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al,35h</a:t>
              </a:r>
            </a:p>
            <a:p>
              <a:pPr eaLnBrk="1" hangingPunct="1">
                <a:lnSpc>
                  <a:spcPct val="50000"/>
                </a:lnSpc>
                <a:spcBef>
                  <a:spcPct val="50000"/>
                </a:spcBef>
                <a:buClrTx/>
                <a:buFontTx/>
                <a:buNone/>
              </a:pPr>
              <a:r>
                <a:rPr lang="en-US" altLang="en-US" sz="1800" b="1">
                  <a:latin typeface="Courier New" panose="02070309020205020404" pitchFamily="49" charset="0"/>
                </a:rPr>
                <a:t>add al,65h 	; AL = 9Ah</a:t>
              </a:r>
            </a:p>
            <a:p>
              <a:pPr eaLnBrk="1" hangingPunct="1">
                <a:lnSpc>
                  <a:spcPct val="50000"/>
                </a:lnSpc>
                <a:spcBef>
                  <a:spcPct val="50000"/>
                </a:spcBef>
                <a:buClrTx/>
                <a:buFontTx/>
                <a:buNone/>
              </a:pPr>
              <a:r>
                <a:rPr lang="en-US" altLang="en-US" sz="1800" b="1">
                  <a:latin typeface="Courier New" panose="02070309020205020404" pitchFamily="49" charset="0"/>
                </a:rPr>
                <a:t>daa 	; AL = 00h, CF = 1</a:t>
              </a:r>
            </a:p>
          </p:txBody>
        </p:sp>
      </p:grpSp>
      <p:grpSp>
        <p:nvGrpSpPr>
          <p:cNvPr id="153610" name="Group 10">
            <a:extLst>
              <a:ext uri="{FF2B5EF4-FFF2-40B4-BE49-F238E27FC236}">
                <a16:creationId xmlns:a16="http://schemas.microsoft.com/office/drawing/2014/main" id="{7BC4D744-3128-490B-9791-B07878669D19}"/>
              </a:ext>
            </a:extLst>
          </p:cNvPr>
          <p:cNvGrpSpPr>
            <a:grpSpLocks/>
          </p:cNvGrpSpPr>
          <p:nvPr/>
        </p:nvGrpSpPr>
        <p:grpSpPr bwMode="auto">
          <a:xfrm>
            <a:off x="609600" y="4572000"/>
            <a:ext cx="7772400" cy="1524000"/>
            <a:chOff x="384" y="2880"/>
            <a:chExt cx="4896" cy="960"/>
          </a:xfrm>
        </p:grpSpPr>
        <p:sp>
          <p:nvSpPr>
            <p:cNvPr id="81929" name="Rectangle 8">
              <a:extLst>
                <a:ext uri="{FF2B5EF4-FFF2-40B4-BE49-F238E27FC236}">
                  <a16:creationId xmlns:a16="http://schemas.microsoft.com/office/drawing/2014/main" id="{035CB7FA-8ECF-4A94-B77A-E45FDAE78A2A}"/>
                </a:ext>
              </a:extLst>
            </p:cNvPr>
            <p:cNvSpPr>
              <a:spLocks noChangeArrowheads="1"/>
            </p:cNvSpPr>
            <p:nvPr/>
          </p:nvSpPr>
          <p:spPr bwMode="auto">
            <a:xfrm>
              <a:off x="384" y="2880"/>
              <a:ext cx="4896"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100"/>
                <a:t>Example: calculate BCD 69 + 29</a:t>
              </a:r>
            </a:p>
          </p:txBody>
        </p:sp>
        <p:sp>
          <p:nvSpPr>
            <p:cNvPr id="81930" name="Text Box 9">
              <a:extLst>
                <a:ext uri="{FF2B5EF4-FFF2-40B4-BE49-F238E27FC236}">
                  <a16:creationId xmlns:a16="http://schemas.microsoft.com/office/drawing/2014/main" id="{73D0602E-6FB6-418C-8B53-14992BAA72B4}"/>
                </a:ext>
              </a:extLst>
            </p:cNvPr>
            <p:cNvSpPr txBox="1">
              <a:spLocks noChangeArrowheads="1"/>
            </p:cNvSpPr>
            <p:nvPr/>
          </p:nvSpPr>
          <p:spPr bwMode="auto">
            <a:xfrm>
              <a:off x="672" y="3216"/>
              <a:ext cx="3744"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al,69h</a:t>
              </a:r>
            </a:p>
            <a:p>
              <a:pPr eaLnBrk="1" hangingPunct="1">
                <a:lnSpc>
                  <a:spcPct val="50000"/>
                </a:lnSpc>
                <a:spcBef>
                  <a:spcPct val="50000"/>
                </a:spcBef>
                <a:buClrTx/>
                <a:buFontTx/>
                <a:buNone/>
              </a:pPr>
              <a:r>
                <a:rPr lang="en-US" altLang="en-US" sz="1800" b="1">
                  <a:latin typeface="Courier New" panose="02070309020205020404" pitchFamily="49" charset="0"/>
                </a:rPr>
                <a:t>add al,29h 	; AL = 92h</a:t>
              </a:r>
            </a:p>
            <a:p>
              <a:pPr eaLnBrk="1" hangingPunct="1">
                <a:lnSpc>
                  <a:spcPct val="50000"/>
                </a:lnSpc>
                <a:spcBef>
                  <a:spcPct val="50000"/>
                </a:spcBef>
                <a:buClrTx/>
                <a:buFontTx/>
                <a:buNone/>
              </a:pPr>
              <a:r>
                <a:rPr lang="en-US" altLang="en-US" sz="1800" b="1">
                  <a:latin typeface="Courier New" panose="02070309020205020404" pitchFamily="49" charset="0"/>
                </a:rPr>
                <a:t>daa 	; AL = 98h, CF = 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611"/>
                                        </p:tgtEl>
                                        <p:attrNameLst>
                                          <p:attrName>style.visibility</p:attrName>
                                        </p:attrNameLst>
                                      </p:cBhvr>
                                      <p:to>
                                        <p:strVal val="visible"/>
                                      </p:to>
                                    </p:set>
                                    <p:anim calcmode="lin" valueType="num">
                                      <p:cBhvr additive="base">
                                        <p:cTn id="7" dur="500" fill="hold"/>
                                        <p:tgtEl>
                                          <p:spTgt spid="153611"/>
                                        </p:tgtEl>
                                        <p:attrNameLst>
                                          <p:attrName>ppt_x</p:attrName>
                                        </p:attrNameLst>
                                      </p:cBhvr>
                                      <p:tavLst>
                                        <p:tav tm="0">
                                          <p:val>
                                            <p:strVal val="0-#ppt_w/2"/>
                                          </p:val>
                                        </p:tav>
                                        <p:tav tm="100000">
                                          <p:val>
                                            <p:strVal val="#ppt_x"/>
                                          </p:val>
                                        </p:tav>
                                      </p:tavLst>
                                    </p:anim>
                                    <p:anim calcmode="lin" valueType="num">
                                      <p:cBhvr additive="base">
                                        <p:cTn id="8" dur="500" fill="hold"/>
                                        <p:tgtEl>
                                          <p:spTgt spid="1536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3610"/>
                                        </p:tgtEl>
                                        <p:attrNameLst>
                                          <p:attrName>style.visibility</p:attrName>
                                        </p:attrNameLst>
                                      </p:cBhvr>
                                      <p:to>
                                        <p:strVal val="visible"/>
                                      </p:to>
                                    </p:set>
                                    <p:anim calcmode="lin" valueType="num">
                                      <p:cBhvr additive="base">
                                        <p:cTn id="13" dur="500" fill="hold"/>
                                        <p:tgtEl>
                                          <p:spTgt spid="153610"/>
                                        </p:tgtEl>
                                        <p:attrNameLst>
                                          <p:attrName>ppt_x</p:attrName>
                                        </p:attrNameLst>
                                      </p:cBhvr>
                                      <p:tavLst>
                                        <p:tav tm="0">
                                          <p:val>
                                            <p:strVal val="0-#ppt_w/2"/>
                                          </p:val>
                                        </p:tav>
                                        <p:tav tm="100000">
                                          <p:val>
                                            <p:strVal val="#ppt_x"/>
                                          </p:val>
                                        </p:tav>
                                      </p:tavLst>
                                    </p:anim>
                                    <p:anim calcmode="lin" valueType="num">
                                      <p:cBhvr additive="base">
                                        <p:cTn id="14" dur="500" fill="hold"/>
                                        <p:tgtEl>
                                          <p:spTgt spid="1536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a:extLst>
              <a:ext uri="{FF2B5EF4-FFF2-40B4-BE49-F238E27FC236}">
                <a16:creationId xmlns:a16="http://schemas.microsoft.com/office/drawing/2014/main" id="{B18898D6-F04E-4BD3-8026-69CDD0601B8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3971" name="Slide Number Placeholder 4">
            <a:extLst>
              <a:ext uri="{FF2B5EF4-FFF2-40B4-BE49-F238E27FC236}">
                <a16:creationId xmlns:a16="http://schemas.microsoft.com/office/drawing/2014/main" id="{8C460E35-04E6-48E5-AE2F-96EC32D80236}"/>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8C685F7-AA28-4247-A724-E899B275DF05}" type="slidenum">
              <a:rPr lang="en-US" altLang="en-US" sz="1600">
                <a:latin typeface="Times New Roman" panose="02020603050405020304" pitchFamily="18" charset="0"/>
              </a:rPr>
              <a:pPr eaLnBrk="1" hangingPunct="1">
                <a:spcBef>
                  <a:spcPct val="0"/>
                </a:spcBef>
                <a:buClrTx/>
                <a:buFontTx/>
                <a:buNone/>
              </a:pPr>
              <a:t>57</a:t>
            </a:fld>
            <a:endParaRPr lang="en-US" altLang="en-US" sz="1600">
              <a:latin typeface="Times New Roman" panose="02020603050405020304" pitchFamily="18" charset="0"/>
            </a:endParaRPr>
          </a:p>
        </p:txBody>
      </p:sp>
      <p:sp>
        <p:nvSpPr>
          <p:cNvPr id="132098" name="Rectangle 2">
            <a:extLst>
              <a:ext uri="{FF2B5EF4-FFF2-40B4-BE49-F238E27FC236}">
                <a16:creationId xmlns:a16="http://schemas.microsoft.com/office/drawing/2014/main" id="{B8F8208C-F2F3-4B5E-A54A-52A7A4211078}"/>
              </a:ext>
            </a:extLst>
          </p:cNvPr>
          <p:cNvSpPr>
            <a:spLocks noGrp="1" noChangeArrowheads="1"/>
          </p:cNvSpPr>
          <p:nvPr>
            <p:ph type="title"/>
          </p:nvPr>
        </p:nvSpPr>
        <p:spPr/>
        <p:txBody>
          <a:bodyPr/>
          <a:lstStyle/>
          <a:p>
            <a:pPr eaLnBrk="1" hangingPunct="1">
              <a:defRPr/>
            </a:pPr>
            <a:r>
              <a:rPr lang="en-US" altLang="en-US"/>
              <a:t>DAS Instruction</a:t>
            </a:r>
          </a:p>
        </p:txBody>
      </p:sp>
      <p:sp>
        <p:nvSpPr>
          <p:cNvPr id="83973" name="Rectangle 3">
            <a:extLst>
              <a:ext uri="{FF2B5EF4-FFF2-40B4-BE49-F238E27FC236}">
                <a16:creationId xmlns:a16="http://schemas.microsoft.com/office/drawing/2014/main" id="{494AD190-4E6E-49E5-9FE3-6AF38F3E4642}"/>
              </a:ext>
            </a:extLst>
          </p:cNvPr>
          <p:cNvSpPr>
            <a:spLocks noGrp="1" noChangeArrowheads="1"/>
          </p:cNvSpPr>
          <p:nvPr>
            <p:ph type="body" idx="1"/>
          </p:nvPr>
        </p:nvSpPr>
        <p:spPr>
          <a:xfrm>
            <a:off x="685800" y="1295400"/>
            <a:ext cx="7772400" cy="2286000"/>
          </a:xfrm>
        </p:spPr>
        <p:txBody>
          <a:bodyPr/>
          <a:lstStyle/>
          <a:p>
            <a:pPr eaLnBrk="1" hangingPunct="1">
              <a:tabLst>
                <a:tab pos="3143250" algn="l"/>
              </a:tabLst>
            </a:pPr>
            <a:r>
              <a:rPr lang="en-US" altLang="en-US"/>
              <a:t>The DAS (decimal adjust after subtraction) instruction converts the binary result of a SUB or SBB operation to packed decimal format.</a:t>
            </a:r>
          </a:p>
          <a:p>
            <a:pPr eaLnBrk="1" hangingPunct="1">
              <a:tabLst>
                <a:tab pos="3143250" algn="l"/>
              </a:tabLst>
            </a:pPr>
            <a:r>
              <a:rPr lang="en-US" altLang="en-US"/>
              <a:t>The value must be in AL</a:t>
            </a:r>
          </a:p>
          <a:p>
            <a:pPr eaLnBrk="1" hangingPunct="1">
              <a:tabLst>
                <a:tab pos="3143250" algn="l"/>
              </a:tabLst>
            </a:pPr>
            <a:r>
              <a:rPr lang="en-US" altLang="en-US"/>
              <a:t>Example: subtract BCD 48 from 85</a:t>
            </a:r>
          </a:p>
        </p:txBody>
      </p:sp>
      <p:sp>
        <p:nvSpPr>
          <p:cNvPr id="83974" name="Text Box 4">
            <a:extLst>
              <a:ext uri="{FF2B5EF4-FFF2-40B4-BE49-F238E27FC236}">
                <a16:creationId xmlns:a16="http://schemas.microsoft.com/office/drawing/2014/main" id="{0B0889A4-BB99-4E3F-887C-0A6A2C7DFAC3}"/>
              </a:ext>
            </a:extLst>
          </p:cNvPr>
          <p:cNvSpPr txBox="1">
            <a:spLocks noChangeArrowheads="1"/>
          </p:cNvSpPr>
          <p:nvPr/>
        </p:nvSpPr>
        <p:spPr bwMode="auto">
          <a:xfrm>
            <a:off x="1143000" y="3581400"/>
            <a:ext cx="6934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687638"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68763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68763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68763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6876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al,48h</a:t>
            </a:r>
          </a:p>
          <a:p>
            <a:pPr eaLnBrk="1" hangingPunct="1">
              <a:lnSpc>
                <a:spcPct val="50000"/>
              </a:lnSpc>
              <a:spcBef>
                <a:spcPct val="50000"/>
              </a:spcBef>
              <a:buClrTx/>
              <a:buFontTx/>
              <a:buNone/>
            </a:pPr>
            <a:r>
              <a:rPr lang="en-US" altLang="en-US" sz="1800" b="1">
                <a:latin typeface="Courier New" panose="02070309020205020404" pitchFamily="49" charset="0"/>
              </a:rPr>
              <a:t>sub al,35h 	; AL = 13h</a:t>
            </a:r>
          </a:p>
          <a:p>
            <a:pPr eaLnBrk="1" hangingPunct="1">
              <a:lnSpc>
                <a:spcPct val="50000"/>
              </a:lnSpc>
              <a:spcBef>
                <a:spcPct val="50000"/>
              </a:spcBef>
              <a:buClrTx/>
              <a:buFontTx/>
              <a:buNone/>
            </a:pPr>
            <a:r>
              <a:rPr lang="en-US" altLang="en-US" sz="1800" b="1">
                <a:latin typeface="Courier New" panose="02070309020205020404" pitchFamily="49" charset="0"/>
              </a:rPr>
              <a:t>das 	; AL = 13h CF = 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F556C09C-B1FA-4E88-B4C9-26DD8C8C156A}"/>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4995" name="Slide Number Placeholder 4">
            <a:extLst>
              <a:ext uri="{FF2B5EF4-FFF2-40B4-BE49-F238E27FC236}">
                <a16:creationId xmlns:a16="http://schemas.microsoft.com/office/drawing/2014/main" id="{367AB8B7-EAB0-405E-8878-997E15752372}"/>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33F643B7-CB49-4ADF-A4B1-1862CEFC8239}" type="slidenum">
              <a:rPr lang="en-US" altLang="en-US" sz="1600">
                <a:latin typeface="Times New Roman" panose="02020603050405020304" pitchFamily="18" charset="0"/>
              </a:rPr>
              <a:pPr eaLnBrk="1" hangingPunct="1">
                <a:spcBef>
                  <a:spcPct val="0"/>
                </a:spcBef>
                <a:buClrTx/>
                <a:buFontTx/>
                <a:buNone/>
              </a:pPr>
              <a:t>58</a:t>
            </a:fld>
            <a:endParaRPr lang="en-US" altLang="en-US" sz="1600">
              <a:latin typeface="Times New Roman" panose="02020603050405020304" pitchFamily="18" charset="0"/>
            </a:endParaRPr>
          </a:p>
        </p:txBody>
      </p:sp>
      <p:sp>
        <p:nvSpPr>
          <p:cNvPr id="155650" name="Rectangle 2">
            <a:extLst>
              <a:ext uri="{FF2B5EF4-FFF2-40B4-BE49-F238E27FC236}">
                <a16:creationId xmlns:a16="http://schemas.microsoft.com/office/drawing/2014/main" id="{2ACA275E-EC30-492A-A5AB-BA00C178AE61}"/>
              </a:ext>
            </a:extLst>
          </p:cNvPr>
          <p:cNvSpPr>
            <a:spLocks noGrp="1" noChangeArrowheads="1"/>
          </p:cNvSpPr>
          <p:nvPr>
            <p:ph type="title"/>
          </p:nvPr>
        </p:nvSpPr>
        <p:spPr/>
        <p:txBody>
          <a:bodyPr/>
          <a:lstStyle/>
          <a:p>
            <a:pPr eaLnBrk="1" hangingPunct="1">
              <a:defRPr/>
            </a:pPr>
            <a:r>
              <a:rPr lang="en-US" altLang="en-US"/>
              <a:t>DAS Logic</a:t>
            </a:r>
          </a:p>
        </p:txBody>
      </p:sp>
      <p:sp>
        <p:nvSpPr>
          <p:cNvPr id="84997" name="Text Box 4">
            <a:extLst>
              <a:ext uri="{FF2B5EF4-FFF2-40B4-BE49-F238E27FC236}">
                <a16:creationId xmlns:a16="http://schemas.microsoft.com/office/drawing/2014/main" id="{8C42EDA1-CFC9-4315-84E7-C731689274F4}"/>
              </a:ext>
            </a:extLst>
          </p:cNvPr>
          <p:cNvSpPr txBox="1">
            <a:spLocks noChangeArrowheads="1"/>
          </p:cNvSpPr>
          <p:nvPr/>
        </p:nvSpPr>
        <p:spPr bwMode="auto">
          <a:xfrm>
            <a:off x="990600" y="1295400"/>
            <a:ext cx="54864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687638"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2687638"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687638"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687638"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6876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687638"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If (AL(lo) &gt; 9) OR (AuxCarry = 1)</a:t>
            </a:r>
          </a:p>
          <a:p>
            <a:pPr eaLnBrk="1" hangingPunct="1">
              <a:lnSpc>
                <a:spcPct val="50000"/>
              </a:lnSpc>
              <a:spcBef>
                <a:spcPct val="50000"/>
              </a:spcBef>
              <a:buClrTx/>
              <a:buFontTx/>
              <a:buNone/>
            </a:pPr>
            <a:r>
              <a:rPr lang="en-US" altLang="en-US" sz="1800" b="1">
                <a:latin typeface="Courier New" panose="02070309020205020404" pitchFamily="49" charset="0"/>
              </a:rPr>
              <a:t>	AL = AL − 6;</a:t>
            </a:r>
          </a:p>
          <a:p>
            <a:pPr eaLnBrk="1" hangingPunct="1">
              <a:lnSpc>
                <a:spcPct val="50000"/>
              </a:lnSpc>
              <a:spcBef>
                <a:spcPct val="50000"/>
              </a:spcBef>
              <a:buClrTx/>
              <a:buFontTx/>
              <a:buNone/>
            </a:pPr>
            <a:r>
              <a:rPr lang="en-US" altLang="en-US" sz="1800" b="1">
                <a:latin typeface="Courier New" panose="02070309020205020404" pitchFamily="49" charset="0"/>
              </a:rPr>
              <a:t>	AuxCarry = 1;</a:t>
            </a:r>
          </a:p>
          <a:p>
            <a:pPr eaLnBrk="1" hangingPunct="1">
              <a:lnSpc>
                <a:spcPct val="50000"/>
              </a:lnSpc>
              <a:spcBef>
                <a:spcPct val="50000"/>
              </a:spcBef>
              <a:buClrTx/>
              <a:buFontTx/>
              <a:buNone/>
            </a:pPr>
            <a:r>
              <a:rPr lang="en-US" altLang="en-US" sz="1800" b="1">
                <a:latin typeface="Courier New" panose="02070309020205020404" pitchFamily="49" charset="0"/>
              </a:rPr>
              <a:t>Else</a:t>
            </a:r>
          </a:p>
          <a:p>
            <a:pPr lvl="1" eaLnBrk="1" hangingPunct="1">
              <a:lnSpc>
                <a:spcPct val="50000"/>
              </a:lnSpc>
              <a:spcBef>
                <a:spcPct val="50000"/>
              </a:spcBef>
              <a:buClrTx/>
              <a:buFontTx/>
              <a:buNone/>
            </a:pPr>
            <a:r>
              <a:rPr lang="en-US" altLang="en-US" sz="1800" b="1">
                <a:latin typeface="Courier New" panose="02070309020205020404" pitchFamily="49" charset="0"/>
              </a:rPr>
              <a:t>AuxCarry = 0;</a:t>
            </a:r>
          </a:p>
          <a:p>
            <a:pPr eaLnBrk="1" hangingPunct="1">
              <a:lnSpc>
                <a:spcPct val="50000"/>
              </a:lnSpc>
              <a:spcBef>
                <a:spcPct val="50000"/>
              </a:spcBef>
              <a:buClrTx/>
              <a:buFontTx/>
              <a:buNone/>
            </a:pPr>
            <a:r>
              <a:rPr lang="en-US" altLang="en-US" sz="1800" b="1">
                <a:latin typeface="Courier New" panose="02070309020205020404" pitchFamily="49" charset="0"/>
              </a:rPr>
              <a:t>Endif</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If (AL &gt; 9FH) or (Carry = 1)</a:t>
            </a:r>
          </a:p>
          <a:p>
            <a:pPr eaLnBrk="1" hangingPunct="1">
              <a:lnSpc>
                <a:spcPct val="50000"/>
              </a:lnSpc>
              <a:spcBef>
                <a:spcPct val="50000"/>
              </a:spcBef>
              <a:buClrTx/>
              <a:buFontTx/>
              <a:buNone/>
            </a:pPr>
            <a:r>
              <a:rPr lang="en-US" altLang="en-US" sz="1800" b="1">
                <a:latin typeface="Courier New" panose="02070309020205020404" pitchFamily="49" charset="0"/>
              </a:rPr>
              <a:t>	AL = AL − 60h;</a:t>
            </a:r>
          </a:p>
          <a:p>
            <a:pPr eaLnBrk="1" hangingPunct="1">
              <a:lnSpc>
                <a:spcPct val="50000"/>
              </a:lnSpc>
              <a:spcBef>
                <a:spcPct val="50000"/>
              </a:spcBef>
              <a:buClrTx/>
              <a:buFontTx/>
              <a:buNone/>
            </a:pPr>
            <a:r>
              <a:rPr lang="en-US" altLang="en-US" sz="1800" b="1">
                <a:latin typeface="Courier New" panose="02070309020205020404" pitchFamily="49" charset="0"/>
              </a:rPr>
              <a:t>	Carry = 1;</a:t>
            </a:r>
          </a:p>
          <a:p>
            <a:pPr eaLnBrk="1" hangingPunct="1">
              <a:lnSpc>
                <a:spcPct val="50000"/>
              </a:lnSpc>
              <a:spcBef>
                <a:spcPct val="50000"/>
              </a:spcBef>
              <a:buClrTx/>
              <a:buFontTx/>
              <a:buNone/>
            </a:pPr>
            <a:r>
              <a:rPr lang="en-US" altLang="en-US" sz="1800" b="1">
                <a:latin typeface="Courier New" panose="02070309020205020404" pitchFamily="49" charset="0"/>
              </a:rPr>
              <a:t>Else</a:t>
            </a:r>
          </a:p>
          <a:p>
            <a:pPr eaLnBrk="1" hangingPunct="1">
              <a:lnSpc>
                <a:spcPct val="50000"/>
              </a:lnSpc>
              <a:spcBef>
                <a:spcPct val="50000"/>
              </a:spcBef>
              <a:buClrTx/>
              <a:buFontTx/>
              <a:buNone/>
            </a:pPr>
            <a:r>
              <a:rPr lang="en-US" altLang="en-US" sz="1800" b="1">
                <a:latin typeface="Courier New" panose="02070309020205020404" pitchFamily="49" charset="0"/>
              </a:rPr>
              <a:t>	Carry = 0;</a:t>
            </a:r>
          </a:p>
          <a:p>
            <a:pPr eaLnBrk="1" hangingPunct="1">
              <a:lnSpc>
                <a:spcPct val="50000"/>
              </a:lnSpc>
              <a:spcBef>
                <a:spcPct val="50000"/>
              </a:spcBef>
              <a:buClrTx/>
              <a:buFontTx/>
              <a:buNone/>
            </a:pPr>
            <a:r>
              <a:rPr lang="en-US" altLang="en-US" sz="1800" b="1">
                <a:latin typeface="Courier New" panose="02070309020205020404" pitchFamily="49" charset="0"/>
              </a:rPr>
              <a:t>Endif</a:t>
            </a:r>
          </a:p>
        </p:txBody>
      </p:sp>
      <p:sp>
        <p:nvSpPr>
          <p:cNvPr id="155653" name="Text Box 5">
            <a:extLst>
              <a:ext uri="{FF2B5EF4-FFF2-40B4-BE49-F238E27FC236}">
                <a16:creationId xmlns:a16="http://schemas.microsoft.com/office/drawing/2014/main" id="{513D1E9F-34E8-4D38-8D38-C0D860829642}"/>
              </a:ext>
            </a:extLst>
          </p:cNvPr>
          <p:cNvSpPr txBox="1">
            <a:spLocks noChangeArrowheads="1"/>
          </p:cNvSpPr>
          <p:nvPr/>
        </p:nvSpPr>
        <p:spPr bwMode="auto">
          <a:xfrm>
            <a:off x="5562600" y="2209800"/>
            <a:ext cx="2895600" cy="1727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If AL = AL </a:t>
            </a:r>
            <a:r>
              <a:rPr lang="en-US" altLang="en-US" sz="1900">
                <a:latin typeface="Symbol" panose="05050102010706020507" pitchFamily="18" charset="2"/>
              </a:rPr>
              <a:t>-</a:t>
            </a:r>
            <a:r>
              <a:rPr lang="en-US" altLang="en-US" sz="1900"/>
              <a:t> 6 sets the Carry flag, its value is used when evaluating AL in the second IF statement.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5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a:extLst>
              <a:ext uri="{FF2B5EF4-FFF2-40B4-BE49-F238E27FC236}">
                <a16:creationId xmlns:a16="http://schemas.microsoft.com/office/drawing/2014/main" id="{8E5900CC-004C-4C29-B9ED-8CD1A9295B9F}"/>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6019" name="Slide Number Placeholder 4">
            <a:extLst>
              <a:ext uri="{FF2B5EF4-FFF2-40B4-BE49-F238E27FC236}">
                <a16:creationId xmlns:a16="http://schemas.microsoft.com/office/drawing/2014/main" id="{4725E651-C3B4-40E6-A855-75F93842B5BC}"/>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DE95880E-2BA6-4AC4-920D-43E062572BA6}" type="slidenum">
              <a:rPr lang="en-US" altLang="en-US" sz="1600">
                <a:latin typeface="Times New Roman" panose="02020603050405020304" pitchFamily="18" charset="0"/>
              </a:rPr>
              <a:pPr eaLnBrk="1" hangingPunct="1">
                <a:spcBef>
                  <a:spcPct val="0"/>
                </a:spcBef>
                <a:buClrTx/>
                <a:buFontTx/>
                <a:buNone/>
              </a:pPr>
              <a:t>59</a:t>
            </a:fld>
            <a:endParaRPr lang="en-US" altLang="en-US" sz="1600">
              <a:latin typeface="Times New Roman" panose="02020603050405020304" pitchFamily="18" charset="0"/>
            </a:endParaRPr>
          </a:p>
        </p:txBody>
      </p:sp>
      <p:sp>
        <p:nvSpPr>
          <p:cNvPr id="156674" name="Rectangle 2">
            <a:extLst>
              <a:ext uri="{FF2B5EF4-FFF2-40B4-BE49-F238E27FC236}">
                <a16:creationId xmlns:a16="http://schemas.microsoft.com/office/drawing/2014/main" id="{D05B62BD-9389-4010-BDD8-4869E9B1E2E1}"/>
              </a:ext>
            </a:extLst>
          </p:cNvPr>
          <p:cNvSpPr>
            <a:spLocks noGrp="1" noChangeArrowheads="1"/>
          </p:cNvSpPr>
          <p:nvPr>
            <p:ph type="title"/>
          </p:nvPr>
        </p:nvSpPr>
        <p:spPr/>
        <p:txBody>
          <a:bodyPr/>
          <a:lstStyle/>
          <a:p>
            <a:pPr eaLnBrk="1" hangingPunct="1">
              <a:defRPr/>
            </a:pPr>
            <a:r>
              <a:rPr lang="en-US" altLang="en-US"/>
              <a:t>DAS Examples</a:t>
            </a:r>
            <a:r>
              <a:rPr lang="en-US" altLang="en-US" sz="2400"/>
              <a:t>  (1 of 2)</a:t>
            </a:r>
          </a:p>
        </p:txBody>
      </p:sp>
      <p:sp>
        <p:nvSpPr>
          <p:cNvPr id="86021" name="Rectangle 3">
            <a:extLst>
              <a:ext uri="{FF2B5EF4-FFF2-40B4-BE49-F238E27FC236}">
                <a16:creationId xmlns:a16="http://schemas.microsoft.com/office/drawing/2014/main" id="{6AD2D68B-10C4-4DD2-BD9B-959B186F601D}"/>
              </a:ext>
            </a:extLst>
          </p:cNvPr>
          <p:cNvSpPr>
            <a:spLocks noGrp="1" noChangeArrowheads="1"/>
          </p:cNvSpPr>
          <p:nvPr>
            <p:ph type="body" idx="1"/>
          </p:nvPr>
        </p:nvSpPr>
        <p:spPr>
          <a:xfrm>
            <a:off x="609600" y="1143000"/>
            <a:ext cx="7772400" cy="1295400"/>
          </a:xfrm>
        </p:spPr>
        <p:txBody>
          <a:bodyPr/>
          <a:lstStyle/>
          <a:p>
            <a:pPr eaLnBrk="1" hangingPunct="1"/>
            <a:r>
              <a:rPr lang="en-US" altLang="en-US" sz="2100"/>
              <a:t>Example: subtract BCD 48 – 35</a:t>
            </a:r>
          </a:p>
        </p:txBody>
      </p:sp>
      <p:sp>
        <p:nvSpPr>
          <p:cNvPr id="86022" name="Text Box 4">
            <a:extLst>
              <a:ext uri="{FF2B5EF4-FFF2-40B4-BE49-F238E27FC236}">
                <a16:creationId xmlns:a16="http://schemas.microsoft.com/office/drawing/2014/main" id="{5EE84979-47DF-48A4-B0E6-0ABF385EADEC}"/>
              </a:ext>
            </a:extLst>
          </p:cNvPr>
          <p:cNvSpPr txBox="1">
            <a:spLocks noChangeArrowheads="1"/>
          </p:cNvSpPr>
          <p:nvPr/>
        </p:nvSpPr>
        <p:spPr bwMode="auto">
          <a:xfrm>
            <a:off x="1066800" y="1676400"/>
            <a:ext cx="5943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al,48h</a:t>
            </a:r>
          </a:p>
          <a:p>
            <a:pPr eaLnBrk="1" hangingPunct="1">
              <a:lnSpc>
                <a:spcPct val="50000"/>
              </a:lnSpc>
              <a:spcBef>
                <a:spcPct val="50000"/>
              </a:spcBef>
              <a:buClrTx/>
              <a:buFontTx/>
              <a:buNone/>
            </a:pPr>
            <a:r>
              <a:rPr lang="en-US" altLang="en-US" sz="1800" b="1">
                <a:latin typeface="Courier New" panose="02070309020205020404" pitchFamily="49" charset="0"/>
              </a:rPr>
              <a:t>sub al,35h 	; AL = 13h</a:t>
            </a:r>
          </a:p>
          <a:p>
            <a:pPr eaLnBrk="1" hangingPunct="1">
              <a:lnSpc>
                <a:spcPct val="50000"/>
              </a:lnSpc>
              <a:spcBef>
                <a:spcPct val="50000"/>
              </a:spcBef>
              <a:buClrTx/>
              <a:buFontTx/>
              <a:buNone/>
            </a:pPr>
            <a:r>
              <a:rPr lang="en-US" altLang="en-US" sz="1800" b="1">
                <a:latin typeface="Courier New" panose="02070309020205020404" pitchFamily="49" charset="0"/>
              </a:rPr>
              <a:t>das 	; AL = 13h CF = 0</a:t>
            </a:r>
          </a:p>
        </p:txBody>
      </p:sp>
      <p:grpSp>
        <p:nvGrpSpPr>
          <p:cNvPr id="156677" name="Group 5">
            <a:extLst>
              <a:ext uri="{FF2B5EF4-FFF2-40B4-BE49-F238E27FC236}">
                <a16:creationId xmlns:a16="http://schemas.microsoft.com/office/drawing/2014/main" id="{958ACECE-79DD-4D3D-A21C-A8D38701F821}"/>
              </a:ext>
            </a:extLst>
          </p:cNvPr>
          <p:cNvGrpSpPr>
            <a:grpSpLocks/>
          </p:cNvGrpSpPr>
          <p:nvPr/>
        </p:nvGrpSpPr>
        <p:grpSpPr bwMode="auto">
          <a:xfrm>
            <a:off x="609600" y="2895600"/>
            <a:ext cx="7772400" cy="1524000"/>
            <a:chOff x="384" y="1824"/>
            <a:chExt cx="4896" cy="960"/>
          </a:xfrm>
        </p:grpSpPr>
        <p:sp>
          <p:nvSpPr>
            <p:cNvPr id="86027" name="Rectangle 6">
              <a:extLst>
                <a:ext uri="{FF2B5EF4-FFF2-40B4-BE49-F238E27FC236}">
                  <a16:creationId xmlns:a16="http://schemas.microsoft.com/office/drawing/2014/main" id="{3CF11FD1-66BA-4546-A990-FE19420F3AB2}"/>
                </a:ext>
              </a:extLst>
            </p:cNvPr>
            <p:cNvSpPr>
              <a:spLocks noChangeArrowheads="1"/>
            </p:cNvSpPr>
            <p:nvPr/>
          </p:nvSpPr>
          <p:spPr bwMode="auto">
            <a:xfrm>
              <a:off x="384" y="1824"/>
              <a:ext cx="4896"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100"/>
                <a:t>Example: subtract BCD 62 – 35</a:t>
              </a:r>
            </a:p>
          </p:txBody>
        </p:sp>
        <p:sp>
          <p:nvSpPr>
            <p:cNvPr id="86028" name="Text Box 7">
              <a:extLst>
                <a:ext uri="{FF2B5EF4-FFF2-40B4-BE49-F238E27FC236}">
                  <a16:creationId xmlns:a16="http://schemas.microsoft.com/office/drawing/2014/main" id="{D973B2B5-39FC-4FB1-B4FB-A2C6FEBAC86A}"/>
                </a:ext>
              </a:extLst>
            </p:cNvPr>
            <p:cNvSpPr txBox="1">
              <a:spLocks noChangeArrowheads="1"/>
            </p:cNvSpPr>
            <p:nvPr/>
          </p:nvSpPr>
          <p:spPr bwMode="auto">
            <a:xfrm>
              <a:off x="672" y="2160"/>
              <a:ext cx="3744"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al,62h</a:t>
              </a:r>
            </a:p>
            <a:p>
              <a:pPr eaLnBrk="1" hangingPunct="1">
                <a:lnSpc>
                  <a:spcPct val="50000"/>
                </a:lnSpc>
                <a:spcBef>
                  <a:spcPct val="50000"/>
                </a:spcBef>
                <a:buClrTx/>
                <a:buFontTx/>
                <a:buNone/>
              </a:pPr>
              <a:r>
                <a:rPr lang="en-US" altLang="en-US" sz="1800" b="1">
                  <a:latin typeface="Courier New" panose="02070309020205020404" pitchFamily="49" charset="0"/>
                </a:rPr>
                <a:t>sub al,35h 	; AL = 2Dh, CF = 0</a:t>
              </a:r>
            </a:p>
            <a:p>
              <a:pPr eaLnBrk="1" hangingPunct="1">
                <a:lnSpc>
                  <a:spcPct val="50000"/>
                </a:lnSpc>
                <a:spcBef>
                  <a:spcPct val="50000"/>
                </a:spcBef>
                <a:buClrTx/>
                <a:buFontTx/>
                <a:buNone/>
              </a:pPr>
              <a:r>
                <a:rPr lang="en-US" altLang="en-US" sz="1800" b="1">
                  <a:latin typeface="Courier New" panose="02070309020205020404" pitchFamily="49" charset="0"/>
                </a:rPr>
                <a:t>das 	; AL = 27h, CF = 0</a:t>
              </a:r>
            </a:p>
          </p:txBody>
        </p:sp>
      </p:grpSp>
      <p:grpSp>
        <p:nvGrpSpPr>
          <p:cNvPr id="156680" name="Group 8">
            <a:extLst>
              <a:ext uri="{FF2B5EF4-FFF2-40B4-BE49-F238E27FC236}">
                <a16:creationId xmlns:a16="http://schemas.microsoft.com/office/drawing/2014/main" id="{D542250D-DAD2-418C-84B6-969D3A49858F}"/>
              </a:ext>
            </a:extLst>
          </p:cNvPr>
          <p:cNvGrpSpPr>
            <a:grpSpLocks/>
          </p:cNvGrpSpPr>
          <p:nvPr/>
        </p:nvGrpSpPr>
        <p:grpSpPr bwMode="auto">
          <a:xfrm>
            <a:off x="609600" y="4572000"/>
            <a:ext cx="7772400" cy="1524000"/>
            <a:chOff x="384" y="2880"/>
            <a:chExt cx="4896" cy="960"/>
          </a:xfrm>
        </p:grpSpPr>
        <p:sp>
          <p:nvSpPr>
            <p:cNvPr id="86025" name="Rectangle 9">
              <a:extLst>
                <a:ext uri="{FF2B5EF4-FFF2-40B4-BE49-F238E27FC236}">
                  <a16:creationId xmlns:a16="http://schemas.microsoft.com/office/drawing/2014/main" id="{578B94C3-88DB-4545-AB34-EB5DEC8E4DCB}"/>
                </a:ext>
              </a:extLst>
            </p:cNvPr>
            <p:cNvSpPr>
              <a:spLocks noChangeArrowheads="1"/>
            </p:cNvSpPr>
            <p:nvPr/>
          </p:nvSpPr>
          <p:spPr bwMode="auto">
            <a:xfrm>
              <a:off x="384" y="2880"/>
              <a:ext cx="4896"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100"/>
                <a:t>Example: subtract BCD 32 – 29</a:t>
              </a:r>
            </a:p>
          </p:txBody>
        </p:sp>
        <p:sp>
          <p:nvSpPr>
            <p:cNvPr id="86026" name="Text Box 10">
              <a:extLst>
                <a:ext uri="{FF2B5EF4-FFF2-40B4-BE49-F238E27FC236}">
                  <a16:creationId xmlns:a16="http://schemas.microsoft.com/office/drawing/2014/main" id="{AB306025-1E35-4EBB-93E9-A5B9604AD901}"/>
                </a:ext>
              </a:extLst>
            </p:cNvPr>
            <p:cNvSpPr txBox="1">
              <a:spLocks noChangeArrowheads="1"/>
            </p:cNvSpPr>
            <p:nvPr/>
          </p:nvSpPr>
          <p:spPr bwMode="auto">
            <a:xfrm>
              <a:off x="672" y="3216"/>
              <a:ext cx="3744"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16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16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tabLst>
                  <a:tab pos="457200" algn="l"/>
                  <a:tab pos="2741613" algn="l"/>
                </a:tabLst>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tabLst>
                  <a:tab pos="457200" algn="l"/>
                  <a:tab pos="27416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16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16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al,32h</a:t>
              </a:r>
            </a:p>
            <a:p>
              <a:pPr eaLnBrk="1" hangingPunct="1">
                <a:lnSpc>
                  <a:spcPct val="50000"/>
                </a:lnSpc>
                <a:spcBef>
                  <a:spcPct val="50000"/>
                </a:spcBef>
                <a:buClrTx/>
                <a:buFontTx/>
                <a:buNone/>
              </a:pPr>
              <a:r>
                <a:rPr lang="en-US" altLang="en-US" sz="1800" b="1">
                  <a:latin typeface="Courier New" panose="02070309020205020404" pitchFamily="49" charset="0"/>
                </a:rPr>
                <a:t>add al,29h 	; AL = 09h, CF = 0</a:t>
              </a:r>
            </a:p>
            <a:p>
              <a:pPr eaLnBrk="1" hangingPunct="1">
                <a:lnSpc>
                  <a:spcPct val="50000"/>
                </a:lnSpc>
                <a:spcBef>
                  <a:spcPct val="50000"/>
                </a:spcBef>
                <a:buClrTx/>
                <a:buFontTx/>
                <a:buNone/>
              </a:pPr>
              <a:r>
                <a:rPr lang="en-US" altLang="en-US" sz="1800" b="1">
                  <a:latin typeface="Courier New" panose="02070309020205020404" pitchFamily="49" charset="0"/>
                </a:rPr>
                <a:t>daa 	; AL = 03h, CF = 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6677"/>
                                        </p:tgtEl>
                                        <p:attrNameLst>
                                          <p:attrName>style.visibility</p:attrName>
                                        </p:attrNameLst>
                                      </p:cBhvr>
                                      <p:to>
                                        <p:strVal val="visible"/>
                                      </p:to>
                                    </p:set>
                                    <p:anim calcmode="lin" valueType="num">
                                      <p:cBhvr additive="base">
                                        <p:cTn id="7" dur="500" fill="hold"/>
                                        <p:tgtEl>
                                          <p:spTgt spid="156677"/>
                                        </p:tgtEl>
                                        <p:attrNameLst>
                                          <p:attrName>ppt_x</p:attrName>
                                        </p:attrNameLst>
                                      </p:cBhvr>
                                      <p:tavLst>
                                        <p:tav tm="0">
                                          <p:val>
                                            <p:strVal val="0-#ppt_w/2"/>
                                          </p:val>
                                        </p:tav>
                                        <p:tav tm="100000">
                                          <p:val>
                                            <p:strVal val="#ppt_x"/>
                                          </p:val>
                                        </p:tav>
                                      </p:tavLst>
                                    </p:anim>
                                    <p:anim calcmode="lin" valueType="num">
                                      <p:cBhvr additive="base">
                                        <p:cTn id="8" dur="500" fill="hold"/>
                                        <p:tgtEl>
                                          <p:spTgt spid="15667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6680"/>
                                        </p:tgtEl>
                                        <p:attrNameLst>
                                          <p:attrName>style.visibility</p:attrName>
                                        </p:attrNameLst>
                                      </p:cBhvr>
                                      <p:to>
                                        <p:strVal val="visible"/>
                                      </p:to>
                                    </p:set>
                                    <p:anim calcmode="lin" valueType="num">
                                      <p:cBhvr additive="base">
                                        <p:cTn id="13" dur="500" fill="hold"/>
                                        <p:tgtEl>
                                          <p:spTgt spid="156680"/>
                                        </p:tgtEl>
                                        <p:attrNameLst>
                                          <p:attrName>ppt_x</p:attrName>
                                        </p:attrNameLst>
                                      </p:cBhvr>
                                      <p:tavLst>
                                        <p:tav tm="0">
                                          <p:val>
                                            <p:strVal val="0-#ppt_w/2"/>
                                          </p:val>
                                        </p:tav>
                                        <p:tav tm="100000">
                                          <p:val>
                                            <p:strVal val="#ppt_x"/>
                                          </p:val>
                                        </p:tav>
                                      </p:tavLst>
                                    </p:anim>
                                    <p:anim calcmode="lin" valueType="num">
                                      <p:cBhvr additive="base">
                                        <p:cTn id="14" dur="500" fill="hold"/>
                                        <p:tgtEl>
                                          <p:spTgt spid="1566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CE58A36A-53C2-4F43-9B32-F8746DE73B37}"/>
              </a:ext>
            </a:extLst>
          </p:cNvPr>
          <p:cNvSpPr>
            <a:spLocks noGrp="1"/>
          </p:cNvSpPr>
          <p:nvPr>
            <p:ph type="ftr" sz="quarter" idx="10"/>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en-US" sz="1000"/>
              <a:t>Irvine, Kip R. Assembly Language for x86 Processors 7/e, 2015.</a:t>
            </a:r>
          </a:p>
        </p:txBody>
      </p:sp>
      <p:sp>
        <p:nvSpPr>
          <p:cNvPr id="89091" name="Slide Number Placeholder 4">
            <a:extLst>
              <a:ext uri="{FF2B5EF4-FFF2-40B4-BE49-F238E27FC236}">
                <a16:creationId xmlns:a16="http://schemas.microsoft.com/office/drawing/2014/main" id="{E23028FE-2DF7-4516-ABC0-385F2A372DE7}"/>
              </a:ext>
            </a:extLst>
          </p:cNvPr>
          <p:cNvSpPr>
            <a:spLocks noGrp="1"/>
          </p:cNvSpPr>
          <p:nvPr>
            <p:ph type="sldNum" sz="quarter" idx="11"/>
          </p:nvPr>
        </p:nvSpPr>
        <p:spPr>
          <a:noFill/>
        </p:spPr>
        <p:txBody>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buChar char="•"/>
              <a:defRPr sz="20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FontTx/>
              <a:buNone/>
            </a:pPr>
            <a:fld id="{2280E295-5360-4C13-86A2-E73D5E08D040}" type="slidenum">
              <a:rPr lang="en-US" altLang="en-US" sz="1600">
                <a:latin typeface="Times New Roman" panose="02020603050405020304" pitchFamily="18" charset="0"/>
              </a:rPr>
              <a:pPr eaLnBrk="1" hangingPunct="1">
                <a:spcBef>
                  <a:spcPct val="0"/>
                </a:spcBef>
                <a:buClrTx/>
                <a:buFontTx/>
                <a:buNone/>
              </a:pPr>
              <a:t>60</a:t>
            </a:fld>
            <a:endParaRPr lang="en-US" altLang="en-US" sz="1600">
              <a:latin typeface="Times New Roman" panose="02020603050405020304" pitchFamily="18" charset="0"/>
            </a:endParaRPr>
          </a:p>
        </p:txBody>
      </p:sp>
      <p:sp>
        <p:nvSpPr>
          <p:cNvPr id="167938" name="Rectangle 2">
            <a:extLst>
              <a:ext uri="{FF2B5EF4-FFF2-40B4-BE49-F238E27FC236}">
                <a16:creationId xmlns:a16="http://schemas.microsoft.com/office/drawing/2014/main" id="{39886920-8B74-46D6-A8E8-3B0DFC5B7F38}"/>
              </a:ext>
            </a:extLst>
          </p:cNvPr>
          <p:cNvSpPr>
            <a:spLocks noGrp="1" noChangeArrowheads="1"/>
          </p:cNvSpPr>
          <p:nvPr>
            <p:ph type="title"/>
          </p:nvPr>
        </p:nvSpPr>
        <p:spPr/>
        <p:txBody>
          <a:bodyPr/>
          <a:lstStyle/>
          <a:p>
            <a:pPr eaLnBrk="1" hangingPunct="1">
              <a:defRPr/>
            </a:pPr>
            <a:r>
              <a:rPr lang="en-US" altLang="en-US"/>
              <a:t>Summary</a:t>
            </a:r>
          </a:p>
        </p:txBody>
      </p:sp>
      <p:sp>
        <p:nvSpPr>
          <p:cNvPr id="89093" name="Rectangle 3">
            <a:extLst>
              <a:ext uri="{FF2B5EF4-FFF2-40B4-BE49-F238E27FC236}">
                <a16:creationId xmlns:a16="http://schemas.microsoft.com/office/drawing/2014/main" id="{DB7186F2-37A1-4443-A7A0-A9931EAE23C3}"/>
              </a:ext>
            </a:extLst>
          </p:cNvPr>
          <p:cNvSpPr>
            <a:spLocks noGrp="1" noChangeArrowheads="1"/>
          </p:cNvSpPr>
          <p:nvPr>
            <p:ph type="body" idx="1"/>
          </p:nvPr>
        </p:nvSpPr>
        <p:spPr/>
        <p:txBody>
          <a:bodyPr/>
          <a:lstStyle/>
          <a:p>
            <a:pPr eaLnBrk="1" hangingPunct="1"/>
            <a:r>
              <a:rPr lang="en-US" altLang="en-US"/>
              <a:t>Shift and rotate instructions are some of the best tools of assembly language</a:t>
            </a:r>
          </a:p>
          <a:p>
            <a:pPr lvl="1" eaLnBrk="1" hangingPunct="1"/>
            <a:r>
              <a:rPr lang="en-US" altLang="en-US"/>
              <a:t>finer control than in high-level languages</a:t>
            </a:r>
          </a:p>
          <a:p>
            <a:pPr lvl="1" eaLnBrk="1" hangingPunct="1"/>
            <a:r>
              <a:rPr lang="en-US" altLang="en-US"/>
              <a:t>SHL, SHR, SAR, ROL, ROR, RCL, RCR</a:t>
            </a:r>
          </a:p>
          <a:p>
            <a:pPr eaLnBrk="1" hangingPunct="1"/>
            <a:r>
              <a:rPr lang="en-US" altLang="en-US"/>
              <a:t>MUL and DIV – integer operations</a:t>
            </a:r>
          </a:p>
          <a:p>
            <a:pPr lvl="1" eaLnBrk="1" hangingPunct="1"/>
            <a:r>
              <a:rPr lang="en-US" altLang="en-US"/>
              <a:t>close relatives of SHL and SHR</a:t>
            </a:r>
          </a:p>
          <a:p>
            <a:pPr lvl="1" eaLnBrk="1" hangingPunct="1"/>
            <a:r>
              <a:rPr lang="en-US" altLang="en-US"/>
              <a:t>CBW, CDQ, CWD: preparation for division</a:t>
            </a:r>
          </a:p>
          <a:p>
            <a:pPr eaLnBrk="1" hangingPunct="1"/>
            <a:r>
              <a:rPr lang="en-US" altLang="en-US"/>
              <a:t>32-bit Mode only:</a:t>
            </a:r>
          </a:p>
          <a:p>
            <a:pPr lvl="1" eaLnBrk="1" hangingPunct="1"/>
            <a:r>
              <a:rPr lang="en-US" altLang="en-US"/>
              <a:t>Extended precision arithmetic: ADC, SBB</a:t>
            </a:r>
          </a:p>
          <a:p>
            <a:pPr lvl="1" eaLnBrk="1" hangingPunct="1"/>
            <a:r>
              <a:rPr lang="en-US" altLang="en-US"/>
              <a:t>ASCII decimal operations (AAA, AAS, AAM, AAD)</a:t>
            </a:r>
          </a:p>
          <a:p>
            <a:pPr lvl="1" eaLnBrk="1" hangingPunct="1"/>
            <a:r>
              <a:rPr lang="en-US" altLang="en-US"/>
              <a:t>Packed decimal operations (DAA, DAS)</a:t>
            </a:r>
          </a:p>
          <a:p>
            <a:pPr lvl="1" eaLnBrk="1" hangingPunct="1"/>
            <a:endParaRPr lang="en-US" altLang="en-US"/>
          </a:p>
        </p:txBody>
      </p:sp>
    </p:spTree>
  </p:cSld>
  <p:clrMapOvr>
    <a:masterClrMapping/>
  </p:clrMapOvr>
</p:sld>
</file>

<file path=ppt/theme/theme1.xml><?xml version="1.0" encoding="utf-8"?>
<a:theme xmlns:a="http://schemas.openxmlformats.org/drawingml/2006/main" name="Soaring">
  <a:themeElements>
    <a:clrScheme name="">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ECFE02"/>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100" b="0" i="0" u="none" strike="noStrike" cap="none" normalizeH="0" baseline="0" smtClean="0">
            <a:ln>
              <a:noFill/>
            </a:ln>
            <a:solidFill>
              <a:schemeClr val="tx1"/>
            </a:solidFill>
            <a:effectLst/>
            <a:latin typeface="Arial" charset="0"/>
          </a:defRPr>
        </a:defPPr>
      </a:lstStyle>
    </a:lnDef>
  </a:objectDefaults>
  <a:extraClrSchemeLst>
    <a:extraClrScheme>
      <a:clrScheme name="Soaring 1">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4">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D:\ProgramFiles2000\Microsoft Office\Templates\Presentation Designs\Soaring.pot</Template>
  <Application>Microsoft Office PowerPoint</Application>
  <PresentationFormat>On-screen Show (4:3)</PresentationFormat>
  <Slides>60</Slides>
  <Notes>0</Notes>
  <HiddenSlides>0</HiddenSlide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Soaring</vt:lpstr>
      <vt:lpstr>Assembly Language for x86 Processors 7th Edition </vt:lpstr>
      <vt:lpstr>Chapter Overview</vt:lpstr>
      <vt:lpstr>Shift and Rotate Instructions</vt:lpstr>
      <vt:lpstr>Logical Shift</vt:lpstr>
      <vt:lpstr>Arithmetic Shift</vt:lpstr>
      <vt:lpstr>SHL Instruction</vt:lpstr>
      <vt:lpstr>Fast Multiplication</vt:lpstr>
      <vt:lpstr>SHR Instruction</vt:lpstr>
      <vt:lpstr>SAL and SAR Instructions</vt:lpstr>
      <vt:lpstr>ROL Instruction</vt:lpstr>
      <vt:lpstr>ROR Instruction</vt:lpstr>
      <vt:lpstr>RCL Instruction</vt:lpstr>
      <vt:lpstr>RCR Instruction</vt:lpstr>
      <vt:lpstr>SHLD Instruction</vt:lpstr>
      <vt:lpstr>SHLD Example</vt:lpstr>
      <vt:lpstr>SHRD Instruction</vt:lpstr>
      <vt:lpstr>SHRD Example</vt:lpstr>
      <vt:lpstr>What's Next</vt:lpstr>
      <vt:lpstr>Shift and Rotate Applications</vt:lpstr>
      <vt:lpstr>Shifting Multiple Doublewords</vt:lpstr>
      <vt:lpstr>Isolating a Bit String</vt:lpstr>
      <vt:lpstr>What's Next</vt:lpstr>
      <vt:lpstr>Multiplication and Division Instructions</vt:lpstr>
      <vt:lpstr>MUL Instruction</vt:lpstr>
      <vt:lpstr>MUL Examples</vt:lpstr>
      <vt:lpstr>IMUL Instruction</vt:lpstr>
      <vt:lpstr>IMUL Examples</vt:lpstr>
      <vt:lpstr>DIV Instruction</vt:lpstr>
      <vt:lpstr>DIV Examples</vt:lpstr>
      <vt:lpstr>Signed Integer Division (IDIV)</vt:lpstr>
      <vt:lpstr>CBW, CWD, CDQ Instructions</vt:lpstr>
      <vt:lpstr>IDIV Instruction</vt:lpstr>
      <vt:lpstr>IDIV Examples</vt:lpstr>
      <vt:lpstr>Unsigned Arithmetic Expressions</vt:lpstr>
      <vt:lpstr>Signed Arithmetic Expressions  (1 of 2)</vt:lpstr>
      <vt:lpstr>Signed Arithmetic Expressions  (2 of 2)</vt:lpstr>
      <vt:lpstr>What's Next</vt:lpstr>
      <vt:lpstr>Extended Addition and Subtraction</vt:lpstr>
      <vt:lpstr>Extended Precision Addition</vt:lpstr>
      <vt:lpstr>ADC Instruction</vt:lpstr>
      <vt:lpstr>Extended Addition Example</vt:lpstr>
      <vt:lpstr>SBB Instruction</vt:lpstr>
      <vt:lpstr>Extended Subtraction Example</vt:lpstr>
      <vt:lpstr>What's Next</vt:lpstr>
      <vt:lpstr>ASCII and Packed Decimal Arithmetic</vt:lpstr>
      <vt:lpstr>Binary-Coded Decimal</vt:lpstr>
      <vt:lpstr>ASCII Decimal</vt:lpstr>
      <vt:lpstr>AAA Instruction</vt:lpstr>
      <vt:lpstr>AAS Instruction</vt:lpstr>
      <vt:lpstr>AAM Instruction</vt:lpstr>
      <vt:lpstr>AAD Instruction</vt:lpstr>
      <vt:lpstr>What's Next</vt:lpstr>
      <vt:lpstr>Packed Decimal Arithmetic</vt:lpstr>
      <vt:lpstr>DAA Instruction</vt:lpstr>
      <vt:lpstr>DAA Logic</vt:lpstr>
      <vt:lpstr>DAA Examples</vt:lpstr>
      <vt:lpstr>DAS Instruction</vt:lpstr>
      <vt:lpstr>DAS Logic</vt:lpstr>
      <vt:lpstr>DAS Examples  (1 of 2)</vt:lpstr>
      <vt:lpstr>Summary</vt:lpstr>
    </vt:vector>
  </TitlesOfParts>
  <Company>Prentice-Hall Publishing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subject>Integer Arithmetic</dc:subject>
  <dc:creator>Kip Irvine</dc:creator>
  <cp:revision>1</cp:revision>
  <cp:lastPrinted>1601-01-01T00:00:00Z</cp:lastPrinted>
  <dcterms:created xsi:type="dcterms:W3CDTF">2002-05-30T02:31:33Z</dcterms:created>
  <dcterms:modified xsi:type="dcterms:W3CDTF">2020-04-05T04:48:20Z</dcterms:modified>
</cp:coreProperties>
</file>